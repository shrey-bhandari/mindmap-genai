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1"/>
  </p:notesMasterIdLst>
  <p:handoutMasterIdLst>
    <p:handoutMasterId r:id="rId42"/>
  </p:handoutMasterIdLst>
  <p:sldIdLst>
    <p:sldId id="450" r:id="rId3"/>
    <p:sldId id="478" r:id="rId4"/>
    <p:sldId id="479" r:id="rId5"/>
    <p:sldId id="480" r:id="rId6"/>
    <p:sldId id="481" r:id="rId7"/>
    <p:sldId id="482" r:id="rId8"/>
    <p:sldId id="483" r:id="rId9"/>
    <p:sldId id="484" r:id="rId10"/>
    <p:sldId id="485" r:id="rId11"/>
    <p:sldId id="523" r:id="rId12"/>
    <p:sldId id="486" r:id="rId13"/>
    <p:sldId id="487" r:id="rId14"/>
    <p:sldId id="488" r:id="rId15"/>
    <p:sldId id="491" r:id="rId16"/>
    <p:sldId id="502" r:id="rId17"/>
    <p:sldId id="503" r:id="rId18"/>
    <p:sldId id="504" r:id="rId19"/>
    <p:sldId id="505" r:id="rId20"/>
    <p:sldId id="507" r:id="rId21"/>
    <p:sldId id="458" r:id="rId22"/>
    <p:sldId id="524" r:id="rId23"/>
    <p:sldId id="525" r:id="rId24"/>
    <p:sldId id="526" r:id="rId25"/>
    <p:sldId id="527" r:id="rId26"/>
    <p:sldId id="494" r:id="rId27"/>
    <p:sldId id="528" r:id="rId28"/>
    <p:sldId id="516" r:id="rId29"/>
    <p:sldId id="493" r:id="rId30"/>
    <p:sldId id="530" r:id="rId31"/>
    <p:sldId id="529" r:id="rId32"/>
    <p:sldId id="521" r:id="rId33"/>
    <p:sldId id="520" r:id="rId34"/>
    <p:sldId id="518" r:id="rId35"/>
    <p:sldId id="522" r:id="rId36"/>
    <p:sldId id="519" r:id="rId37"/>
    <p:sldId id="497" r:id="rId38"/>
    <p:sldId id="492" r:id="rId39"/>
    <p:sldId id="455" r:id="rId40"/>
  </p:sldIdLst>
  <p:sldSz cx="12192000" cy="6858000"/>
  <p:notesSz cx="7315200" cy="960120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20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DD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76"/>
    <p:restoredTop sz="94659"/>
  </p:normalViewPr>
  <p:slideViewPr>
    <p:cSldViewPr showGuides="1">
      <p:cViewPr varScale="1">
        <p:scale>
          <a:sx n="63" d="100"/>
          <a:sy n="63" d="100"/>
        </p:scale>
        <p:origin x="1044" y="56"/>
      </p:cViewPr>
      <p:guideLst>
        <p:guide orient="horz" pos="2204"/>
        <p:guide pos="384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66" d="100"/>
        <a:sy n="66" d="100"/>
      </p:scale>
      <p:origin x="0" y="41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1362"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71363" name="Rectangle 3"/>
          <p:cNvSpPr>
            <a:spLocks noGrp="1" noChangeArrowheads="1"/>
          </p:cNvSpPr>
          <p:nvPr>
            <p:ph type="dt" sz="quarter" idx="1"/>
          </p:nvPr>
        </p:nvSpPr>
        <p:spPr bwMode="auto">
          <a:xfrm>
            <a:off x="4143375" y="0"/>
            <a:ext cx="3170238" cy="479425"/>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71364" name="Rectangle 4"/>
          <p:cNvSpPr>
            <a:spLocks noGrp="1" noChangeArrowheads="1"/>
          </p:cNvSpPr>
          <p:nvPr>
            <p:ph type="ftr" sz="quarter" idx="2"/>
          </p:nvPr>
        </p:nvSpPr>
        <p:spPr bwMode="auto">
          <a:xfrm>
            <a:off x="0" y="9120188"/>
            <a:ext cx="3170238" cy="479425"/>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71365" name="Rectangle 5"/>
          <p:cNvSpPr>
            <a:spLocks noGrp="1" noChangeArrowheads="1"/>
          </p:cNvSpPr>
          <p:nvPr>
            <p:ph type="sldNum" sz="quarter" idx="3"/>
          </p:nvPr>
        </p:nvSpPr>
        <p:spPr bwMode="auto">
          <a:xfrm>
            <a:off x="4143375" y="9120188"/>
            <a:ext cx="3170238" cy="479425"/>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6D8A7A92-D366-44D2-98EC-799F647B1750}" type="slidenum">
              <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bwMode="auto">
          <a:xfrm>
            <a:off x="0" y="0"/>
            <a:ext cx="3170238" cy="479425"/>
          </a:xfrm>
          <a:prstGeom prst="rect">
            <a:avLst/>
          </a:prstGeom>
          <a:noFill/>
          <a:ln w="9525">
            <a:noFill/>
            <a:miter lim="800000"/>
          </a:ln>
          <a:effectLst/>
        </p:spPr>
        <p:txBody>
          <a:bodyPr vert="horz" wrap="square" lIns="96661" tIns="48331" rIns="96661" bIns="48331" numCol="1" anchor="t" anchorCtr="0" compatLnSpc="1"/>
          <a:lstStyle>
            <a:lvl1pPr defTabSz="967105">
              <a:defRPr sz="1300"/>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4147" name="Rectangle 3"/>
          <p:cNvSpPr>
            <a:spLocks noGrp="1" noChangeArrowheads="1"/>
          </p:cNvSpPr>
          <p:nvPr>
            <p:ph type="dt" idx="1"/>
          </p:nvPr>
        </p:nvSpPr>
        <p:spPr bwMode="auto">
          <a:xfrm>
            <a:off x="4143375" y="0"/>
            <a:ext cx="3170238" cy="479425"/>
          </a:xfrm>
          <a:prstGeom prst="rect">
            <a:avLst/>
          </a:prstGeom>
          <a:noFill/>
          <a:ln w="9525">
            <a:noFill/>
            <a:miter lim="800000"/>
          </a:ln>
          <a:effectLst/>
        </p:spPr>
        <p:txBody>
          <a:bodyPr vert="horz" wrap="square" lIns="96661" tIns="48331" rIns="96661" bIns="48331" numCol="1" anchor="t" anchorCtr="0" compatLnSpc="1"/>
          <a:lstStyle>
            <a:lvl1pPr algn="r" defTabSz="967105">
              <a:defRPr sz="1300"/>
            </a:lvl1pPr>
          </a:lstStyle>
          <a:p>
            <a:pPr marL="0" marR="0" lvl="0" indent="0" algn="r" defTabSz="967105" rtl="0" eaLnBrk="0" fontAlgn="base" latinLnBrk="0" hangingPunct="0">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2" name="Rectangle 4"/>
          <p:cNvSpPr>
            <a:spLocks noGrp="1" noRot="1" noChangeAspect="1" noTextEdit="1"/>
          </p:cNvSpPr>
          <p:nvPr>
            <p:ph type="sldImg" idx="2"/>
          </p:nvPr>
        </p:nvSpPr>
        <p:spPr>
          <a:xfrm>
            <a:off x="457200" y="720725"/>
            <a:ext cx="6400800" cy="3600450"/>
          </a:xfrm>
          <a:prstGeom prst="rect">
            <a:avLst/>
          </a:prstGeom>
          <a:noFill/>
          <a:ln w="9525" cap="flat" cmpd="sng">
            <a:solidFill>
              <a:srgbClr val="000000"/>
            </a:solidFill>
            <a:prstDash val="solid"/>
            <a:miter/>
            <a:headEnd type="none" w="med" len="med"/>
            <a:tailEnd type="none" w="med" len="med"/>
          </a:ln>
        </p:spPr>
      </p:sp>
      <p:sp>
        <p:nvSpPr>
          <p:cNvPr id="134149" name="Rectangle 5"/>
          <p:cNvSpPr>
            <a:spLocks noGrp="1" noChangeArrowheads="1"/>
          </p:cNvSpPr>
          <p:nvPr>
            <p:ph type="body" sz="quarter" idx="3"/>
          </p:nvPr>
        </p:nvSpPr>
        <p:spPr bwMode="auto">
          <a:xfrm>
            <a:off x="731838" y="4560888"/>
            <a:ext cx="5851525" cy="4319588"/>
          </a:xfrm>
          <a:prstGeom prst="rect">
            <a:avLst/>
          </a:prstGeom>
          <a:noFill/>
          <a:ln w="9525">
            <a:noFill/>
            <a:miter lim="800000"/>
          </a:ln>
          <a:effectLst/>
        </p:spPr>
        <p:txBody>
          <a:bodyPr vert="horz" wrap="square" lIns="96661" tIns="48331" rIns="96661" bIns="48331"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Fifth level</a:t>
            </a:r>
          </a:p>
        </p:txBody>
      </p:sp>
      <p:sp>
        <p:nvSpPr>
          <p:cNvPr id="134150" name="Rectangle 6"/>
          <p:cNvSpPr>
            <a:spLocks noGrp="1" noChangeArrowheads="1"/>
          </p:cNvSpPr>
          <p:nvPr>
            <p:ph type="ftr" sz="quarter" idx="4"/>
          </p:nvPr>
        </p:nvSpPr>
        <p:spPr bwMode="auto">
          <a:xfrm>
            <a:off x="0" y="9120188"/>
            <a:ext cx="3170238" cy="479425"/>
          </a:xfrm>
          <a:prstGeom prst="rect">
            <a:avLst/>
          </a:prstGeom>
          <a:noFill/>
          <a:ln w="9525">
            <a:noFill/>
            <a:miter lim="800000"/>
          </a:ln>
          <a:effectLst/>
        </p:spPr>
        <p:txBody>
          <a:bodyPr vert="horz" wrap="square" lIns="96661" tIns="48331" rIns="96661" bIns="48331" numCol="1" anchor="b" anchorCtr="0" compatLnSpc="1"/>
          <a:lstStyle>
            <a:lvl1pPr defTabSz="967105">
              <a:defRPr sz="1300"/>
            </a:lvl1pPr>
          </a:lstStyle>
          <a:p>
            <a:pPr marL="0" marR="0" lvl="0" indent="0" algn="l" defTabSz="967105" rtl="0" eaLnBrk="0" fontAlgn="base" latinLnBrk="0" hangingPunct="0">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34151" name="Rectangle 7"/>
          <p:cNvSpPr>
            <a:spLocks noGrp="1" noChangeArrowheads="1"/>
          </p:cNvSpPr>
          <p:nvPr>
            <p:ph type="sldNum" sz="quarter" idx="5"/>
          </p:nvPr>
        </p:nvSpPr>
        <p:spPr bwMode="auto">
          <a:xfrm>
            <a:off x="4143375" y="9120188"/>
            <a:ext cx="3170238" cy="479425"/>
          </a:xfrm>
          <a:prstGeom prst="rect">
            <a:avLst/>
          </a:prstGeom>
          <a:noFill/>
          <a:ln w="9525">
            <a:noFill/>
            <a:miter lim="800000"/>
          </a:ln>
          <a:effectLst/>
        </p:spPr>
        <p:txBody>
          <a:bodyPr vert="horz" wrap="square" lIns="96661" tIns="48331" rIns="96661" bIns="48331" numCol="1" anchor="b" anchorCtr="0" compatLnSpc="1"/>
          <a:lstStyle>
            <a:lvl1pPr algn="r" defTabSz="967105">
              <a:defRPr sz="1300"/>
            </a:lvl1pPr>
          </a:lstStyle>
          <a:p>
            <a:pPr marL="0" marR="0" lvl="0" indent="0" algn="r" defTabSz="967105" rtl="0" eaLnBrk="0" fontAlgn="base" latinLnBrk="0" hangingPunct="0">
              <a:lnSpc>
                <a:spcPct val="100000"/>
              </a:lnSpc>
              <a:spcBef>
                <a:spcPct val="0"/>
              </a:spcBef>
              <a:spcAft>
                <a:spcPct val="0"/>
              </a:spcAft>
              <a:buClrTx/>
              <a:buSzTx/>
              <a:buFontTx/>
              <a:buNone/>
              <a:defRPr/>
            </a:pPr>
            <a:fld id="{E7880873-AB12-4A25-A830-BDA4493601C6}" type="slidenum">
              <a:rPr kumimoji="0" lang="en-US" alt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a:t>
            </a:fld>
            <a:endParaRPr kumimoji="0" lang="en-US" altLang="en-US" sz="13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4143375" y="9120188"/>
            <a:ext cx="3170238" cy="479425"/>
          </a:xfrm>
          <a:prstGeom prst="rect">
            <a:avLst/>
          </a:prstGeom>
          <a:noFill/>
          <a:ln w="9525">
            <a:noFill/>
          </a:ln>
        </p:spPr>
        <p:txBody>
          <a:bodyPr lIns="96661" tIns="48331" rIns="96661" bIns="48331" anchor="b" anchorCtr="0"/>
          <a:lstStyle/>
          <a:p>
            <a:pPr lvl="0" algn="r" defTabSz="967105"/>
            <a:fld id="{9A0DB2DC-4C9A-4742-B13C-FB6460FD3503}" type="slidenum">
              <a:rPr lang="en-US" altLang="en-US" sz="1300" dirty="0"/>
              <a:t>20</a:t>
            </a:fld>
            <a:endParaRPr lang="en-US" altLang="en-US" sz="1300" dirty="0"/>
          </a:p>
        </p:txBody>
      </p:sp>
      <p:sp>
        <p:nvSpPr>
          <p:cNvPr id="17411" name="Rectangle 2"/>
          <p:cNvSpPr>
            <a:spLocks noGrp="1" noRot="1" noChangeAspect="1" noTextEdit="1"/>
          </p:cNvSpPr>
          <p:nvPr>
            <p:ph type="sldImg"/>
          </p:nvPr>
        </p:nvSpPr>
        <p:spPr>
          <a:xfrm>
            <a:off x="469900" y="727075"/>
            <a:ext cx="6375400" cy="3586163"/>
          </a:xfrm>
        </p:spPr>
      </p:sp>
      <p:sp>
        <p:nvSpPr>
          <p:cNvPr id="17412" name="Rectangle 3"/>
          <p:cNvSpPr>
            <a:spLocks noGrp="1"/>
          </p:cNvSpPr>
          <p:nvPr>
            <p:ph type="body" idx="1"/>
          </p:nvPr>
        </p:nvSpPr>
        <p:spPr>
          <a:xfrm>
            <a:off x="974725" y="4560888"/>
            <a:ext cx="5365750" cy="4319587"/>
          </a:xfrm>
        </p:spPr>
        <p:txBody>
          <a:bodyPr wrap="square" lIns="96661" tIns="48331" rIns="96661" bIns="48331" anchor="t" anchorCtr="0"/>
          <a:lstStyle/>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09600" y="1600200"/>
            <a:ext cx="109728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lstStyle>
            <a:lvl1pPr>
              <a:defRPr sz="120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lstStyle>
            <a:lvl1pPr algn="ctr">
              <a:defRPr sz="120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1031" name="Rectangle 7"/>
          <p:cNvSpPr>
            <a:spLocks noChangeArrowheads="1"/>
          </p:cNvSpPr>
          <p:nvPr/>
        </p:nvSpPr>
        <p:spPr bwMode="auto">
          <a:xfrm>
            <a:off x="508000" y="304800"/>
            <a:ext cx="11277600" cy="5943600"/>
          </a:xfrm>
          <a:prstGeom prst="rect">
            <a:avLst/>
          </a:prstGeom>
          <a:solidFill>
            <a:schemeClr val="bg1"/>
          </a:solidFill>
          <a:ln w="38100">
            <a:solidFill>
              <a:schemeClr val="tx1"/>
            </a:solidFill>
            <a:miter lim="800000"/>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3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09600" y="274638"/>
            <a:ext cx="10972800" cy="1143000"/>
          </a:xfrm>
          <a:prstGeom prst="rect">
            <a:avLst/>
          </a:prstGeom>
          <a:noFill/>
          <a:ln w="9525">
            <a:noFill/>
          </a:ln>
        </p:spPr>
        <p:txBody>
          <a:bodyPr anchor="ctr" anchorCtr="0"/>
          <a:lstStyle/>
          <a:p>
            <a:pPr lvl="0"/>
            <a:r>
              <a:rPr lang="en-US" altLang="en-US" dirty="0"/>
              <a:t>Click to edit Master title style</a:t>
            </a:r>
          </a:p>
        </p:txBody>
      </p:sp>
      <p:sp>
        <p:nvSpPr>
          <p:cNvPr id="1027" name="Text Placeholder 2"/>
          <p:cNvSpPr>
            <a:spLocks noGrp="1"/>
          </p:cNvSpPr>
          <p:nvPr>
            <p:ph type="body" idx="1"/>
          </p:nvPr>
        </p:nvSpPr>
        <p:spPr>
          <a:xfrm>
            <a:off x="609600" y="1600200"/>
            <a:ext cx="109728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lstStyle>
            <a:lvl1pPr>
              <a:defRPr sz="120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5" name="Footer Placeholder 4"/>
          <p:cNvSpPr>
            <a:spLocks noGrp="1"/>
          </p:cNvSpPr>
          <p:nvPr>
            <p:ph type="ftr" sz="quarter" idx="3"/>
          </p:nvPr>
        </p:nvSpPr>
        <p:spPr>
          <a:xfrm>
            <a:off x="4165600" y="6356350"/>
            <a:ext cx="3860800" cy="365125"/>
          </a:xfrm>
          <a:prstGeom prst="rect">
            <a:avLst/>
          </a:prstGeom>
        </p:spPr>
        <p:txBody>
          <a:bodyPr vert="horz" wrap="square" lIns="91440" tIns="45720" rIns="91440" bIns="45720" numCol="1" anchor="ctr" anchorCtr="0" compatLnSpc="1"/>
          <a:lstStyle>
            <a:lvl1pPr algn="ctr">
              <a:defRPr sz="120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DCC3CC54-8DF8-4D9B-AB15-B74A1BFD491F}" type="slidenum">
              <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rPr>
              <a:t>‹#›</a:t>
            </a:fld>
            <a:endParaRPr kumimoji="0" lang="en-US" altLang="en-US" sz="1200" b="0" i="0" u="none" strike="noStrike" kern="1200" cap="none" spc="0" normalizeH="0" baseline="0" noProof="0">
              <a:ln>
                <a:noFill/>
              </a:ln>
              <a:solidFill>
                <a:srgbClr val="898989"/>
              </a:solidFill>
              <a:effectLst/>
              <a:uLnTx/>
              <a:uFillTx/>
              <a:latin typeface="Times New Roman" panose="02020603050405020304" pitchFamily="18" charset="0"/>
              <a:ea typeface="+mn-ea"/>
              <a:cs typeface="+mn-cs"/>
            </a:endParaRPr>
          </a:p>
        </p:txBody>
      </p:sp>
      <p:sp>
        <p:nvSpPr>
          <p:cNvPr id="1031" name="Rectangle 7"/>
          <p:cNvSpPr>
            <a:spLocks noChangeArrowheads="1"/>
          </p:cNvSpPr>
          <p:nvPr/>
        </p:nvSpPr>
        <p:spPr bwMode="auto">
          <a:xfrm>
            <a:off x="508000" y="304800"/>
            <a:ext cx="11277600" cy="5943600"/>
          </a:xfrm>
          <a:prstGeom prst="rect">
            <a:avLst/>
          </a:prstGeom>
          <a:solidFill>
            <a:schemeClr val="bg1"/>
          </a:solidFill>
          <a:ln w="38100">
            <a:solidFill>
              <a:schemeClr val="tx1"/>
            </a:solidFill>
            <a:miter lim="800000"/>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en-US" sz="3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eeksforgeeks.org/computer-networks/public-key-encryption/"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hyperlink" Target="https://financesonline.com/12-best-email-encryption-software-solutions/"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914400" y="2254251"/>
            <a:ext cx="10769600" cy="1960033"/>
          </a:xfrm>
        </p:spPr>
        <p:txBody>
          <a:bodyPr vert="horz" wrap="square" lIns="121920" tIns="60960" rIns="121920" bIns="60960" numCol="1" anchor="ctr" anchorCtr="0" compatLnSpc="1">
            <a:normAutofit fontScale="90000"/>
          </a:bodyPr>
          <a:lstStyle/>
          <a:p>
            <a:pPr marL="0" marR="0" lvl="0" indent="0" algn="ctr" defTabSz="914400" rtl="0" eaLnBrk="1" fontAlgn="base" latinLnBrk="0" hangingPunct="1">
              <a:lnSpc>
                <a:spcPct val="100000"/>
              </a:lnSpc>
              <a:spcBef>
                <a:spcPct val="0"/>
              </a:spcBef>
              <a:spcAft>
                <a:spcPct val="0"/>
              </a:spcAft>
              <a:buClrTx/>
              <a:buSzTx/>
              <a:buFontTx/>
              <a:buNone/>
              <a:defRPr/>
            </a:pPr>
            <a:br>
              <a:rPr kumimoji="0" lang="en-US" sz="5865" b="0" i="0" u="none" strike="noStrike" kern="1200" cap="none" spc="0" normalizeH="0" baseline="0" noProof="0" dirty="0">
                <a:ln>
                  <a:noFill/>
                </a:ln>
                <a:solidFill>
                  <a:schemeClr val="tx1"/>
                </a:solidFill>
                <a:effectLst/>
                <a:uLnTx/>
                <a:uFillTx/>
                <a:latin typeface="+mj-lt"/>
                <a:ea typeface="+mj-ea"/>
                <a:cs typeface="+mj-cs"/>
              </a:rPr>
            </a:br>
            <a:r>
              <a:rPr kumimoji="0" lang="en-US" sz="5865" b="0" i="0" u="none" strike="noStrike" kern="1200" cap="none" spc="0" normalizeH="0" baseline="0" noProof="0" dirty="0">
                <a:ln>
                  <a:noFill/>
                </a:ln>
                <a:solidFill>
                  <a:schemeClr val="tx1"/>
                </a:solidFill>
                <a:effectLst/>
                <a:uLnTx/>
                <a:uFillTx/>
                <a:latin typeface="+mj-lt"/>
                <a:ea typeface="+mj-ea"/>
                <a:cs typeface="+mj-cs"/>
              </a:rPr>
              <a:t>Cyber Security Course</a:t>
            </a:r>
            <a:br>
              <a:rPr kumimoji="0" lang="en-US" sz="5865" b="0" i="0" u="none" strike="noStrike" kern="1200" cap="none" spc="0" normalizeH="0" baseline="0" noProof="0" dirty="0">
                <a:ln>
                  <a:noFill/>
                </a:ln>
                <a:solidFill>
                  <a:schemeClr val="tx1"/>
                </a:solidFill>
                <a:effectLst/>
                <a:uLnTx/>
                <a:uFillTx/>
                <a:latin typeface="+mj-lt"/>
                <a:ea typeface="+mj-ea"/>
                <a:cs typeface="+mj-cs"/>
              </a:rPr>
            </a:br>
            <a:br>
              <a:rPr kumimoji="0" lang="en-US" sz="5865" b="0" i="0" u="none" strike="noStrike" kern="1200" cap="none" spc="0" normalizeH="0" baseline="0" noProof="0" dirty="0">
                <a:ln>
                  <a:noFill/>
                </a:ln>
                <a:solidFill>
                  <a:schemeClr val="tx1"/>
                </a:solidFill>
                <a:effectLst/>
                <a:uLnTx/>
                <a:uFillTx/>
                <a:latin typeface="+mj-lt"/>
                <a:ea typeface="+mj-ea"/>
                <a:cs typeface="+mj-cs"/>
              </a:rPr>
            </a:br>
            <a:r>
              <a:rPr kumimoji="0" lang="en-US" sz="4800" b="0" i="0" u="none" strike="noStrike" kern="1200" cap="none" spc="0" normalizeH="0" baseline="0" noProof="0" dirty="0">
                <a:ln>
                  <a:noFill/>
                </a:ln>
                <a:solidFill>
                  <a:srgbClr val="C00000"/>
                </a:solidFill>
                <a:effectLst/>
                <a:uLnTx/>
                <a:uFillTx/>
                <a:latin typeface="+mj-lt"/>
                <a:ea typeface="+mj-ea"/>
                <a:cs typeface="+mj-cs"/>
              </a:rPr>
              <a:t>Unit 3: Asymmetric Ciphers</a:t>
            </a:r>
            <a:br>
              <a:rPr kumimoji="0" lang="en-US" sz="4800" b="0" i="0" u="none" strike="noStrike" kern="1200" cap="none" spc="0" normalizeH="0" baseline="0" noProof="0" dirty="0">
                <a:ln>
                  <a:noFill/>
                </a:ln>
                <a:solidFill>
                  <a:srgbClr val="C00000"/>
                </a:solidFill>
                <a:effectLst/>
                <a:uLnTx/>
                <a:uFillTx/>
                <a:latin typeface="+mj-lt"/>
                <a:ea typeface="+mj-ea"/>
                <a:cs typeface="+mj-cs"/>
              </a:rPr>
            </a:br>
            <a:br>
              <a:rPr kumimoji="0" lang="en-US" sz="4800" b="0" i="0" u="none" strike="noStrike" kern="1200" cap="none" spc="0" normalizeH="0" baseline="0" noProof="0" dirty="0">
                <a:ln>
                  <a:noFill/>
                </a:ln>
                <a:solidFill>
                  <a:srgbClr val="C00000"/>
                </a:solidFill>
                <a:effectLst/>
                <a:uLnTx/>
                <a:uFillTx/>
                <a:latin typeface="+mj-lt"/>
                <a:ea typeface="+mj-ea"/>
                <a:cs typeface="+mj-cs"/>
              </a:rPr>
            </a:br>
            <a:r>
              <a:rPr kumimoji="0" lang="en-US" sz="4800" b="0" i="0" u="none" strike="noStrike" kern="1200" cap="none" spc="0" normalizeH="0" baseline="0" noProof="0" dirty="0">
                <a:ln>
                  <a:noFill/>
                </a:ln>
                <a:solidFill>
                  <a:schemeClr val="tx1"/>
                </a:solidFill>
                <a:effectLst/>
                <a:uLnTx/>
                <a:uFillTx/>
                <a:latin typeface="+mj-lt"/>
                <a:ea typeface="+mj-ea"/>
                <a:cs typeface="+mj-cs"/>
              </a:rPr>
              <a:t>Lecture 4- </a:t>
            </a:r>
            <a:r>
              <a:rPr kumimoji="0" lang="en-US" sz="5865" b="0" i="0" u="none" strike="noStrike" kern="1200" cap="none" spc="0" normalizeH="0" baseline="0" noProof="0" dirty="0">
                <a:ln>
                  <a:noFill/>
                </a:ln>
                <a:solidFill>
                  <a:schemeClr val="tx1"/>
                </a:solidFill>
                <a:effectLst/>
                <a:uLnTx/>
                <a:uFillTx/>
                <a:latin typeface="+mj-lt"/>
                <a:ea typeface="+mj-ea"/>
                <a:cs typeface="+mj-cs"/>
              </a:rPr>
              <a:t>Diffie-Hellman Key Exchange Algorithm</a:t>
            </a:r>
            <a:br>
              <a:rPr kumimoji="0" lang="en-US" sz="5865" b="0" i="0" u="none" strike="noStrike" kern="1200" cap="none" spc="0" normalizeH="0" baseline="0" noProof="0" dirty="0">
                <a:ln>
                  <a:noFill/>
                </a:ln>
                <a:solidFill>
                  <a:schemeClr val="tx1"/>
                </a:solidFill>
                <a:effectLst/>
                <a:uLnTx/>
                <a:uFillTx/>
                <a:latin typeface="+mj-lt"/>
                <a:ea typeface="+mj-ea"/>
                <a:cs typeface="+mj-cs"/>
              </a:rPr>
            </a:br>
            <a:br>
              <a:rPr kumimoji="0" lang="en-IN" sz="4265" b="0" i="0" u="none" strike="noStrike" kern="1200" cap="none" spc="0" normalizeH="0" baseline="0" noProof="0" dirty="0">
                <a:ln>
                  <a:noFill/>
                </a:ln>
                <a:solidFill>
                  <a:schemeClr val="tx1"/>
                </a:solidFill>
                <a:effectLst/>
                <a:uLnTx/>
                <a:uFillTx/>
                <a:latin typeface="+mj-lt"/>
                <a:ea typeface="+mj-ea"/>
                <a:cs typeface="+mj-cs"/>
              </a:rPr>
            </a:br>
            <a:br>
              <a:rPr kumimoji="0" lang="en-US" sz="4800" b="1" i="0" u="none" strike="noStrike" kern="1200" cap="none" spc="0" normalizeH="0" baseline="0" noProof="0" dirty="0">
                <a:ln>
                  <a:noFill/>
                </a:ln>
                <a:solidFill>
                  <a:schemeClr val="tx1"/>
                </a:solidFill>
                <a:effectLst/>
                <a:uLnTx/>
                <a:uFillTx/>
                <a:latin typeface="+mj-lt"/>
                <a:ea typeface="+mj-ea"/>
                <a:cs typeface="+mj-cs"/>
              </a:rPr>
            </a:br>
            <a:endParaRPr kumimoji="0" lang="en-US" sz="4800" b="0" i="0" u="none" strike="noStrike" kern="1200" cap="none" spc="0" normalizeH="0" baseline="0" noProof="0" dirty="0">
              <a:ln>
                <a:noFill/>
              </a:ln>
              <a:solidFill>
                <a:schemeClr val="tx1"/>
              </a:solidFill>
              <a:effectLst/>
              <a:uLnTx/>
              <a:uFillTx/>
              <a:latin typeface="+mj-lt"/>
              <a:ea typeface="+mj-ea"/>
              <a:cs typeface="+mj-cs"/>
            </a:endParaRPr>
          </a:p>
        </p:txBody>
      </p:sp>
      <p:sp>
        <p:nvSpPr>
          <p:cNvPr id="4099" name="Subtitle 2"/>
          <p:cNvSpPr>
            <a:spLocks noGrp="1"/>
          </p:cNvSpPr>
          <p:nvPr>
            <p:ph type="subTitle" idx="1"/>
          </p:nvPr>
        </p:nvSpPr>
        <p:spPr>
          <a:xfrm>
            <a:off x="3048000" y="5867400"/>
            <a:ext cx="8534400" cy="1219200"/>
          </a:xfrm>
        </p:spPr>
        <p:txBody>
          <a:bodyPr vert="horz" wrap="square" lIns="121920" tIns="60960" rIns="121920" bIns="60960" anchor="t" anchorCtr="0"/>
          <a:lstStyle/>
          <a:p>
            <a:pPr algn="r" eaLnBrk="1" hangingPunct="1">
              <a:lnSpc>
                <a:spcPct val="80000"/>
              </a:lnSpc>
              <a:buClrTx/>
              <a:buSzTx/>
            </a:pPr>
            <a:r>
              <a:rPr lang="en-US" altLang="en-US" sz="2665" kern="1200" dirty="0">
                <a:solidFill>
                  <a:srgbClr val="898989"/>
                </a:solidFill>
                <a:latin typeface="+mn-lt"/>
                <a:ea typeface="+mn-ea"/>
                <a:cs typeface="+mn-cs"/>
              </a:rPr>
              <a:t>Ms Prranjali Jadhav</a:t>
            </a:r>
          </a:p>
          <a:p>
            <a:pPr algn="r" eaLnBrk="1" hangingPunct="1">
              <a:lnSpc>
                <a:spcPct val="80000"/>
              </a:lnSpc>
              <a:buClrTx/>
              <a:buSzTx/>
            </a:pPr>
            <a:r>
              <a:rPr lang="en-US" altLang="en-US" sz="2665" kern="1200" dirty="0">
                <a:solidFill>
                  <a:srgbClr val="898989"/>
                </a:solidFill>
                <a:latin typeface="+mn-lt"/>
                <a:ea typeface="+mn-ea"/>
                <a:cs typeface="+mn-cs"/>
              </a:rPr>
              <a:t>AIDS Dept</a:t>
            </a:r>
          </a:p>
        </p:txBody>
      </p:sp>
      <p:sp>
        <p:nvSpPr>
          <p:cNvPr id="4100" name="Slide Number Placeholder 4"/>
          <p:cNvSpPr txBox="1">
            <a:spLocks noGrp="1"/>
          </p:cNvSpPr>
          <p:nvPr>
            <p:ph type="sldNum" sz="quarter" idx="12"/>
          </p:nvPr>
        </p:nvSpPr>
        <p:spPr>
          <a:noFill/>
          <a:ln>
            <a:noFill/>
          </a:ln>
        </p:spPr>
        <p:txBody>
          <a:bodyPr anchor="ctr" anchorCtr="0"/>
          <a:lstStyle/>
          <a:p>
            <a:pPr marL="0" indent="0" algn="r">
              <a:spcBef>
                <a:spcPct val="0"/>
              </a:spcBef>
              <a:buFontTx/>
              <a:buNone/>
            </a:pPr>
            <a:fld id="{9A0DB2DC-4C9A-4742-B13C-FB6460FD3503}" type="slidenum">
              <a:rPr lang="en-US" altLang="en-US" sz="1600" dirty="0">
                <a:solidFill>
                  <a:srgbClr val="898989"/>
                </a:solidFill>
                <a:latin typeface="Times New Roman" panose="02020603050405020304" pitchFamily="18" charset="0"/>
              </a:rPr>
              <a:t>1</a:t>
            </a:fld>
            <a:endParaRPr lang="en-US" altLang="en-US" sz="1600" dirty="0">
              <a:solidFill>
                <a:srgbClr val="898989"/>
              </a:solidFill>
              <a:latin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09600" y="503238"/>
            <a:ext cx="10972800" cy="792162"/>
          </a:xfrm>
        </p:spPr>
        <p:txBody>
          <a:bodyPr vert="horz" wrap="square" lIns="121920" tIns="60960" rIns="121920" bIns="60960" anchor="ctr" anchorCtr="0"/>
          <a:lstStyle/>
          <a:p>
            <a:pPr>
              <a:buNone/>
            </a:pPr>
            <a:r>
              <a:rPr sz="3200" b="1" dirty="0"/>
              <a:t>Introduction to Diffie</a:t>
            </a:r>
            <a:r>
              <a:rPr lang="en-US" sz="3200" b="1" dirty="0"/>
              <a:t>-</a:t>
            </a:r>
            <a:r>
              <a:rPr sz="3200" b="1" dirty="0"/>
              <a:t>Hellman Key Exchange Algorithm</a:t>
            </a:r>
            <a:endParaRPr lang="en-IN" altLang="x-none" sz="3200" b="1" dirty="0"/>
          </a:p>
        </p:txBody>
      </p:sp>
      <p:sp>
        <p:nvSpPr>
          <p:cNvPr id="5123" name="Content Placeholder 2"/>
          <p:cNvSpPr>
            <a:spLocks noGrp="1"/>
          </p:cNvSpPr>
          <p:nvPr>
            <p:ph idx="1"/>
          </p:nvPr>
        </p:nvSpPr>
        <p:spPr>
          <a:xfrm>
            <a:off x="609600" y="1371600"/>
            <a:ext cx="10972800" cy="5145617"/>
          </a:xfrm>
        </p:spPr>
        <p:txBody>
          <a:bodyPr vert="horz" wrap="square" lIns="121920" tIns="60960" rIns="121920" bIns="60960" anchor="t" anchorCtr="0"/>
          <a:lstStyle/>
          <a:p>
            <a:pPr algn="just"/>
            <a:r>
              <a:rPr sz="2800" dirty="0"/>
              <a:t>Whitefield Diffie and Martin Hellman develop </a:t>
            </a:r>
            <a:r>
              <a:rPr sz="2800" dirty="0">
                <a:solidFill>
                  <a:srgbClr val="0070C0"/>
                </a:solidFill>
              </a:rPr>
              <a:t>Diffie</a:t>
            </a:r>
            <a:r>
              <a:rPr lang="en-US" sz="2800" dirty="0">
                <a:solidFill>
                  <a:srgbClr val="0070C0"/>
                </a:solidFill>
              </a:rPr>
              <a:t>-</a:t>
            </a:r>
            <a:r>
              <a:rPr sz="2800" dirty="0">
                <a:solidFill>
                  <a:srgbClr val="0070C0"/>
                </a:solidFill>
              </a:rPr>
              <a:t>Hellman key exchange Algorithms </a:t>
            </a:r>
            <a:r>
              <a:rPr sz="2800" dirty="0"/>
              <a:t>in 1976 to overcome the problem of key agreement and exchange. </a:t>
            </a:r>
          </a:p>
          <a:p>
            <a:pPr algn="just"/>
            <a:r>
              <a:rPr sz="2800" dirty="0"/>
              <a:t>It enables the two parties who want to communicate with each other to agree on a symmetric key, a key that can be used for encrypting and decryption; </a:t>
            </a:r>
          </a:p>
          <a:p>
            <a:pPr algn="just"/>
            <a:r>
              <a:rPr lang="en-US" sz="2800" b="1" dirty="0"/>
              <a:t>N</a:t>
            </a:r>
            <a:r>
              <a:rPr sz="2800" b="1" dirty="0"/>
              <a:t>ote </a:t>
            </a:r>
            <a:r>
              <a:rPr sz="2800" dirty="0"/>
              <a:t>that </a:t>
            </a:r>
            <a:r>
              <a:rPr sz="2800" b="1" dirty="0">
                <a:solidFill>
                  <a:srgbClr val="0070C0"/>
                </a:solidFill>
              </a:rPr>
              <a:t>Diffie Hellman key exchange algorithm can be used for only key exchange, not for encryption and decryption process. </a:t>
            </a:r>
          </a:p>
          <a:p>
            <a:pPr algn="just"/>
            <a:r>
              <a:rPr sz="2800" dirty="0"/>
              <a:t>The algorithm is based on mathematical principles.</a:t>
            </a:r>
            <a:endParaRPr lang="en-IN" altLang="x-none" sz="2800" dirty="0"/>
          </a:p>
        </p:txBody>
      </p:sp>
      <p:sp>
        <p:nvSpPr>
          <p:cNvPr id="5124"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2</a:t>
            </a:fld>
            <a:endParaRPr lang="en-US" altLang="en-US" sz="1600" dirty="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609600" y="381000"/>
            <a:ext cx="10972800" cy="1219200"/>
          </a:xfrm>
        </p:spPr>
        <p:txBody>
          <a:bodyPr vert="horz" wrap="square" lIns="121920" tIns="60960" rIns="121920" bIns="60960" anchor="ctr" anchorCtr="0"/>
          <a:lstStyle/>
          <a:p>
            <a:pPr>
              <a:buNone/>
            </a:pPr>
            <a:r>
              <a:rPr dirty="0"/>
              <a:t>Diffie</a:t>
            </a:r>
            <a:r>
              <a:rPr lang="en-US" dirty="0"/>
              <a:t>-</a:t>
            </a:r>
            <a:r>
              <a:rPr dirty="0"/>
              <a:t>Hellman Key Exchange Algorithm for Key Generation</a:t>
            </a:r>
            <a:endParaRPr lang="en-IN" altLang="x-none" dirty="0"/>
          </a:p>
        </p:txBody>
      </p:sp>
      <p:sp>
        <p:nvSpPr>
          <p:cNvPr id="6147" name="Content Placeholder 2"/>
          <p:cNvSpPr>
            <a:spLocks noGrp="1"/>
          </p:cNvSpPr>
          <p:nvPr>
            <p:ph idx="1"/>
          </p:nvPr>
        </p:nvSpPr>
        <p:spPr>
          <a:xfrm>
            <a:off x="609600" y="1965325"/>
            <a:ext cx="10972800" cy="4160838"/>
          </a:xfrm>
        </p:spPr>
        <p:txBody>
          <a:bodyPr vert="horz" wrap="square" lIns="121920" tIns="60960" rIns="121920" bIns="60960" anchor="t" anchorCtr="0"/>
          <a:lstStyle/>
          <a:p>
            <a:pPr algn="just"/>
            <a:r>
              <a:rPr dirty="0"/>
              <a:t>The algorithm is based on Elliptic Curve Cryptography, a method of doing public-key cryptography based on the algebra structure of elliptic curves over finite fields. </a:t>
            </a:r>
          </a:p>
          <a:p>
            <a:pPr algn="just"/>
            <a:r>
              <a:rPr dirty="0"/>
              <a:t>The DH also uses the trapdoor function, just like many other ways to do public-key cryptography.</a:t>
            </a:r>
            <a:endParaRPr lang="en-IN" altLang="x-none" dirty="0"/>
          </a:p>
        </p:txBody>
      </p:sp>
      <p:sp>
        <p:nvSpPr>
          <p:cNvPr id="6148"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3</a:t>
            </a:fld>
            <a:endParaRPr lang="en-US" altLang="en-US" sz="1600" dirty="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09600" y="330200"/>
            <a:ext cx="10972800" cy="736600"/>
          </a:xfrm>
        </p:spPr>
        <p:txBody>
          <a:bodyPr vert="horz" wrap="square" lIns="121920" tIns="60960" rIns="121920" bIns="60960" anchor="ctr" anchorCtr="0"/>
          <a:lstStyle/>
          <a:p>
            <a:pPr>
              <a:buNone/>
            </a:pPr>
            <a:r>
              <a:rPr lang="en-IN" altLang="x-none" dirty="0"/>
              <a:t>DH Algorithm</a:t>
            </a:r>
          </a:p>
        </p:txBody>
      </p:sp>
      <p:sp>
        <p:nvSpPr>
          <p:cNvPr id="3" name="Content Placeholder 2"/>
          <p:cNvSpPr>
            <a:spLocks noGrp="1"/>
          </p:cNvSpPr>
          <p:nvPr>
            <p:ph idx="1"/>
          </p:nvPr>
        </p:nvSpPr>
        <p:spPr>
          <a:xfrm>
            <a:off x="609600" y="1083733"/>
            <a:ext cx="10972800" cy="5291668"/>
          </a:xfrm>
        </p:spPr>
        <p:txBody>
          <a:bodyPr vert="horz" wrap="square" lIns="121920" tIns="60960" rIns="121920" bIns="60960" numCol="1" anchor="t" anchorCtr="0" compatLnSpc="1"/>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1. The first party picks </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ONE</a:t>
            </a:r>
            <a:r>
              <a:rPr kumimoji="0" lang="en-US" sz="2800" b="0" i="0" u="none" strike="noStrike" kern="1200" cap="none" spc="0" normalizeH="0" baseline="0" noProof="0" dirty="0">
                <a:ln>
                  <a:noFill/>
                </a:ln>
                <a:solidFill>
                  <a:schemeClr val="tx1"/>
                </a:solidFill>
                <a:effectLst/>
                <a:uLnTx/>
                <a:uFillTx/>
                <a:latin typeface="+mn-lt"/>
                <a:ea typeface="+mn-ea"/>
                <a:cs typeface="+mn-cs"/>
              </a:rPr>
              <a:t> prime numbers</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800" b="0" i="0" u="none" strike="noStrike" kern="1200" cap="none" spc="0" normalizeH="0" baseline="0" noProof="0" dirty="0">
                <a:ln>
                  <a:noFill/>
                </a:ln>
                <a:solidFill>
                  <a:schemeClr val="accent6"/>
                </a:solidFill>
                <a:effectLst/>
                <a:uLnTx/>
                <a:uFillTx/>
                <a:latin typeface="+mn-lt"/>
                <a:ea typeface="+mn-ea"/>
                <a:cs typeface="+mn-cs"/>
              </a:rPr>
              <a:t>p</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a:t>
            </a:r>
            <a:r>
              <a:rPr kumimoji="0" lang="en-US" sz="2800" b="0" i="0" u="none" strike="noStrike" kern="1200" cap="none" spc="0" normalizeH="0" baseline="0" noProof="0" dirty="0">
                <a:ln>
                  <a:noFill/>
                </a:ln>
                <a:solidFill>
                  <a:schemeClr val="tx1"/>
                </a:solidFill>
                <a:effectLst/>
                <a:uLnTx/>
                <a:uFillTx/>
                <a:latin typeface="+mn-lt"/>
                <a:ea typeface="+mn-ea"/>
                <a:cs typeface="+mn-cs"/>
              </a:rPr>
              <a:t> </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and </a:t>
            </a:r>
            <a:r>
              <a:rPr kumimoji="0" lang="en-IN" altLang="en-US" sz="2800" b="1" i="0" u="none" strike="noStrike" kern="1200" cap="none" spc="0" normalizeH="0" baseline="0" noProof="0" dirty="0">
                <a:ln>
                  <a:noFill/>
                </a:ln>
                <a:solidFill>
                  <a:schemeClr val="accent1"/>
                </a:solidFill>
                <a:effectLst/>
                <a:uLnTx/>
                <a:uFillTx/>
                <a:latin typeface="+mn-lt"/>
                <a:ea typeface="+mn-ea"/>
                <a:cs typeface="+mn-cs"/>
              </a:rPr>
              <a:t>primitive root of p</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 as ‘</a:t>
            </a:r>
            <a:r>
              <a:rPr kumimoji="0" lang="en-IN" altLang="en-US" sz="2800" b="0" i="0" u="none" strike="noStrike" kern="1200" cap="none" spc="0" normalizeH="0" baseline="0" noProof="0" dirty="0">
                <a:ln>
                  <a:noFill/>
                </a:ln>
                <a:solidFill>
                  <a:schemeClr val="accent6"/>
                </a:solidFill>
                <a:effectLst/>
                <a:uLnTx/>
                <a:uFillTx/>
                <a:latin typeface="+mn-lt"/>
                <a:ea typeface="+mn-ea"/>
                <a:cs typeface="+mn-cs"/>
              </a:rPr>
              <a:t>g</a:t>
            </a:r>
            <a:r>
              <a:rPr kumimoji="0" lang="en-IN" altLang="en-US" sz="2800" b="0" i="0" u="none" strike="noStrike" kern="1200" cap="none" spc="0" normalizeH="0" baseline="0" noProof="0" dirty="0">
                <a:ln>
                  <a:noFill/>
                </a:ln>
                <a:solidFill>
                  <a:schemeClr val="tx1"/>
                </a:solidFill>
                <a:effectLst/>
                <a:uLnTx/>
                <a:uFillTx/>
                <a:latin typeface="+mn-lt"/>
                <a:ea typeface="+mn-ea"/>
                <a:cs typeface="+mn-cs"/>
              </a:rPr>
              <a:t>’</a:t>
            </a:r>
            <a:r>
              <a:rPr kumimoji="0" lang="en-US" sz="2800" b="0" i="0" u="none" strike="noStrike" kern="1200" cap="none" spc="0" normalizeH="0" baseline="0" noProof="0" dirty="0">
                <a:ln>
                  <a:noFill/>
                </a:ln>
                <a:solidFill>
                  <a:schemeClr val="tx1"/>
                </a:solidFill>
                <a:effectLst/>
                <a:uLnTx/>
                <a:uFillTx/>
                <a:latin typeface="+mn-lt"/>
                <a:ea typeface="+mn-ea"/>
                <a:cs typeface="+mn-cs"/>
              </a:rPr>
              <a:t> and tells them to the second party.</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2. The second party then picks a secret number (let’s call it </a:t>
            </a:r>
            <a:r>
              <a:rPr kumimoji="0" lang="en-US" sz="2800" b="0" i="0" u="none" strike="noStrike" kern="1200" cap="none" spc="0" normalizeH="0" baseline="0" noProof="0" dirty="0">
                <a:ln>
                  <a:noFill/>
                </a:ln>
                <a:solidFill>
                  <a:schemeClr val="accent6"/>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 and then it computes </a:t>
            </a:r>
            <a:r>
              <a:rPr kumimoji="0" lang="en-US" sz="2800" b="0" i="0" u="none" strike="noStrike" kern="1200" cap="none" spc="0" normalizeH="0" baseline="0" noProof="0" dirty="0" err="1">
                <a:ln>
                  <a:noFill/>
                </a:ln>
                <a:solidFill>
                  <a:schemeClr val="accent6"/>
                </a:solidFill>
                <a:effectLst/>
                <a:uLnTx/>
                <a:uFillTx/>
                <a:latin typeface="+mn-lt"/>
                <a:ea typeface="+mn-ea"/>
                <a:cs typeface="+mn-cs"/>
              </a:rPr>
              <a:t>g</a:t>
            </a:r>
            <a:r>
              <a:rPr kumimoji="0" lang="en-US" sz="2800" b="0" i="0" u="none" strike="noStrike" kern="1200" cap="none" spc="0" normalizeH="0" baseline="30000" noProof="0" dirty="0" err="1">
                <a:ln>
                  <a:noFill/>
                </a:ln>
                <a:solidFill>
                  <a:schemeClr val="accent6"/>
                </a:solidFill>
                <a:effectLst/>
                <a:uLnTx/>
                <a:uFillTx/>
                <a:latin typeface="+mn-lt"/>
                <a:ea typeface="+mn-ea"/>
                <a:cs typeface="+mn-cs"/>
              </a:rPr>
              <a:t>a</a:t>
            </a:r>
            <a:r>
              <a:rPr kumimoji="0" lang="en-US" sz="2800" b="0" i="0" u="none" strike="noStrike" kern="1200" cap="none" spc="0" normalizeH="0" baseline="30000" noProof="0" dirty="0">
                <a:ln>
                  <a:noFill/>
                </a:ln>
                <a:solidFill>
                  <a:schemeClr val="accent6"/>
                </a:solidFill>
                <a:effectLst/>
                <a:uLnTx/>
                <a:uFillTx/>
                <a:latin typeface="+mn-lt"/>
                <a:ea typeface="+mn-ea"/>
                <a:cs typeface="+mn-cs"/>
              </a:rPr>
              <a:t> </a:t>
            </a:r>
            <a:r>
              <a:rPr kumimoji="0" lang="en-US" sz="2800" b="0" i="0" u="none" strike="noStrike" kern="1200" cap="none" spc="0" normalizeH="0" baseline="0" noProof="0" dirty="0">
                <a:ln>
                  <a:noFill/>
                </a:ln>
                <a:solidFill>
                  <a:schemeClr val="accent6"/>
                </a:solidFill>
                <a:effectLst/>
                <a:uLnTx/>
                <a:uFillTx/>
                <a:latin typeface="+mn-lt"/>
                <a:ea typeface="+mn-ea"/>
                <a:cs typeface="+mn-cs"/>
              </a:rPr>
              <a:t>mod p </a:t>
            </a:r>
            <a:r>
              <a:rPr kumimoji="0" lang="en-US" sz="2800" b="0" i="0" u="none" strike="noStrike" kern="1200" cap="none" spc="0" normalizeH="0" baseline="0" noProof="0" dirty="0">
                <a:ln>
                  <a:noFill/>
                </a:ln>
                <a:solidFill>
                  <a:schemeClr val="tx1"/>
                </a:solidFill>
                <a:effectLst/>
                <a:uLnTx/>
                <a:uFillTx/>
                <a:latin typeface="+mn-lt"/>
                <a:ea typeface="+mn-ea"/>
                <a:cs typeface="+mn-cs"/>
              </a:rPr>
              <a:t>and sends the result back to the first party; let’s call the result </a:t>
            </a:r>
            <a:r>
              <a:rPr kumimoji="0" lang="en-US" sz="2800" b="0" i="0" u="none" strike="noStrike" kern="1200" cap="none" spc="0" normalizeH="0" baseline="0" noProof="0" dirty="0">
                <a:ln>
                  <a:noFill/>
                </a:ln>
                <a:solidFill>
                  <a:schemeClr val="accent6"/>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 Keep in mind that the secret number is not sent to anyone, only the result is.</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3. Then the first party does the same; it selects a secret number </a:t>
            </a:r>
            <a:r>
              <a:rPr kumimoji="0" lang="en-US" sz="2800" b="0" i="0" u="none" strike="noStrike" kern="1200" cap="none" spc="0" normalizeH="0" baseline="0" noProof="0" dirty="0">
                <a:ln>
                  <a:noFill/>
                </a:ln>
                <a:solidFill>
                  <a:schemeClr val="accent6"/>
                </a:solidFill>
                <a:effectLst/>
                <a:uLnTx/>
                <a:uFillTx/>
                <a:latin typeface="+mn-lt"/>
                <a:ea typeface="+mn-ea"/>
                <a:cs typeface="+mn-cs"/>
              </a:rPr>
              <a:t>b</a:t>
            </a:r>
            <a:r>
              <a:rPr kumimoji="0" lang="en-US" sz="2800" b="0" i="0" u="none" strike="noStrike" kern="1200" cap="none" spc="0" normalizeH="0" baseline="0" noProof="0" dirty="0">
                <a:ln>
                  <a:noFill/>
                </a:ln>
                <a:solidFill>
                  <a:schemeClr val="tx1"/>
                </a:solidFill>
                <a:effectLst/>
                <a:uLnTx/>
                <a:uFillTx/>
                <a:latin typeface="+mn-lt"/>
                <a:ea typeface="+mn-ea"/>
                <a:cs typeface="+mn-cs"/>
              </a:rPr>
              <a:t> and calculates the result </a:t>
            </a:r>
            <a:r>
              <a:rPr kumimoji="0" lang="en-US" sz="2800" b="0" i="0" u="none" strike="noStrike" kern="1200" cap="none" spc="0" normalizeH="0" baseline="0" noProof="0" dirty="0">
                <a:ln>
                  <a:noFill/>
                </a:ln>
                <a:solidFill>
                  <a:schemeClr val="accent6"/>
                </a:solidFill>
                <a:effectLst/>
                <a:uLnTx/>
                <a:uFillTx/>
                <a:latin typeface="+mn-lt"/>
                <a:ea typeface="+mn-ea"/>
                <a:cs typeface="+mn-cs"/>
              </a:rPr>
              <a:t>B</a:t>
            </a:r>
            <a:r>
              <a:rPr kumimoji="0" lang="en-US" sz="2800" b="0" i="0" u="none" strike="noStrike" kern="1200" cap="none" spc="0" normalizeH="0" baseline="0" noProof="0" dirty="0">
                <a:ln>
                  <a:noFill/>
                </a:ln>
                <a:solidFill>
                  <a:schemeClr val="tx1"/>
                </a:solidFill>
                <a:effectLst/>
                <a:uLnTx/>
                <a:uFillTx/>
                <a:latin typeface="+mn-lt"/>
                <a:ea typeface="+mn-ea"/>
                <a:cs typeface="+mn-cs"/>
              </a:rPr>
              <a:t> similar to the step 2. Then, this result is sent to the second party.</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4. The second party takes the received number </a:t>
            </a:r>
            <a:r>
              <a:rPr kumimoji="0" lang="en-US" sz="2800" b="0" i="0" u="none" strike="noStrike" kern="1200" cap="none" spc="0" normalizeH="0" baseline="0" noProof="0" dirty="0">
                <a:ln>
                  <a:noFill/>
                </a:ln>
                <a:solidFill>
                  <a:schemeClr val="accent6"/>
                </a:solidFill>
                <a:effectLst/>
                <a:uLnTx/>
                <a:uFillTx/>
                <a:latin typeface="+mn-lt"/>
                <a:ea typeface="+mn-ea"/>
                <a:cs typeface="+mn-cs"/>
              </a:rPr>
              <a:t>B</a:t>
            </a:r>
            <a:r>
              <a:rPr kumimoji="0" lang="en-US" sz="2800" b="0" i="0" u="none" strike="noStrike" kern="1200" cap="none" spc="0" normalizeH="0" baseline="0" noProof="0" dirty="0">
                <a:ln>
                  <a:noFill/>
                </a:ln>
                <a:solidFill>
                  <a:schemeClr val="tx1"/>
                </a:solidFill>
                <a:effectLst/>
                <a:uLnTx/>
                <a:uFillTx/>
                <a:latin typeface="+mn-lt"/>
                <a:ea typeface="+mn-ea"/>
                <a:cs typeface="+mn-cs"/>
              </a:rPr>
              <a:t> and calculates </a:t>
            </a:r>
            <a:r>
              <a:rPr kumimoji="0" lang="en-US" sz="2800" b="0" i="0" u="none" strike="noStrike" kern="1200" cap="none" spc="0" normalizeH="0" baseline="0" noProof="0" dirty="0">
                <a:ln>
                  <a:noFill/>
                </a:ln>
                <a:solidFill>
                  <a:schemeClr val="accent6"/>
                </a:solidFill>
                <a:effectLst/>
                <a:uLnTx/>
                <a:uFillTx/>
                <a:latin typeface="+mn-lt"/>
                <a:ea typeface="+mn-ea"/>
                <a:cs typeface="+mn-cs"/>
              </a:rPr>
              <a:t>B</a:t>
            </a:r>
            <a:r>
              <a:rPr kumimoji="0" lang="en-US" sz="2800" b="0" i="0" u="none" strike="noStrike" kern="1200" cap="none" spc="0" normalizeH="0" baseline="30000" noProof="0" dirty="0">
                <a:ln>
                  <a:noFill/>
                </a:ln>
                <a:solidFill>
                  <a:schemeClr val="accent6"/>
                </a:solidFill>
                <a:effectLst/>
                <a:uLnTx/>
                <a:uFillTx/>
                <a:latin typeface="+mn-lt"/>
                <a:ea typeface="+mn-ea"/>
                <a:cs typeface="+mn-cs"/>
              </a:rPr>
              <a:t>a </a:t>
            </a:r>
            <a:r>
              <a:rPr kumimoji="0" lang="en-US" sz="2800" b="0" i="0" u="none" strike="noStrike" kern="1200" cap="none" spc="0" normalizeH="0" baseline="0" noProof="0" dirty="0">
                <a:ln>
                  <a:noFill/>
                </a:ln>
                <a:solidFill>
                  <a:schemeClr val="accent6"/>
                </a:solidFill>
                <a:effectLst/>
                <a:uLnTx/>
                <a:uFillTx/>
                <a:latin typeface="+mn-lt"/>
                <a:ea typeface="+mn-ea"/>
                <a:cs typeface="+mn-cs"/>
              </a:rPr>
              <a:t>mod p</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5. The first party takes the received number </a:t>
            </a:r>
            <a:r>
              <a:rPr kumimoji="0" lang="en-US" sz="2800" b="0" i="0" u="none" strike="noStrike" kern="1200" cap="none" spc="0" normalizeH="0" baseline="0" noProof="0" dirty="0">
                <a:ln>
                  <a:noFill/>
                </a:ln>
                <a:solidFill>
                  <a:schemeClr val="accent6"/>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 and calculates </a:t>
            </a:r>
            <a:r>
              <a:rPr kumimoji="0" lang="en-US" sz="2800" b="0" i="0" u="none" strike="noStrike" kern="1200" cap="none" spc="0" normalizeH="0" baseline="0" noProof="0" dirty="0">
                <a:ln>
                  <a:noFill/>
                </a:ln>
                <a:solidFill>
                  <a:schemeClr val="accent6"/>
                </a:solidFill>
                <a:effectLst/>
                <a:uLnTx/>
                <a:uFillTx/>
                <a:latin typeface="+mn-lt"/>
                <a:ea typeface="+mn-ea"/>
                <a:cs typeface="+mn-cs"/>
              </a:rPr>
              <a:t>A</a:t>
            </a:r>
            <a:r>
              <a:rPr kumimoji="0" lang="en-US" sz="2800" b="0" i="0" u="none" strike="noStrike" kern="1200" cap="none" spc="0" normalizeH="0" baseline="30000" noProof="0" dirty="0">
                <a:ln>
                  <a:noFill/>
                </a:ln>
                <a:solidFill>
                  <a:schemeClr val="accent6"/>
                </a:solidFill>
                <a:effectLst/>
                <a:uLnTx/>
                <a:uFillTx/>
                <a:latin typeface="+mn-lt"/>
                <a:ea typeface="+mn-ea"/>
                <a:cs typeface="+mn-cs"/>
              </a:rPr>
              <a:t>b</a:t>
            </a:r>
            <a:r>
              <a:rPr kumimoji="0" lang="en-US" sz="2800" b="0" i="0" u="none" strike="noStrike" kern="1200" cap="none" spc="0" normalizeH="0" baseline="0" noProof="0" dirty="0">
                <a:ln>
                  <a:noFill/>
                </a:ln>
                <a:solidFill>
                  <a:schemeClr val="accent6"/>
                </a:solidFill>
                <a:effectLst/>
                <a:uLnTx/>
                <a:uFillTx/>
                <a:latin typeface="+mn-lt"/>
                <a:ea typeface="+mn-ea"/>
                <a:cs typeface="+mn-cs"/>
              </a:rPr>
              <a:t> mod p</a:t>
            </a:r>
          </a:p>
          <a:p>
            <a:pPr marL="514350" marR="0" lvl="0" indent="-514350" algn="l" defTabSz="914400" rtl="0" eaLnBrk="0" fontAlgn="base" latinLnBrk="0" hangingPunct="0">
              <a:lnSpc>
                <a:spcPct val="100000"/>
              </a:lnSpc>
              <a:spcBef>
                <a:spcPct val="20000"/>
              </a:spcBef>
              <a:spcAft>
                <a:spcPct val="0"/>
              </a:spcAft>
              <a:buClrTx/>
              <a:buSzTx/>
              <a:buFont typeface="+mj-lt"/>
              <a:buAutoNum type="arabicPeriod"/>
              <a:defRPr/>
            </a:pPr>
            <a:endParaRPr kumimoji="0" lang="en-IN"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172"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4</a:t>
            </a:fld>
            <a:endParaRPr lang="en-US" altLang="en-US" sz="16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vert="horz" wrap="square" lIns="121920" tIns="60960" rIns="121920" bIns="60960" anchor="ctr" anchorCtr="0"/>
          <a:lstStyle/>
          <a:p>
            <a:pPr>
              <a:buNone/>
            </a:pPr>
            <a:r>
              <a:rPr lang="en-IN" altLang="x-none" dirty="0"/>
              <a:t>Diffie Hellman Algorithm</a:t>
            </a:r>
          </a:p>
        </p:txBody>
      </p:sp>
      <p:sp>
        <p:nvSpPr>
          <p:cNvPr id="3" name="Content Placeholder 2"/>
          <p:cNvSpPr>
            <a:spLocks noGrp="1"/>
          </p:cNvSpPr>
          <p:nvPr>
            <p:ph idx="1"/>
          </p:nvPr>
        </p:nvSpPr>
        <p:spPr/>
        <p:txBody>
          <a:bodyPr vert="horz" wrap="square" lIns="121920" tIns="60960" rIns="121920" bIns="60960" numCol="1" anchor="t" anchorCtr="0" compatLnSpc="1"/>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1. key =(Y</a:t>
            </a:r>
            <a:r>
              <a:rPr kumimoji="0" lang="en-US" sz="2800" b="0" i="0" u="none" strike="noStrike" kern="1200" cap="none" spc="0" normalizeH="0" baseline="-25000" noProof="0" dirty="0">
                <a:ln>
                  <a:noFill/>
                </a:ln>
                <a:solidFill>
                  <a:schemeClr val="tx1"/>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a:t>
            </a:r>
            <a:r>
              <a:rPr kumimoji="0" lang="en-US" sz="2800" b="0" i="0" u="none" strike="noStrike" kern="1200" cap="none" spc="0" normalizeH="0" baseline="30000" noProof="0" dirty="0" err="1">
                <a:ln>
                  <a:noFill/>
                </a:ln>
                <a:solidFill>
                  <a:schemeClr val="tx1"/>
                </a:solidFill>
                <a:effectLst/>
                <a:uLnTx/>
                <a:uFillTx/>
                <a:latin typeface="+mn-lt"/>
                <a:ea typeface="+mn-ea"/>
                <a:cs typeface="+mn-cs"/>
              </a:rPr>
              <a:t>XB</a:t>
            </a:r>
            <a:r>
              <a:rPr kumimoji="0" lang="en-US" sz="2800" b="0" i="0" u="none" strike="noStrike" kern="1200" cap="none" spc="0" normalizeH="0" baseline="0" noProof="0" dirty="0" err="1">
                <a:ln>
                  <a:noFill/>
                </a:ln>
                <a:solidFill>
                  <a:schemeClr val="tx1"/>
                </a:solidFill>
                <a:effectLst/>
                <a:uLnTx/>
                <a:uFillTx/>
                <a:latin typeface="+mn-lt"/>
                <a:ea typeface="+mn-ea"/>
                <a:cs typeface="+mn-cs"/>
              </a:rPr>
              <a:t>mod</a:t>
            </a:r>
            <a:r>
              <a:rPr kumimoji="0" lang="en-US" sz="2800" b="0" i="0" u="none" strike="noStrike" kern="1200" cap="none" spc="0" normalizeH="0" baseline="0" noProof="0" dirty="0">
                <a:ln>
                  <a:noFill/>
                </a:ln>
                <a:solidFill>
                  <a:schemeClr val="tx1"/>
                </a:solidFill>
                <a:effectLst/>
                <a:uLnTx/>
                <a:uFillTx/>
                <a:latin typeface="+mn-lt"/>
                <a:ea typeface="+mn-ea"/>
                <a:cs typeface="+mn-cs"/>
              </a:rPr>
              <a:t> q           -&gt; this is the same as calculated by B</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2. Global Public Elements</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q: q is a prime number</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a: a &lt; q and α is the primitive root of q</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3. Key generation for user A</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	Select a Private key X</a:t>
            </a:r>
            <a:r>
              <a:rPr kumimoji="0" lang="en-US" sz="2800" b="0" i="0" u="none" strike="noStrike" kern="1200" cap="none" spc="0" normalizeH="0" baseline="-25000" noProof="0" dirty="0">
                <a:ln>
                  <a:noFill/>
                </a:ln>
                <a:solidFill>
                  <a:schemeClr val="tx1"/>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   Here, X</a:t>
            </a:r>
            <a:r>
              <a:rPr kumimoji="0" lang="en-US" sz="2800" b="0" i="0" u="none" strike="noStrike" kern="1200" cap="none" spc="0" normalizeH="0" baseline="-25000" noProof="0" dirty="0">
                <a:ln>
                  <a:noFill/>
                </a:ln>
                <a:solidFill>
                  <a:schemeClr val="tx1"/>
                </a:solidFill>
                <a:effectLst/>
                <a:uLnTx/>
                <a:uFillTx/>
                <a:latin typeface="+mn-lt"/>
                <a:ea typeface="+mn-ea"/>
                <a:cs typeface="+mn-cs"/>
              </a:rPr>
              <a:t>A  </a:t>
            </a:r>
            <a:r>
              <a:rPr kumimoji="0" lang="en-US" sz="2800" b="0" i="0" u="none" strike="noStrike" kern="1200" cap="none" spc="0" normalizeH="0" baseline="0" noProof="0" dirty="0">
                <a:ln>
                  <a:noFill/>
                </a:ln>
                <a:solidFill>
                  <a:schemeClr val="tx1"/>
                </a:solidFill>
                <a:effectLst/>
                <a:uLnTx/>
                <a:uFillTx/>
                <a:latin typeface="+mn-lt"/>
                <a:ea typeface="+mn-ea"/>
                <a:cs typeface="+mn-cs"/>
              </a:rPr>
              <a:t>&lt;q</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Now, Calculation of Public key Y</a:t>
            </a:r>
            <a:r>
              <a:rPr kumimoji="0" lang="en-US" sz="2800" b="0" i="0" u="none" strike="noStrike" kern="1200" cap="none" spc="0" normalizeH="0" baseline="-25000" noProof="0" dirty="0">
                <a:ln>
                  <a:noFill/>
                </a:ln>
                <a:solidFill>
                  <a:schemeClr val="tx1"/>
                </a:solidFill>
                <a:effectLst/>
                <a:uLnTx/>
                <a:uFillTx/>
                <a:latin typeface="+mn-lt"/>
                <a:ea typeface="+mn-ea"/>
                <a:cs typeface="+mn-cs"/>
              </a:rPr>
              <a:t>A  </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defRPr/>
            </a:pPr>
            <a:r>
              <a:rPr kumimoji="0" lang="en-US" sz="2800" b="0" i="0" u="none" strike="noStrike" kern="1200" cap="none" spc="0" normalizeH="0" baseline="0" noProof="0" dirty="0">
                <a:ln>
                  <a:noFill/>
                </a:ln>
                <a:solidFill>
                  <a:schemeClr val="tx1"/>
                </a:solidFill>
                <a:effectLst/>
                <a:uLnTx/>
                <a:uFillTx/>
                <a:latin typeface="+mn-lt"/>
                <a:ea typeface="+mn-ea"/>
                <a:cs typeface="+mn-cs"/>
              </a:rPr>
              <a:t>Y</a:t>
            </a:r>
            <a:r>
              <a:rPr kumimoji="0" lang="en-US" sz="2800" b="0" i="0" u="none" strike="noStrike" kern="1200" cap="none" spc="0" normalizeH="0" baseline="-25000" noProof="0" dirty="0">
                <a:ln>
                  <a:noFill/>
                </a:ln>
                <a:solidFill>
                  <a:schemeClr val="tx1"/>
                </a:solidFill>
                <a:effectLst/>
                <a:uLnTx/>
                <a:uFillTx/>
                <a:latin typeface="+mn-lt"/>
                <a:ea typeface="+mn-ea"/>
                <a:cs typeface="+mn-cs"/>
              </a:rPr>
              <a:t>A</a:t>
            </a:r>
            <a:r>
              <a:rPr kumimoji="0" lang="en-US" sz="2800" b="0" i="0" u="none" strike="noStrike" kern="1200" cap="none" spc="0" normalizeH="0" baseline="0" noProof="0" dirty="0">
                <a:ln>
                  <a:noFill/>
                </a:ln>
                <a:solidFill>
                  <a:schemeClr val="tx1"/>
                </a:solidFill>
                <a:effectLst/>
                <a:uLnTx/>
                <a:uFillTx/>
                <a:latin typeface="+mn-lt"/>
                <a:ea typeface="+mn-ea"/>
                <a:cs typeface="+mn-cs"/>
              </a:rPr>
              <a:t> = </a:t>
            </a:r>
            <a:r>
              <a:rPr kumimoji="0" lang="en-US" sz="2800" b="0" i="0" u="none" strike="noStrike" kern="1200" cap="none" spc="0" normalizeH="0" baseline="0" noProof="0" dirty="0" err="1">
                <a:ln>
                  <a:noFill/>
                </a:ln>
                <a:solidFill>
                  <a:schemeClr val="tx1"/>
                </a:solidFill>
                <a:effectLst/>
                <a:uLnTx/>
                <a:uFillTx/>
                <a:latin typeface="+mn-lt"/>
                <a:ea typeface="+mn-ea"/>
                <a:cs typeface="+mn-cs"/>
              </a:rPr>
              <a:t>a</a:t>
            </a:r>
            <a:r>
              <a:rPr kumimoji="0" lang="en-US" sz="2800" b="0" i="0" u="none" strike="noStrike" kern="1200" cap="none" spc="0" normalizeH="0" baseline="30000" noProof="0" dirty="0" err="1">
                <a:ln>
                  <a:noFill/>
                </a:ln>
                <a:solidFill>
                  <a:schemeClr val="tx1"/>
                </a:solidFill>
                <a:effectLst/>
                <a:uLnTx/>
                <a:uFillTx/>
                <a:latin typeface="+mn-lt"/>
                <a:ea typeface="+mn-ea"/>
                <a:cs typeface="+mn-cs"/>
              </a:rPr>
              <a:t>XA</a:t>
            </a:r>
            <a:r>
              <a:rPr kumimoji="0" lang="en-US" sz="2800" b="0" i="0" u="none" strike="noStrike" kern="1200" cap="none" spc="0" normalizeH="0" baseline="0" noProof="0" dirty="0">
                <a:ln>
                  <a:noFill/>
                </a:ln>
                <a:solidFill>
                  <a:schemeClr val="tx1"/>
                </a:solidFill>
                <a:effectLst/>
                <a:uLnTx/>
                <a:uFillTx/>
                <a:latin typeface="+mn-lt"/>
                <a:ea typeface="+mn-ea"/>
                <a:cs typeface="+mn-cs"/>
              </a:rPr>
              <a:t> mod q</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defRPr/>
            </a:pPr>
            <a:endParaRPr kumimoji="0" lang="en-IN"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8196"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5</a:t>
            </a:fld>
            <a:endParaRPr lang="en-US" altLang="en-US" sz="1600" dirty="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vert="horz" wrap="square" lIns="121920" tIns="60960" rIns="121920" bIns="60960" anchor="ctr" anchorCtr="0"/>
          <a:lstStyle/>
          <a:p>
            <a:pPr>
              <a:buNone/>
            </a:pPr>
            <a:r>
              <a:rPr lang="en-IN" altLang="x-none" dirty="0"/>
              <a:t>Diffie Hellman Algorithm</a:t>
            </a:r>
          </a:p>
        </p:txBody>
      </p:sp>
      <p:sp>
        <p:nvSpPr>
          <p:cNvPr id="9219" name="Content Placeholder 2"/>
          <p:cNvSpPr>
            <a:spLocks noGrp="1"/>
          </p:cNvSpPr>
          <p:nvPr>
            <p:ph idx="1"/>
          </p:nvPr>
        </p:nvSpPr>
        <p:spPr>
          <a:xfrm>
            <a:off x="609600" y="1524001"/>
            <a:ext cx="10972800" cy="4495800"/>
          </a:xfrm>
        </p:spPr>
        <p:txBody>
          <a:bodyPr vert="horz" wrap="square" lIns="121920" tIns="60960" rIns="121920" bIns="60960" anchor="t" anchorCtr="0"/>
          <a:lstStyle/>
          <a:p>
            <a:pPr marL="0" indent="0">
              <a:buNone/>
            </a:pPr>
            <a:r>
              <a:rPr dirty="0"/>
              <a:t>4. Key generation for user B</a:t>
            </a:r>
          </a:p>
          <a:p>
            <a:pPr marL="0" indent="0">
              <a:buNone/>
            </a:pPr>
            <a:r>
              <a:rPr dirty="0"/>
              <a:t>Select a Private key X</a:t>
            </a:r>
            <a:r>
              <a:rPr baseline="-25000" dirty="0"/>
              <a:t>B</a:t>
            </a:r>
            <a:r>
              <a:rPr dirty="0"/>
              <a:t>    Here, X</a:t>
            </a:r>
            <a:r>
              <a:rPr baseline="-25000" dirty="0"/>
              <a:t>B  </a:t>
            </a:r>
            <a:r>
              <a:rPr dirty="0"/>
              <a:t>&lt;q</a:t>
            </a:r>
          </a:p>
          <a:p>
            <a:pPr marL="0" indent="0">
              <a:buNone/>
            </a:pPr>
            <a:r>
              <a:rPr dirty="0"/>
              <a:t>Now, Calculation of Public key Y</a:t>
            </a:r>
            <a:r>
              <a:rPr baseline="-25000" dirty="0"/>
              <a:t>B     </a:t>
            </a:r>
            <a:r>
              <a:rPr dirty="0"/>
              <a:t>Y</a:t>
            </a:r>
            <a:r>
              <a:rPr baseline="-25000" dirty="0"/>
              <a:t>B</a:t>
            </a:r>
            <a:r>
              <a:rPr dirty="0"/>
              <a:t> = a</a:t>
            </a:r>
            <a:r>
              <a:rPr baseline="30000" dirty="0"/>
              <a:t>Xb</a:t>
            </a:r>
            <a:r>
              <a:rPr dirty="0"/>
              <a:t> mod q</a:t>
            </a:r>
          </a:p>
          <a:p>
            <a:pPr marL="0" indent="0">
              <a:buNone/>
            </a:pPr>
            <a:r>
              <a:rPr dirty="0"/>
              <a:t>5. Calculation of Secret Key by A</a:t>
            </a:r>
          </a:p>
          <a:p>
            <a:pPr marL="0" indent="0">
              <a:buNone/>
            </a:pPr>
            <a:r>
              <a:rPr dirty="0"/>
              <a:t>key =(Y</a:t>
            </a:r>
            <a:r>
              <a:rPr baseline="-25000" dirty="0"/>
              <a:t>B</a:t>
            </a:r>
            <a:r>
              <a:rPr dirty="0"/>
              <a:t>)</a:t>
            </a:r>
            <a:r>
              <a:rPr baseline="30000" dirty="0"/>
              <a:t>XA </a:t>
            </a:r>
            <a:r>
              <a:rPr dirty="0"/>
              <a:t>mod q</a:t>
            </a:r>
          </a:p>
          <a:p>
            <a:pPr marL="0" indent="0">
              <a:buNone/>
            </a:pPr>
            <a:r>
              <a:rPr dirty="0"/>
              <a:t>6. Calculation of Secret Key by B</a:t>
            </a:r>
          </a:p>
          <a:p>
            <a:pPr marL="0" indent="0">
              <a:buNone/>
            </a:pPr>
            <a:r>
              <a:rPr dirty="0"/>
              <a:t>key =(Y</a:t>
            </a:r>
            <a:r>
              <a:rPr baseline="-25000" dirty="0"/>
              <a:t>A</a:t>
            </a:r>
            <a:r>
              <a:rPr dirty="0"/>
              <a:t>)</a:t>
            </a:r>
            <a:r>
              <a:rPr baseline="30000" dirty="0"/>
              <a:t>XB </a:t>
            </a:r>
            <a:r>
              <a:rPr dirty="0"/>
              <a:t>mod q</a:t>
            </a:r>
          </a:p>
        </p:txBody>
      </p:sp>
      <p:sp>
        <p:nvSpPr>
          <p:cNvPr id="9220"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6</a:t>
            </a:fld>
            <a:endParaRPr lang="en-US" altLang="en-US" sz="1600" dirty="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vert="horz" wrap="square" lIns="121920" tIns="60960" rIns="121920" bIns="60960" anchor="ctr" anchorCtr="0"/>
          <a:lstStyle/>
          <a:p>
            <a:pPr>
              <a:buNone/>
            </a:pPr>
            <a:r>
              <a:rPr lang="en-IN" altLang="x-none" dirty="0"/>
              <a:t>Example 1</a:t>
            </a:r>
          </a:p>
        </p:txBody>
      </p:sp>
      <p:sp>
        <p:nvSpPr>
          <p:cNvPr id="10243" name="Content Placeholder 2"/>
          <p:cNvSpPr>
            <a:spLocks noGrp="1"/>
          </p:cNvSpPr>
          <p:nvPr>
            <p:ph idx="1"/>
          </p:nvPr>
        </p:nvSpPr>
        <p:spPr/>
        <p:txBody>
          <a:bodyPr vert="horz" wrap="square" lIns="121920" tIns="60960" rIns="121920" bIns="60960" anchor="t" anchorCtr="0"/>
          <a:lstStyle/>
          <a:p>
            <a:pPr marL="0" indent="0">
              <a:buNone/>
            </a:pPr>
            <a:r>
              <a:rPr dirty="0"/>
              <a:t>1. Alice and Bob both use public numbers </a:t>
            </a:r>
            <a:r>
              <a:rPr lang="en-US" dirty="0"/>
              <a:t>p</a:t>
            </a:r>
            <a:r>
              <a:rPr dirty="0"/>
              <a:t> = 23, </a:t>
            </a:r>
            <a:r>
              <a:rPr lang="en-US" dirty="0"/>
              <a:t>g</a:t>
            </a:r>
            <a:r>
              <a:rPr dirty="0"/>
              <a:t> = 5</a:t>
            </a:r>
          </a:p>
          <a:p>
            <a:pPr marL="0" indent="0">
              <a:buNone/>
            </a:pPr>
            <a:r>
              <a:rPr dirty="0"/>
              <a:t>2. Alice selected private key a = 4, and Bob selected b = 3 as the private key</a:t>
            </a:r>
          </a:p>
          <a:p>
            <a:pPr marL="0" indent="0">
              <a:buNone/>
            </a:pPr>
            <a:r>
              <a:rPr dirty="0"/>
              <a:t>3. Both Alice and bob now calculate the value of </a:t>
            </a:r>
            <a:r>
              <a:rPr lang="en-IN" dirty="0"/>
              <a:t>A</a:t>
            </a:r>
            <a:r>
              <a:rPr dirty="0"/>
              <a:t> and </a:t>
            </a:r>
            <a:r>
              <a:rPr lang="en-IN" dirty="0"/>
              <a:t>B</a:t>
            </a:r>
            <a:r>
              <a:rPr dirty="0"/>
              <a:t> as follows:</a:t>
            </a:r>
          </a:p>
          <a:p>
            <a:pPr marL="0" indent="0">
              <a:buNone/>
            </a:pPr>
            <a:r>
              <a:rPr dirty="0"/>
              <a:t>Alice:    </a:t>
            </a:r>
            <a:r>
              <a:rPr lang="en-IN" dirty="0"/>
              <a:t>A</a:t>
            </a:r>
            <a:r>
              <a:rPr dirty="0"/>
              <a:t> = </a:t>
            </a:r>
            <a:r>
              <a:rPr lang="en-IN" dirty="0"/>
              <a:t>g</a:t>
            </a:r>
            <a:r>
              <a:rPr lang="en-IN" baseline="30000" dirty="0"/>
              <a:t>a</a:t>
            </a:r>
            <a:r>
              <a:rPr lang="en-IN" dirty="0"/>
              <a:t> mod p=</a:t>
            </a:r>
            <a:r>
              <a:rPr dirty="0"/>
              <a:t>(5</a:t>
            </a:r>
            <a:r>
              <a:rPr baseline="30000" dirty="0"/>
              <a:t>4</a:t>
            </a:r>
            <a:r>
              <a:rPr dirty="0"/>
              <a:t> mod 23) = 4</a:t>
            </a:r>
          </a:p>
          <a:p>
            <a:pPr marL="0" indent="0">
              <a:buNone/>
            </a:pPr>
            <a:r>
              <a:rPr dirty="0"/>
              <a:t>Bob:    </a:t>
            </a:r>
            <a:r>
              <a:rPr lang="en-IN" dirty="0"/>
              <a:t>B</a:t>
            </a:r>
            <a:r>
              <a:rPr dirty="0"/>
              <a:t> = </a:t>
            </a:r>
            <a:r>
              <a:rPr lang="en-IN" dirty="0"/>
              <a:t>g</a:t>
            </a:r>
            <a:r>
              <a:rPr lang="en-IN" baseline="30000" dirty="0"/>
              <a:t>b</a:t>
            </a:r>
            <a:r>
              <a:rPr lang="en-IN" dirty="0"/>
              <a:t> mod p=</a:t>
            </a:r>
            <a:r>
              <a:rPr dirty="0"/>
              <a:t>(5</a:t>
            </a:r>
            <a:r>
              <a:rPr baseline="30000" dirty="0"/>
              <a:t>3</a:t>
            </a:r>
            <a:r>
              <a:rPr dirty="0"/>
              <a:t> mod 23) = 10</a:t>
            </a:r>
          </a:p>
          <a:p>
            <a:pPr marL="0" indent="0">
              <a:buNone/>
            </a:pPr>
            <a:endParaRPr lang="en-IN" altLang="x-none" dirty="0"/>
          </a:p>
        </p:txBody>
      </p:sp>
      <p:sp>
        <p:nvSpPr>
          <p:cNvPr id="10244"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7</a:t>
            </a:fld>
            <a:endParaRPr lang="en-US" altLang="en-US" sz="16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vert="horz" wrap="square" lIns="121920" tIns="60960" rIns="121920" bIns="60960" anchor="ctr" anchorCtr="0"/>
          <a:lstStyle/>
          <a:p>
            <a:pPr>
              <a:buNone/>
            </a:pPr>
            <a:r>
              <a:rPr lang="en-IN" altLang="x-none" dirty="0"/>
              <a:t>Example</a:t>
            </a:r>
          </a:p>
        </p:txBody>
      </p:sp>
      <p:sp>
        <p:nvSpPr>
          <p:cNvPr id="11267" name="Content Placeholder 2"/>
          <p:cNvSpPr>
            <a:spLocks noGrp="1"/>
          </p:cNvSpPr>
          <p:nvPr>
            <p:ph idx="1"/>
          </p:nvPr>
        </p:nvSpPr>
        <p:spPr/>
        <p:txBody>
          <a:bodyPr vert="horz" wrap="square" lIns="121920" tIns="60960" rIns="121920" bIns="60960" anchor="t" anchorCtr="0"/>
          <a:lstStyle/>
          <a:p>
            <a:pPr marL="0" indent="0">
              <a:buNone/>
            </a:pPr>
            <a:r>
              <a:rPr dirty="0"/>
              <a:t>4. Now, both Alice and Bob exchange public numbers with each other.</a:t>
            </a:r>
            <a:r>
              <a:rPr lang="en-IN" dirty="0"/>
              <a:t>  A = 4 and B = 10</a:t>
            </a:r>
            <a:endParaRPr dirty="0"/>
          </a:p>
          <a:p>
            <a:pPr marL="0" indent="0">
              <a:buNone/>
            </a:pPr>
            <a:r>
              <a:rPr dirty="0"/>
              <a:t>5. Alice and Bob now calculate the symmetric keys</a:t>
            </a:r>
          </a:p>
          <a:p>
            <a:pPr marL="0" indent="0">
              <a:buNone/>
            </a:pPr>
            <a:r>
              <a:rPr dirty="0"/>
              <a:t>Alice: k</a:t>
            </a:r>
            <a:r>
              <a:rPr baseline="-25000" dirty="0"/>
              <a:t>a</a:t>
            </a:r>
            <a:r>
              <a:rPr dirty="0"/>
              <a:t> = </a:t>
            </a:r>
            <a:r>
              <a:rPr lang="en-IN" dirty="0"/>
              <a:t>B</a:t>
            </a:r>
            <a:r>
              <a:rPr baseline="30000" dirty="0"/>
              <a:t>a</a:t>
            </a:r>
            <a:r>
              <a:rPr dirty="0"/>
              <a:t> mod p = 10</a:t>
            </a:r>
            <a:r>
              <a:rPr baseline="30000" dirty="0"/>
              <a:t>4</a:t>
            </a:r>
            <a:r>
              <a:rPr dirty="0"/>
              <a:t> mod 23 = 18</a:t>
            </a:r>
          </a:p>
          <a:p>
            <a:pPr marL="0" indent="0">
              <a:buNone/>
            </a:pPr>
            <a:r>
              <a:rPr dirty="0"/>
              <a:t>Bob: k</a:t>
            </a:r>
            <a:r>
              <a:rPr baseline="-25000" dirty="0"/>
              <a:t>b</a:t>
            </a:r>
            <a:r>
              <a:rPr dirty="0"/>
              <a:t> = </a:t>
            </a:r>
            <a:r>
              <a:rPr lang="en-IN" dirty="0"/>
              <a:t>A</a:t>
            </a:r>
            <a:r>
              <a:rPr baseline="30000" dirty="0"/>
              <a:t>b</a:t>
            </a:r>
            <a:r>
              <a:rPr dirty="0"/>
              <a:t> mod p = 4</a:t>
            </a:r>
            <a:r>
              <a:rPr baseline="30000" dirty="0"/>
              <a:t>3</a:t>
            </a:r>
            <a:r>
              <a:rPr dirty="0"/>
              <a:t> mod 23 = 18</a:t>
            </a:r>
          </a:p>
          <a:p>
            <a:pPr marL="0" indent="0">
              <a:buNone/>
            </a:pPr>
            <a:r>
              <a:rPr dirty="0"/>
              <a:t>6. 18 is the shared secret key.</a:t>
            </a:r>
          </a:p>
          <a:p>
            <a:pPr marL="0" indent="0">
              <a:buNone/>
            </a:pPr>
            <a:endParaRPr lang="en-IN" altLang="x-none" dirty="0"/>
          </a:p>
        </p:txBody>
      </p:sp>
      <p:sp>
        <p:nvSpPr>
          <p:cNvPr id="11268"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8</a:t>
            </a:fld>
            <a:endParaRPr lang="en-US" altLang="en-US" sz="1600" dirty="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274638"/>
            <a:ext cx="10972800" cy="675827"/>
          </a:xfrm>
        </p:spPr>
        <p:txBody>
          <a:bodyPr vert="horz" wrap="square" lIns="121920" tIns="60960" rIns="121920" bIns="60960" anchor="ctr" anchorCtr="0"/>
          <a:lstStyle/>
          <a:p>
            <a:pPr>
              <a:buNone/>
            </a:pPr>
            <a:r>
              <a:rPr lang="en-IN" altLang="x-none" dirty="0"/>
              <a:t>Example 2: </a:t>
            </a:r>
          </a:p>
        </p:txBody>
      </p:sp>
      <p:sp>
        <p:nvSpPr>
          <p:cNvPr id="12291"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9</a:t>
            </a:fld>
            <a:endParaRPr lang="en-US" altLang="en-US" sz="1600" dirty="0">
              <a:solidFill>
                <a:srgbClr val="898989"/>
              </a:solidFill>
            </a:endParaRPr>
          </a:p>
        </p:txBody>
      </p:sp>
      <p:sp>
        <p:nvSpPr>
          <p:cNvPr id="12292" name="Rectangle 1"/>
          <p:cNvSpPr>
            <a:spLocks noGrp="1"/>
          </p:cNvSpPr>
          <p:nvPr>
            <p:ph idx="1"/>
          </p:nvPr>
        </p:nvSpPr>
        <p:spPr>
          <a:xfrm>
            <a:off x="762000" y="1295400"/>
            <a:ext cx="10820400" cy="1412315"/>
          </a:xfrm>
        </p:spPr>
        <p:txBody>
          <a:bodyPr vert="horz" wrap="square" lIns="0" tIns="0" rIns="0" bIns="118496" anchor="ctr" anchorCtr="0">
            <a:spAutoFit/>
          </a:bodyPr>
          <a:lstStyle/>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Find the Secret key, if Alice and Bob get public numbers P = 23, G = 9. Alice selected a private key a = 4 and Bob selected a private key b = 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10801-2C47-081B-860B-5680741AE9D2}"/>
              </a:ext>
            </a:extLst>
          </p:cNvPr>
          <p:cNvSpPr>
            <a:spLocks noGrp="1"/>
          </p:cNvSpPr>
          <p:nvPr>
            <p:ph type="title"/>
          </p:nvPr>
        </p:nvSpPr>
        <p:spPr/>
        <p:txBody>
          <a:bodyPr/>
          <a:lstStyle/>
          <a:p>
            <a:r>
              <a:rPr lang="en-US" dirty="0"/>
              <a:t>Solution 2</a:t>
            </a:r>
            <a:endParaRPr lang="en-IN" dirty="0"/>
          </a:p>
        </p:txBody>
      </p:sp>
      <p:sp>
        <p:nvSpPr>
          <p:cNvPr id="3" name="Content Placeholder 2">
            <a:extLst>
              <a:ext uri="{FF2B5EF4-FFF2-40B4-BE49-F238E27FC236}">
                <a16:creationId xmlns:a16="http://schemas.microsoft.com/office/drawing/2014/main" id="{547D3B5C-DA66-4CFA-A9CF-3D736120A487}"/>
              </a:ext>
            </a:extLst>
          </p:cNvPr>
          <p:cNvSpPr>
            <a:spLocks noGrp="1"/>
          </p:cNvSpPr>
          <p:nvPr>
            <p:ph idx="1"/>
          </p:nvPr>
        </p:nvSpPr>
        <p:spPr>
          <a:xfrm>
            <a:off x="609600" y="1417638"/>
            <a:ext cx="10972800" cy="4708525"/>
          </a:xfrm>
        </p:spPr>
        <p:txBody>
          <a:bodyPr/>
          <a:lstStyle/>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Step 1: Alice and Bob compute public values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Alice: 	A = (9^4 mod 23) = (6561 mod 23) = 6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Bob: 		B = (9^3 mod 23) = (729 mod 23) = 16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Step 2: 	Alice and Bob exchange public numbers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Step 3: 	Alice receives public key B =16 and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		Bob receives public key A = 6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Step 4: 	Alice and Bob compute symmetric keys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		Alice: k</a:t>
            </a:r>
            <a:r>
              <a:rPr lang="en-US" altLang="en-US" sz="2800" baseline="-25000" dirty="0">
                <a:solidFill>
                  <a:srgbClr val="273239"/>
                </a:solidFill>
                <a:latin typeface="Arial" panose="020B0604020202020204" pitchFamily="34" charset="0"/>
                <a:cs typeface="Arial" panose="020B0604020202020204" pitchFamily="34" charset="0"/>
              </a:rPr>
              <a:t>a</a:t>
            </a:r>
            <a:r>
              <a:rPr lang="en-US" altLang="en-US" sz="2800" dirty="0">
                <a:solidFill>
                  <a:srgbClr val="273239"/>
                </a:solidFill>
                <a:latin typeface="Arial" panose="020B0604020202020204" pitchFamily="34" charset="0"/>
                <a:cs typeface="Arial" panose="020B0604020202020204" pitchFamily="34" charset="0"/>
              </a:rPr>
              <a:t> = B</a:t>
            </a:r>
            <a:r>
              <a:rPr lang="en-US" altLang="en-US" sz="2800" baseline="30000" dirty="0">
                <a:solidFill>
                  <a:srgbClr val="273239"/>
                </a:solidFill>
                <a:latin typeface="Arial" panose="020B0604020202020204" pitchFamily="34" charset="0"/>
                <a:cs typeface="Arial" panose="020B0604020202020204" pitchFamily="34" charset="0"/>
              </a:rPr>
              <a:t>a</a:t>
            </a:r>
            <a:r>
              <a:rPr lang="en-US" altLang="en-US" sz="2800" dirty="0">
                <a:solidFill>
                  <a:srgbClr val="273239"/>
                </a:solidFill>
                <a:latin typeface="Arial" panose="020B0604020202020204" pitchFamily="34" charset="0"/>
                <a:cs typeface="Arial" panose="020B0604020202020204" pitchFamily="34" charset="0"/>
              </a:rPr>
              <a:t> mod p = 16</a:t>
            </a:r>
            <a:r>
              <a:rPr lang="en-US" altLang="en-US" sz="2800" baseline="30000" dirty="0">
                <a:solidFill>
                  <a:srgbClr val="273239"/>
                </a:solidFill>
                <a:latin typeface="Arial" panose="020B0604020202020204" pitchFamily="34" charset="0"/>
                <a:cs typeface="Arial" panose="020B0604020202020204" pitchFamily="34" charset="0"/>
              </a:rPr>
              <a:t>4</a:t>
            </a:r>
            <a:r>
              <a:rPr lang="en-US" altLang="en-US" sz="2800" dirty="0">
                <a:solidFill>
                  <a:srgbClr val="273239"/>
                </a:solidFill>
                <a:latin typeface="Arial" panose="020B0604020202020204" pitchFamily="34" charset="0"/>
                <a:cs typeface="Arial" panose="020B0604020202020204" pitchFamily="34" charset="0"/>
              </a:rPr>
              <a:t> mod 23 = 9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		Bob: k</a:t>
            </a:r>
            <a:r>
              <a:rPr lang="en-US" altLang="en-US" sz="2800" baseline="-25000" dirty="0">
                <a:solidFill>
                  <a:srgbClr val="273239"/>
                </a:solidFill>
                <a:latin typeface="Arial" panose="020B0604020202020204" pitchFamily="34" charset="0"/>
                <a:cs typeface="Arial" panose="020B0604020202020204" pitchFamily="34" charset="0"/>
              </a:rPr>
              <a:t>b</a:t>
            </a:r>
            <a:r>
              <a:rPr lang="en-US" altLang="en-US" sz="2800" dirty="0">
                <a:solidFill>
                  <a:srgbClr val="273239"/>
                </a:solidFill>
                <a:latin typeface="Arial" panose="020B0604020202020204" pitchFamily="34" charset="0"/>
                <a:cs typeface="Arial" panose="020B0604020202020204" pitchFamily="34" charset="0"/>
              </a:rPr>
              <a:t> = A</a:t>
            </a:r>
            <a:r>
              <a:rPr lang="en-US" altLang="en-US" sz="2800" baseline="30000" dirty="0">
                <a:solidFill>
                  <a:srgbClr val="273239"/>
                </a:solidFill>
                <a:latin typeface="Arial" panose="020B0604020202020204" pitchFamily="34" charset="0"/>
                <a:cs typeface="Arial" panose="020B0604020202020204" pitchFamily="34" charset="0"/>
              </a:rPr>
              <a:t>b </a:t>
            </a:r>
            <a:r>
              <a:rPr lang="en-US" altLang="en-US" sz="2800" dirty="0">
                <a:solidFill>
                  <a:srgbClr val="273239"/>
                </a:solidFill>
                <a:latin typeface="Arial" panose="020B0604020202020204" pitchFamily="34" charset="0"/>
                <a:cs typeface="Arial" panose="020B0604020202020204" pitchFamily="34" charset="0"/>
              </a:rPr>
              <a:t>mod p = 6</a:t>
            </a:r>
            <a:r>
              <a:rPr lang="en-US" altLang="en-US" sz="2800" baseline="30000" dirty="0">
                <a:solidFill>
                  <a:srgbClr val="273239"/>
                </a:solidFill>
                <a:latin typeface="Arial" panose="020B0604020202020204" pitchFamily="34" charset="0"/>
                <a:cs typeface="Arial" panose="020B0604020202020204" pitchFamily="34" charset="0"/>
              </a:rPr>
              <a:t>3</a:t>
            </a:r>
            <a:r>
              <a:rPr lang="en-US" altLang="en-US" sz="2800" dirty="0">
                <a:solidFill>
                  <a:srgbClr val="273239"/>
                </a:solidFill>
                <a:latin typeface="Arial" panose="020B0604020202020204" pitchFamily="34" charset="0"/>
                <a:cs typeface="Arial" panose="020B0604020202020204" pitchFamily="34" charset="0"/>
              </a:rPr>
              <a:t> mod 23 = 9 </a:t>
            </a:r>
          </a:p>
          <a:p>
            <a:pPr marL="0" indent="0">
              <a:spcBef>
                <a:spcPct val="0"/>
              </a:spcBef>
              <a:buFontTx/>
              <a:buNone/>
            </a:pPr>
            <a:r>
              <a:rPr lang="en-US" altLang="en-US" sz="2800" dirty="0">
                <a:solidFill>
                  <a:srgbClr val="273239"/>
                </a:solidFill>
                <a:latin typeface="Arial" panose="020B0604020202020204" pitchFamily="34" charset="0"/>
                <a:cs typeface="Arial" panose="020B0604020202020204" pitchFamily="34" charset="0"/>
              </a:rPr>
              <a:t>Step 5: 	9 is the shared secret.</a:t>
            </a:r>
            <a:r>
              <a:rPr lang="en-US" altLang="en-US" sz="2800" dirty="0">
                <a:latin typeface="Arial" panose="020B0604020202020204" pitchFamily="34" charset="0"/>
                <a:cs typeface="Arial" panose="020B0604020202020204" pitchFamily="34" charset="0"/>
              </a:rPr>
              <a:t> </a:t>
            </a:r>
          </a:p>
          <a:p>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0320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3400" y="381000"/>
            <a:ext cx="10972800" cy="873760"/>
          </a:xfrm>
        </p:spPr>
        <p:txBody>
          <a:bodyPr vert="horz" wrap="square" lIns="121920" tIns="60960" rIns="121920" bIns="60960" anchor="ctr" anchorCtr="0"/>
          <a:lstStyle/>
          <a:p>
            <a:pPr>
              <a:buNone/>
            </a:pPr>
            <a:r>
              <a:rPr dirty="0"/>
              <a:t>Uses of Diffie Hellman Algorithm</a:t>
            </a:r>
            <a:endParaRPr lang="en-IN" altLang="x-none" dirty="0"/>
          </a:p>
        </p:txBody>
      </p:sp>
      <p:sp>
        <p:nvSpPr>
          <p:cNvPr id="3" name="Content Placeholder 2"/>
          <p:cNvSpPr>
            <a:spLocks noGrp="1"/>
          </p:cNvSpPr>
          <p:nvPr>
            <p:ph idx="1"/>
          </p:nvPr>
        </p:nvSpPr>
        <p:spPr>
          <a:xfrm>
            <a:off x="609600" y="1524000"/>
            <a:ext cx="10972800" cy="4790017"/>
          </a:xfrm>
        </p:spPr>
        <p:txBody>
          <a:bodyPr vert="horz" wrap="square" lIns="121920" tIns="60960" rIns="121920" bIns="60960" numCol="1" anchor="t" anchorCtr="0" compatLnSpc="1"/>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Encryption: </a:t>
            </a:r>
            <a:r>
              <a:rPr kumimoji="0" lang="en-US" sz="2400" b="0" i="0" u="none" strike="noStrike" kern="1200" cap="none" spc="0" normalizeH="0" baseline="0" noProof="0" dirty="0">
                <a:ln>
                  <a:noFill/>
                </a:ln>
                <a:solidFill>
                  <a:schemeClr val="tx1"/>
                </a:solidFill>
                <a:effectLst/>
                <a:uLnTx/>
                <a:uFillTx/>
                <a:latin typeface="+mn-lt"/>
                <a:ea typeface="+mn-ea"/>
                <a:cs typeface="+mn-cs"/>
              </a:rPr>
              <a:t>The</a:t>
            </a:r>
            <a:r>
              <a:rPr kumimoji="0" lang="en-US" sz="2400" b="1" i="0" u="none" strike="noStrike" kern="1200" cap="none" spc="0" normalizeH="0" baseline="0" noProof="0" dirty="0">
                <a:ln>
                  <a:noFill/>
                </a:ln>
                <a:solidFill>
                  <a:schemeClr val="tx1"/>
                </a:solidFill>
                <a:effectLst/>
                <a:uLnTx/>
                <a:uFillTx/>
                <a:latin typeface="+mn-lt"/>
                <a:ea typeface="+mn-ea"/>
                <a:cs typeface="+mn-cs"/>
              </a:rPr>
              <a:t> </a:t>
            </a:r>
            <a:r>
              <a:rPr kumimoji="0" lang="en-US" sz="2400" b="0" i="0" u="none" strike="noStrike" kern="1200" cap="none" spc="0" normalizeH="0" baseline="0" noProof="0" dirty="0">
                <a:ln>
                  <a:noFill/>
                </a:ln>
                <a:solidFill>
                  <a:schemeClr val="tx1"/>
                </a:solidFill>
                <a:effectLst/>
                <a:uLnTx/>
                <a:uFillTx/>
                <a:latin typeface="+mn-lt"/>
                <a:ea typeface="+mn-ea"/>
                <a:cs typeface="+mn-cs"/>
              </a:rPr>
              <a:t>Diffie</a:t>
            </a:r>
            <a:r>
              <a:rPr lang="en-US" sz="2400" dirty="0"/>
              <a:t>-</a:t>
            </a:r>
            <a:r>
              <a:rPr kumimoji="0" lang="en-US" sz="2400" b="0" i="0" u="none" strike="noStrike" kern="1200" cap="none" spc="0" normalizeH="0" baseline="0" noProof="0" dirty="0">
                <a:ln>
                  <a:noFill/>
                </a:ln>
                <a:solidFill>
                  <a:schemeClr val="tx1"/>
                </a:solidFill>
                <a:effectLst/>
                <a:uLnTx/>
                <a:uFillTx/>
                <a:latin typeface="+mn-lt"/>
                <a:ea typeface="+mn-ea"/>
                <a:cs typeface="+mn-cs"/>
              </a:rPr>
              <a:t>Hellman key exchange algorithm can be used to encrypt; one of the first schemes to do is ElGamal encryption. One modern example of it is called Integrated Encryption Scheme, which provides security against chosen plain text and chosen clipboard attacks.</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Password Authenticated Agreement: </a:t>
            </a:r>
            <a:r>
              <a:rPr kumimoji="0" lang="en-US" sz="2400" b="0" i="0" u="none" strike="noStrike" kern="1200" cap="none" spc="0" normalizeH="0" baseline="0" noProof="0" dirty="0">
                <a:ln>
                  <a:noFill/>
                </a:ln>
                <a:solidFill>
                  <a:schemeClr val="tx1"/>
                </a:solidFill>
                <a:effectLst/>
                <a:uLnTx/>
                <a:uFillTx/>
                <a:latin typeface="+mn-lt"/>
                <a:ea typeface="+mn-ea"/>
                <a:cs typeface="+mn-cs"/>
              </a:rPr>
              <a:t>When two parties share a password, a password-authenticated key agreement can be used to prevent the Man in the middle attack. This key Agreement can be in the form of </a:t>
            </a:r>
            <a:r>
              <a:rPr kumimoji="0" lang="en-US" sz="2400" b="0" i="0" u="none" strike="noStrike" kern="1200" cap="none" spc="0" normalizeH="0" baseline="0" noProof="0" dirty="0" err="1">
                <a:ln>
                  <a:noFill/>
                </a:ln>
                <a:solidFill>
                  <a:schemeClr val="tx1"/>
                </a:solidFill>
                <a:effectLst/>
                <a:uLnTx/>
                <a:uFillTx/>
                <a:latin typeface="+mn-lt"/>
                <a:ea typeface="+mn-ea"/>
                <a:cs typeface="+mn-cs"/>
              </a:rPr>
              <a:t>Diffie</a:t>
            </a:r>
            <a:r>
              <a:rPr kumimoji="0" lang="en-US" sz="2400" b="0" i="0" u="none" strike="noStrike" kern="1200" cap="none" spc="0" normalizeH="0" baseline="0" noProof="0" dirty="0">
                <a:ln>
                  <a:noFill/>
                </a:ln>
                <a:solidFill>
                  <a:schemeClr val="tx1"/>
                </a:solidFill>
                <a:effectLst/>
                <a:uLnTx/>
                <a:uFillTx/>
                <a:latin typeface="+mn-lt"/>
                <a:ea typeface="+mn-ea"/>
                <a:cs typeface="+mn-cs"/>
              </a:rPr>
              <a:t>-Hellman. Secure Remote Password Protocol is a good example that is based on this technique.</a:t>
            </a:r>
          </a:p>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defRPr/>
            </a:pPr>
            <a:r>
              <a:rPr kumimoji="0" lang="en-US" sz="2400" b="1" i="0" u="none" strike="noStrike" kern="1200" cap="none" spc="0" normalizeH="0" baseline="0" noProof="0" dirty="0">
                <a:ln>
                  <a:noFill/>
                </a:ln>
                <a:solidFill>
                  <a:schemeClr val="tx1"/>
                </a:solidFill>
                <a:effectLst/>
                <a:uLnTx/>
                <a:uFillTx/>
                <a:latin typeface="+mn-lt"/>
                <a:ea typeface="+mn-ea"/>
                <a:cs typeface="+mn-cs"/>
              </a:rPr>
              <a:t>Forward Secrecy: </a:t>
            </a:r>
            <a:r>
              <a:rPr kumimoji="0" lang="en-US" sz="2400" b="0" i="0" u="none" strike="noStrike" kern="1200" cap="none" spc="0" normalizeH="0" baseline="0" noProof="0" dirty="0">
                <a:ln>
                  <a:noFill/>
                </a:ln>
                <a:solidFill>
                  <a:schemeClr val="tx1"/>
                </a:solidFill>
                <a:effectLst/>
                <a:uLnTx/>
                <a:uFillTx/>
                <a:latin typeface="+mn-lt"/>
                <a:ea typeface="+mn-ea"/>
                <a:cs typeface="+mn-cs"/>
              </a:rPr>
              <a:t>Forward secrecy-based protocols can generate new key pairs for each new session, and they can automatically discard them when the session is finished. In these forward Secrecy protocols, more often than not, the </a:t>
            </a:r>
            <a:r>
              <a:rPr kumimoji="0" lang="en-US" sz="2400" b="0" i="0" u="none" strike="noStrike" kern="1200" cap="none" spc="0" normalizeH="0" baseline="0" noProof="0" dirty="0" err="1">
                <a:ln>
                  <a:noFill/>
                </a:ln>
                <a:solidFill>
                  <a:schemeClr val="tx1"/>
                </a:solidFill>
                <a:effectLst/>
                <a:uLnTx/>
                <a:uFillTx/>
                <a:latin typeface="+mn-lt"/>
                <a:ea typeface="+mn-ea"/>
                <a:cs typeface="+mn-cs"/>
              </a:rPr>
              <a:t>Diffie</a:t>
            </a:r>
            <a:r>
              <a:rPr kumimoji="0" lang="en-US" sz="2400" b="0" i="0" u="none" strike="noStrike" kern="1200" cap="none" spc="0" normalizeH="0" baseline="0" noProof="0" dirty="0">
                <a:ln>
                  <a:noFill/>
                </a:ln>
                <a:solidFill>
                  <a:schemeClr val="tx1"/>
                </a:solidFill>
                <a:effectLst/>
                <a:uLnTx/>
                <a:uFillTx/>
                <a:latin typeface="+mn-lt"/>
                <a:ea typeface="+mn-ea"/>
                <a:cs typeface="+mn-cs"/>
              </a:rPr>
              <a:t> Hellman key exchange is used.</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I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3316"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11</a:t>
            </a:fld>
            <a:endParaRPr lang="en-US" altLang="en-US" sz="1600" dirty="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74040" y="435293"/>
            <a:ext cx="10972800" cy="914400"/>
          </a:xfrm>
        </p:spPr>
        <p:txBody>
          <a:bodyPr vert="horz" wrap="square" lIns="121920" tIns="60960" rIns="121920" bIns="60960" anchor="ctr" anchorCtr="0"/>
          <a:lstStyle/>
          <a:p>
            <a:pPr>
              <a:buNone/>
            </a:pPr>
            <a:r>
              <a:rPr dirty="0"/>
              <a:t>Advantages of the Diffie Hellman Algorithm</a:t>
            </a:r>
            <a:endParaRPr lang="en-IN" altLang="x-none" dirty="0"/>
          </a:p>
        </p:txBody>
      </p:sp>
      <p:sp>
        <p:nvSpPr>
          <p:cNvPr id="14339" name="Content Placeholder 2"/>
          <p:cNvSpPr>
            <a:spLocks noGrp="1"/>
          </p:cNvSpPr>
          <p:nvPr>
            <p:ph idx="1"/>
          </p:nvPr>
        </p:nvSpPr>
        <p:spPr/>
        <p:txBody>
          <a:bodyPr vert="horz" wrap="square" lIns="121920" tIns="60960" rIns="121920" bIns="60960" anchor="t" anchorCtr="0"/>
          <a:lstStyle/>
          <a:p>
            <a:pPr algn="just"/>
            <a:r>
              <a:rPr dirty="0"/>
              <a:t>The sender and receiver don’t need any prior knowledge of each other.</a:t>
            </a:r>
          </a:p>
          <a:p>
            <a:pPr algn="just"/>
            <a:r>
              <a:rPr dirty="0"/>
              <a:t>Once the keys are exchanged, the communication of data can be done through an insecure channel.</a:t>
            </a:r>
          </a:p>
          <a:p>
            <a:pPr algn="just"/>
            <a:r>
              <a:rPr dirty="0"/>
              <a:t>The sharing of the secret key is safe.</a:t>
            </a:r>
          </a:p>
          <a:p>
            <a:endParaRPr lang="en-IN" altLang="x-none" dirty="0"/>
          </a:p>
        </p:txBody>
      </p:sp>
      <p:sp>
        <p:nvSpPr>
          <p:cNvPr id="14340"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12</a:t>
            </a:fld>
            <a:endParaRPr lang="en-US" altLang="en-US" sz="1600" dirty="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19760" y="457200"/>
            <a:ext cx="10972800" cy="752475"/>
          </a:xfrm>
        </p:spPr>
        <p:txBody>
          <a:bodyPr vert="horz" wrap="square" lIns="121920" tIns="60960" rIns="121920" bIns="60960" anchor="ctr" anchorCtr="0"/>
          <a:lstStyle/>
          <a:p>
            <a:pPr>
              <a:buNone/>
            </a:pPr>
            <a:r>
              <a:rPr dirty="0"/>
              <a:t>Disadvantages of the Diffie Hellman Algorithm</a:t>
            </a:r>
            <a:endParaRPr lang="en-IN" altLang="x-none" dirty="0"/>
          </a:p>
        </p:txBody>
      </p:sp>
      <p:sp>
        <p:nvSpPr>
          <p:cNvPr id="15363" name="Content Placeholder 2"/>
          <p:cNvSpPr>
            <a:spLocks noGrp="1"/>
          </p:cNvSpPr>
          <p:nvPr>
            <p:ph idx="1"/>
          </p:nvPr>
        </p:nvSpPr>
        <p:spPr/>
        <p:txBody>
          <a:bodyPr vert="horz" wrap="square" lIns="121920" tIns="60960" rIns="121920" bIns="60960" anchor="t" anchorCtr="0"/>
          <a:lstStyle/>
          <a:p>
            <a:pPr algn="just"/>
            <a:r>
              <a:rPr b="1" dirty="0">
                <a:solidFill>
                  <a:srgbClr val="0070C0"/>
                </a:solidFill>
              </a:rPr>
              <a:t>The algorithm </a:t>
            </a:r>
            <a:r>
              <a:rPr b="1" dirty="0">
                <a:solidFill>
                  <a:srgbClr val="FF0000"/>
                </a:solidFill>
              </a:rPr>
              <a:t>can not</a:t>
            </a:r>
            <a:r>
              <a:rPr b="1" dirty="0">
                <a:solidFill>
                  <a:srgbClr val="0070C0"/>
                </a:solidFill>
              </a:rPr>
              <a:t> be u</a:t>
            </a:r>
            <a:r>
              <a:rPr lang="en-IN" b="1" dirty="0">
                <a:solidFill>
                  <a:srgbClr val="0070C0"/>
                </a:solidFill>
              </a:rPr>
              <a:t>s</a:t>
            </a:r>
            <a:r>
              <a:rPr b="1" dirty="0">
                <a:solidFill>
                  <a:srgbClr val="0070C0"/>
                </a:solidFill>
              </a:rPr>
              <a:t>ed for any asymmetric key exchange.</a:t>
            </a:r>
          </a:p>
          <a:p>
            <a:pPr algn="just"/>
            <a:r>
              <a:rPr dirty="0"/>
              <a:t>Similarly, it </a:t>
            </a:r>
            <a:r>
              <a:rPr b="1" dirty="0">
                <a:solidFill>
                  <a:srgbClr val="FF0000"/>
                </a:solidFill>
              </a:rPr>
              <a:t>can not </a:t>
            </a:r>
            <a:r>
              <a:rPr dirty="0"/>
              <a:t>be used for signing digital signatures.</a:t>
            </a:r>
          </a:p>
          <a:p>
            <a:pPr algn="just"/>
            <a:r>
              <a:rPr dirty="0"/>
              <a:t>Since it doesn’t authenticate any party in the transmission, the Diffie Hellman key exchange is susceptible to a man-in-the-middle attack.</a:t>
            </a:r>
          </a:p>
          <a:p>
            <a:endParaRPr lang="en-IN" altLang="x-none" dirty="0"/>
          </a:p>
        </p:txBody>
      </p:sp>
      <p:sp>
        <p:nvSpPr>
          <p:cNvPr id="15364" name="Slide Number Placeholder 3"/>
          <p:cNvSpPr txBox="1">
            <a:spLocks noGrp="1"/>
          </p:cNvSpPr>
          <p:nvPr>
            <p:ph type="sldNum" sz="quarter" idx="12"/>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en-US" sz="1600" dirty="0">
                <a:solidFill>
                  <a:srgbClr val="898989"/>
                </a:solidFill>
              </a:rPr>
              <a:t>13</a:t>
            </a:fld>
            <a:endParaRPr lang="en-US" altLang="en-US" sz="1600" dirty="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ElGamal</a:t>
            </a:r>
            <a:r>
              <a:rPr lang="en-US" sz="6400" dirty="0"/>
              <a:t> </a:t>
            </a:r>
            <a:r>
              <a:rPr lang="en-US" dirty="0"/>
              <a:t>Encryption Algorithm</a:t>
            </a:r>
          </a:p>
        </p:txBody>
      </p:sp>
      <p:sp>
        <p:nvSpPr>
          <p:cNvPr id="3" name="Content Placeholder 2"/>
          <p:cNvSpPr>
            <a:spLocks noGrp="1"/>
          </p:cNvSpPr>
          <p:nvPr>
            <p:ph idx="1"/>
          </p:nvPr>
        </p:nvSpPr>
        <p:spPr/>
        <p:txBody>
          <a:bodyPr/>
          <a:lstStyle/>
          <a:p>
            <a:pPr algn="just"/>
            <a:r>
              <a:rPr lang="en-US"/>
              <a:t>ElGamal encryption is a public-key cryptosystem. It uses asymmetric key encryption for communicating between two parties and encrypting the message. This cryptosystem is based on the difficulty of finding discrete logarithm in a cyclic group that is even if we know g</a:t>
            </a:r>
            <a:r>
              <a:rPr lang="en-US" baseline="30000"/>
              <a:t>a</a:t>
            </a:r>
            <a:r>
              <a:rPr lang="en-US"/>
              <a:t> and g</a:t>
            </a:r>
            <a:r>
              <a:rPr lang="en-US" baseline="30000"/>
              <a:t>k</a:t>
            </a:r>
            <a:r>
              <a:rPr lang="en-US"/>
              <a:t>, it is extremely difficult to compute g</a:t>
            </a:r>
            <a:r>
              <a:rPr lang="en-US" baseline="30000"/>
              <a:t>ak</a:t>
            </a:r>
            <a:r>
              <a:rPr lang="en-US"/>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400"/>
              <a:t>ElGamal </a:t>
            </a:r>
            <a:r>
              <a:rPr lang="en-US"/>
              <a:t>Encryption Algorithm</a:t>
            </a:r>
          </a:p>
        </p:txBody>
      </p:sp>
      <p:sp>
        <p:nvSpPr>
          <p:cNvPr id="3" name="Content Placeholder 2"/>
          <p:cNvSpPr>
            <a:spLocks noGrp="1"/>
          </p:cNvSpPr>
          <p:nvPr>
            <p:ph idx="1"/>
          </p:nvPr>
        </p:nvSpPr>
        <p:spPr/>
        <p:txBody>
          <a:bodyPr/>
          <a:lstStyle/>
          <a:p>
            <a:pPr algn="just"/>
            <a:r>
              <a:rPr lang="en-US"/>
              <a:t>The ElGamal cryptographic algorithm is an asymmetric key encryption scheme based on the </a:t>
            </a:r>
            <a:r>
              <a:rPr lang="en-US">
                <a:solidFill>
                  <a:srgbClr val="FF0000"/>
                </a:solidFill>
              </a:rPr>
              <a:t>Diffie-Hellman key exchange</a:t>
            </a:r>
            <a:r>
              <a:rPr lang="en-US"/>
              <a:t>. It was invented by</a:t>
            </a:r>
            <a:r>
              <a:rPr lang="en-US">
                <a:solidFill>
                  <a:srgbClr val="FF0000"/>
                </a:solidFill>
              </a:rPr>
              <a:t> Taher ElGamal in 1985</a:t>
            </a:r>
            <a:r>
              <a:rPr lang="en-US"/>
              <a:t>. The algorithm is widely used for secure data transmission and has applications in digital signatures and encryption.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computer algorithm&#10;&#10;AI-generated content may be incorrect.">
            <a:extLst>
              <a:ext uri="{FF2B5EF4-FFF2-40B4-BE49-F238E27FC236}">
                <a16:creationId xmlns:a16="http://schemas.microsoft.com/office/drawing/2014/main" id="{74F5FED6-679F-53F2-4CF4-08B530E5DD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327" b="39985"/>
          <a:stretch>
            <a:fillRect/>
          </a:stretch>
        </p:blipFill>
        <p:spPr>
          <a:xfrm>
            <a:off x="609600" y="609600"/>
            <a:ext cx="10972800" cy="5257800"/>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of the ElGamal Algorithm</a:t>
            </a:r>
          </a:p>
        </p:txBody>
      </p:sp>
      <p:sp>
        <p:nvSpPr>
          <p:cNvPr id="3" name="Content Placeholder 2"/>
          <p:cNvSpPr>
            <a:spLocks noGrp="1"/>
          </p:cNvSpPr>
          <p:nvPr>
            <p:ph idx="1"/>
          </p:nvPr>
        </p:nvSpPr>
        <p:spPr/>
        <p:txBody>
          <a:bodyPr/>
          <a:lstStyle/>
          <a:p>
            <a:pPr marL="0" indent="0">
              <a:buNone/>
            </a:pPr>
            <a:r>
              <a:rPr lang="en-IN" altLang="en-US" dirty="0">
                <a:solidFill>
                  <a:srgbClr val="FF0000"/>
                </a:solidFill>
              </a:rPr>
              <a:t>1. </a:t>
            </a:r>
            <a:r>
              <a:rPr lang="en-US" dirty="0">
                <a:solidFill>
                  <a:srgbClr val="FF0000"/>
                </a:solidFill>
              </a:rPr>
              <a:t>Key Generation:</a:t>
            </a:r>
          </a:p>
          <a:p>
            <a:r>
              <a:rPr lang="en-US" dirty="0"/>
              <a:t>Public Parameters: Select a large prime number p and a generator g of the multiplicative group (</a:t>
            </a:r>
            <a:r>
              <a:rPr lang="en-US" dirty="0" err="1"/>
              <a:t>Id,In,Asso</a:t>
            </a:r>
            <a:r>
              <a:rPr lang="en-US" dirty="0"/>
              <a:t>) Z*</a:t>
            </a:r>
            <a:r>
              <a:rPr lang="en-US" baseline="-25000" dirty="0"/>
              <a:t>p</a:t>
            </a:r>
            <a:r>
              <a:rPr lang="en-US" dirty="0"/>
              <a:t>.</a:t>
            </a:r>
          </a:p>
          <a:p>
            <a:r>
              <a:rPr lang="en-US" dirty="0"/>
              <a:t>Private Key: Select a private key x such that 1 ≤ x ≤p −2.</a:t>
            </a:r>
          </a:p>
          <a:p>
            <a:r>
              <a:rPr lang="en-US" dirty="0"/>
              <a:t>Public Key: Compute h=</a:t>
            </a:r>
            <a:r>
              <a:rPr lang="en-US" dirty="0" err="1"/>
              <a:t>g</a:t>
            </a:r>
            <a:r>
              <a:rPr lang="en-US" baseline="30000" dirty="0" err="1"/>
              <a:t>x</a:t>
            </a:r>
            <a:r>
              <a:rPr lang="en-US" dirty="0"/>
              <a:t> mod  p. The public key is (</a:t>
            </a:r>
            <a:r>
              <a:rPr lang="en-US" dirty="0" err="1"/>
              <a:t>p,g,h</a:t>
            </a:r>
            <a:r>
              <a:rPr lang="en-US" dirty="0"/>
              <a:t>) and the private key is 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of the ElGamal Algorithm</a:t>
            </a:r>
          </a:p>
        </p:txBody>
      </p:sp>
      <p:sp>
        <p:nvSpPr>
          <p:cNvPr id="3" name="Content Placeholder 2"/>
          <p:cNvSpPr>
            <a:spLocks noGrp="1"/>
          </p:cNvSpPr>
          <p:nvPr>
            <p:ph idx="1"/>
          </p:nvPr>
        </p:nvSpPr>
        <p:spPr/>
        <p:txBody>
          <a:bodyPr/>
          <a:lstStyle/>
          <a:p>
            <a:pPr marL="0" indent="0">
              <a:buNone/>
            </a:pPr>
            <a:r>
              <a:rPr lang="en-IN">
                <a:solidFill>
                  <a:srgbClr val="FF0000"/>
                </a:solidFill>
              </a:rPr>
              <a:t>2. </a:t>
            </a:r>
            <a:r>
              <a:rPr>
                <a:solidFill>
                  <a:srgbClr val="FF0000"/>
                </a:solidFill>
              </a:rPr>
              <a:t>Encryption:</a:t>
            </a:r>
          </a:p>
          <a:p>
            <a:pPr marL="0" indent="0">
              <a:buNone/>
            </a:pPr>
            <a:r>
              <a:t>To encrypt a message M:</a:t>
            </a:r>
          </a:p>
          <a:p>
            <a:r>
              <a:t>Choose a random integer k such that 1 ≤ k ≤ p−2.</a:t>
            </a:r>
          </a:p>
          <a:p>
            <a:r>
              <a:t>Compute C1 = g</a:t>
            </a:r>
            <a:r>
              <a:rPr baseline="30000"/>
              <a:t>k</a:t>
            </a:r>
            <a:r>
              <a:t> mod  p.</a:t>
            </a:r>
          </a:p>
          <a:p>
            <a:r>
              <a:t>Compute C2 =M⋅h</a:t>
            </a:r>
            <a:r>
              <a:rPr baseline="30000"/>
              <a:t>k</a:t>
            </a:r>
            <a:r>
              <a:t> mod  p.</a:t>
            </a:r>
          </a:p>
          <a:p>
            <a:r>
              <a:t>The ciphertext is (c1,c2).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of the ElGamal Algorithm</a:t>
            </a:r>
          </a:p>
        </p:txBody>
      </p:sp>
      <p:sp>
        <p:nvSpPr>
          <p:cNvPr id="3" name="Content Placeholder 2"/>
          <p:cNvSpPr>
            <a:spLocks noGrp="1"/>
          </p:cNvSpPr>
          <p:nvPr>
            <p:ph idx="1"/>
          </p:nvPr>
        </p:nvSpPr>
        <p:spPr/>
        <p:txBody>
          <a:bodyPr/>
          <a:lstStyle/>
          <a:p>
            <a:pPr marL="0" indent="0">
              <a:buNone/>
            </a:pPr>
            <a:r>
              <a:rPr lang="en-IN">
                <a:solidFill>
                  <a:srgbClr val="FF0000"/>
                </a:solidFill>
              </a:rPr>
              <a:t>3. </a:t>
            </a:r>
            <a:r>
              <a:rPr>
                <a:solidFill>
                  <a:srgbClr val="FF0000"/>
                </a:solidFill>
              </a:rPr>
              <a:t>Decryption:</a:t>
            </a:r>
          </a:p>
          <a:p>
            <a:pPr marL="0" indent="0">
              <a:buNone/>
            </a:pPr>
            <a:r>
              <a:t>To decrypt the ciphertext (c1,c2) using the private key x:</a:t>
            </a:r>
          </a:p>
          <a:p>
            <a:r>
              <a:t>Compute the shared secret s= C</a:t>
            </a:r>
            <a:r>
              <a:rPr baseline="30000"/>
              <a:t>x</a:t>
            </a:r>
            <a:r>
              <a:rPr baseline="-25000"/>
              <a:t>1</a:t>
            </a:r>
            <a:r>
              <a:t> mod  p.</a:t>
            </a:r>
          </a:p>
          <a:p>
            <a:r>
              <a:t>Compute s</a:t>
            </a:r>
            <a:r>
              <a:rPr baseline="30000"/>
              <a:t>−1</a:t>
            </a:r>
            <a:r>
              <a:t> mod  p (the modular inverse of s).</a:t>
            </a:r>
          </a:p>
          <a:p>
            <a:r>
              <a:t>Compute the original message M = C</a:t>
            </a:r>
            <a:r>
              <a:rPr baseline="-25000"/>
              <a:t>2</a:t>
            </a:r>
            <a:r>
              <a:t>⋅s</a:t>
            </a:r>
            <a:r>
              <a:rPr baseline="30000"/>
              <a:t>−1</a:t>
            </a:r>
            <a:r>
              <a:t> mod  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3" name="Rectangle 3"/>
          <p:cNvSpPr>
            <a:spLocks noGrp="1"/>
          </p:cNvSpPr>
          <p:nvPr>
            <p:ph type="subTitle" idx="1"/>
          </p:nvPr>
        </p:nvSpPr>
        <p:spPr>
          <a:xfrm>
            <a:off x="941070" y="1295400"/>
            <a:ext cx="10031730" cy="5393690"/>
          </a:xfrm>
        </p:spPr>
        <p:txBody>
          <a:bodyPr vert="horz" wrap="square" lIns="120650" tIns="59266" rIns="120650" bIns="59266" anchor="t" anchorCtr="0"/>
          <a:lstStyle/>
          <a:p>
            <a:pPr marL="342900" indent="-342900" algn="l" eaLnBrk="1" hangingPunct="1">
              <a:buClrTx/>
              <a:buSzTx/>
            </a:pPr>
            <a:r>
              <a:rPr sz="2800" kern="1200" dirty="0">
                <a:solidFill>
                  <a:schemeClr val="tx1"/>
                </a:solidFill>
                <a:latin typeface="+mn-lt"/>
                <a:ea typeface="+mn-ea"/>
                <a:cs typeface="+mn-cs"/>
              </a:rPr>
              <a:t>Suppose Alice wants to communicate with Bob.  </a:t>
            </a:r>
          </a:p>
          <a:p>
            <a:pPr marL="342900" indent="-342900" algn="l" eaLnBrk="1" hangingPunct="1">
              <a:buClrTx/>
              <a:buSzTx/>
            </a:pPr>
            <a:r>
              <a:rPr lang="en-IN" sz="2800" b="1" kern="1200" dirty="0">
                <a:solidFill>
                  <a:srgbClr val="0070C0"/>
                </a:solidFill>
                <a:latin typeface="+mn-lt"/>
                <a:ea typeface="+mn-ea"/>
                <a:cs typeface="+mn-cs"/>
              </a:rPr>
              <a:t>1. </a:t>
            </a:r>
            <a:r>
              <a:rPr sz="2800" b="1" kern="1200" dirty="0">
                <a:solidFill>
                  <a:srgbClr val="0070C0"/>
                </a:solidFill>
                <a:latin typeface="+mn-lt"/>
                <a:ea typeface="+mn-ea"/>
                <a:cs typeface="+mn-cs"/>
              </a:rPr>
              <a:t>Bob generates public and private keys: </a:t>
            </a:r>
          </a:p>
          <a:p>
            <a:pPr marL="342900" indent="-342900" algn="l" eaLnBrk="1" hangingPunct="1">
              <a:buClrTx/>
              <a:buSzTx/>
            </a:pPr>
            <a:r>
              <a:rPr sz="2800" kern="1200" dirty="0">
                <a:solidFill>
                  <a:schemeClr val="tx1"/>
                </a:solidFill>
                <a:latin typeface="+mn-lt"/>
                <a:ea typeface="+mn-ea"/>
                <a:cs typeface="+mn-cs"/>
              </a:rPr>
              <a:t>Bob chooses a very large number q and a cyclic group F</a:t>
            </a:r>
            <a:r>
              <a:rPr sz="2800" kern="1200" baseline="-25000" dirty="0">
                <a:solidFill>
                  <a:schemeClr val="tx1"/>
                </a:solidFill>
                <a:latin typeface="+mn-lt"/>
                <a:ea typeface="+mn-ea"/>
                <a:cs typeface="+mn-cs"/>
              </a:rPr>
              <a:t>q</a:t>
            </a:r>
            <a:r>
              <a:rPr sz="2800" kern="1200" dirty="0">
                <a:solidFill>
                  <a:schemeClr val="tx1"/>
                </a:solidFill>
                <a:latin typeface="+mn-lt"/>
                <a:ea typeface="+mn-ea"/>
                <a:cs typeface="+mn-cs"/>
              </a:rPr>
              <a:t>.</a:t>
            </a:r>
          </a:p>
          <a:p>
            <a:pPr marL="342900" indent="-342900" algn="l" eaLnBrk="1" hangingPunct="1">
              <a:buClrTx/>
              <a:buSzTx/>
            </a:pPr>
            <a:r>
              <a:rPr sz="2800" kern="1200" dirty="0">
                <a:solidFill>
                  <a:schemeClr val="tx1"/>
                </a:solidFill>
                <a:latin typeface="+mn-lt"/>
                <a:ea typeface="+mn-ea"/>
                <a:cs typeface="+mn-cs"/>
              </a:rPr>
              <a:t>From the cyclic group F</a:t>
            </a:r>
            <a:r>
              <a:rPr sz="2800" kern="1200" baseline="-25000" dirty="0">
                <a:solidFill>
                  <a:schemeClr val="tx1"/>
                </a:solidFill>
                <a:latin typeface="+mn-lt"/>
                <a:ea typeface="+mn-ea"/>
                <a:cs typeface="+mn-cs"/>
              </a:rPr>
              <a:t>q</a:t>
            </a:r>
            <a:r>
              <a:rPr sz="2800" kern="1200" dirty="0">
                <a:solidFill>
                  <a:schemeClr val="tx1"/>
                </a:solidFill>
                <a:latin typeface="+mn-lt"/>
                <a:ea typeface="+mn-ea"/>
                <a:cs typeface="+mn-cs"/>
              </a:rPr>
              <a:t>, he choose any element g and</a:t>
            </a:r>
          </a:p>
          <a:p>
            <a:pPr marL="342900" indent="-342900" algn="l" eaLnBrk="1" hangingPunct="1">
              <a:buClrTx/>
              <a:buSzTx/>
            </a:pPr>
            <a:r>
              <a:rPr sz="2800" kern="1200" dirty="0">
                <a:solidFill>
                  <a:schemeClr val="tx1"/>
                </a:solidFill>
                <a:latin typeface="+mn-lt"/>
                <a:ea typeface="+mn-ea"/>
                <a:cs typeface="+mn-cs"/>
              </a:rPr>
              <a:t>an element a such that gcd(a, q) = 1.</a:t>
            </a:r>
          </a:p>
          <a:p>
            <a:pPr marL="342900" indent="-342900" algn="l" eaLnBrk="1" hangingPunct="1">
              <a:buClrTx/>
              <a:buSzTx/>
            </a:pPr>
            <a:r>
              <a:rPr sz="2800" kern="1200" dirty="0">
                <a:solidFill>
                  <a:schemeClr val="tx1"/>
                </a:solidFill>
                <a:latin typeface="+mn-lt"/>
                <a:ea typeface="+mn-ea"/>
                <a:cs typeface="+mn-cs"/>
              </a:rPr>
              <a:t>Then he computes h = g</a:t>
            </a:r>
            <a:r>
              <a:rPr sz="2800" kern="1200" baseline="30000" dirty="0">
                <a:solidFill>
                  <a:schemeClr val="tx1"/>
                </a:solidFill>
                <a:latin typeface="+mn-lt"/>
                <a:ea typeface="+mn-ea"/>
                <a:cs typeface="+mn-cs"/>
              </a:rPr>
              <a:t>a</a:t>
            </a:r>
            <a:r>
              <a:rPr sz="2800" kern="1200" dirty="0">
                <a:solidFill>
                  <a:schemeClr val="tx1"/>
                </a:solidFill>
                <a:latin typeface="+mn-lt"/>
                <a:ea typeface="+mn-ea"/>
                <a:cs typeface="+mn-cs"/>
              </a:rPr>
              <a:t>.</a:t>
            </a:r>
          </a:p>
          <a:p>
            <a:pPr marL="342900" indent="-342900" algn="l" eaLnBrk="1" hangingPunct="1">
              <a:buClrTx/>
              <a:buSzTx/>
            </a:pPr>
            <a:r>
              <a:rPr sz="2800" kern="1200" dirty="0">
                <a:solidFill>
                  <a:schemeClr val="tx1"/>
                </a:solidFill>
                <a:latin typeface="+mn-lt"/>
                <a:ea typeface="+mn-ea"/>
                <a:cs typeface="+mn-cs"/>
              </a:rPr>
              <a:t>Bob publishes F, h = g</a:t>
            </a:r>
            <a:r>
              <a:rPr sz="2800" kern="1200" baseline="30000" dirty="0">
                <a:solidFill>
                  <a:schemeClr val="tx1"/>
                </a:solidFill>
                <a:latin typeface="+mn-lt"/>
                <a:ea typeface="+mn-ea"/>
                <a:cs typeface="+mn-cs"/>
              </a:rPr>
              <a:t>a</a:t>
            </a:r>
            <a:r>
              <a:rPr sz="2800" kern="1200" dirty="0">
                <a:solidFill>
                  <a:schemeClr val="tx1"/>
                </a:solidFill>
                <a:latin typeface="+mn-lt"/>
                <a:ea typeface="+mn-ea"/>
                <a:cs typeface="+mn-cs"/>
              </a:rPr>
              <a:t>, q, and g as his public key and retains a as private key.</a:t>
            </a:r>
          </a:p>
          <a:p>
            <a:pPr marL="342900" indent="-342900" algn="l" eaLnBrk="1" hangingPunct="1">
              <a:buClrTx/>
              <a:buSzTx/>
            </a:pPr>
            <a:endParaRPr sz="2800" kern="1200" dirty="0">
              <a:solidFill>
                <a:schemeClr val="tx1"/>
              </a:solidFill>
              <a:latin typeface="+mn-lt"/>
              <a:ea typeface="+mn-ea"/>
              <a:cs typeface="+mn-cs"/>
            </a:endParaRPr>
          </a:p>
        </p:txBody>
      </p:sp>
      <p:sp>
        <p:nvSpPr>
          <p:cNvPr id="16387" name="Text Box 4"/>
          <p:cNvSpPr txBox="1"/>
          <p:nvPr/>
        </p:nvSpPr>
        <p:spPr>
          <a:xfrm>
            <a:off x="1295400" y="337502"/>
            <a:ext cx="9144000" cy="82994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a:spcBef>
                <a:spcPct val="0"/>
              </a:spcBef>
              <a:buFontTx/>
              <a:buNone/>
            </a:pPr>
            <a:r>
              <a:rPr sz="4800" dirty="0">
                <a:sym typeface="+mn-ea"/>
              </a:rPr>
              <a:t>Idea of ElGamal cryptosystem: </a:t>
            </a:r>
            <a:endParaRPr lang="en-US" altLang="en-US" sz="4800" dirty="0">
              <a:latin typeface="Arial" panose="020B0604020202020204" pitchFamily="34" charset="0"/>
            </a:endParaRPr>
          </a:p>
        </p:txBody>
      </p:sp>
      <p:sp>
        <p:nvSpPr>
          <p:cNvPr id="16388" name="Slide Number Placeholder 3"/>
          <p:cNvSpPr txBox="1">
            <a:spLocks noGrp="1"/>
          </p:cNvSpPr>
          <p:nvPr>
            <p:ph type="sldNum" sz="quarter" idx="12"/>
          </p:nvPr>
        </p:nvSpPr>
        <p:spPr>
          <a:noFill/>
          <a:ln>
            <a:noFill/>
          </a:ln>
        </p:spPr>
        <p:txBody>
          <a:bodyPr anchor="ctr" anchorCtr="0"/>
          <a:lstStyle/>
          <a:p>
            <a:pPr marL="0" indent="0" algn="r">
              <a:spcBef>
                <a:spcPct val="0"/>
              </a:spcBef>
              <a:buFontTx/>
              <a:buNone/>
            </a:pPr>
            <a:fld id="{9A0DB2DC-4C9A-4742-B13C-FB6460FD3503}" type="slidenum">
              <a:rPr lang="en-US" altLang="en-US" sz="1600" dirty="0">
                <a:solidFill>
                  <a:srgbClr val="898989"/>
                </a:solidFill>
                <a:latin typeface="Times New Roman" panose="02020603050405020304" pitchFamily="18" charset="0"/>
              </a:rPr>
              <a:t>20</a:t>
            </a:fld>
            <a:endParaRPr lang="en-US" altLang="en-US" sz="1600" dirty="0">
              <a:solidFill>
                <a:srgbClr val="898989"/>
              </a:solidFill>
              <a:latin typeface="Times New Roman" panose="02020603050405020304"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38C3E3-2597-9BF2-82B8-4A764520F508}"/>
              </a:ext>
            </a:extLst>
          </p:cNvPr>
          <p:cNvSpPr>
            <a:spLocks noGrp="1"/>
          </p:cNvSpPr>
          <p:nvPr>
            <p:ph idx="1"/>
          </p:nvPr>
        </p:nvSpPr>
        <p:spPr>
          <a:xfrm>
            <a:off x="762000" y="1295400"/>
            <a:ext cx="10972800" cy="4525963"/>
          </a:xfrm>
        </p:spPr>
        <p:txBody>
          <a:bodyPr/>
          <a:lstStyle/>
          <a:p>
            <a:pPr marL="0" indent="0" eaLnBrk="1" hangingPunct="1">
              <a:buNone/>
            </a:pPr>
            <a:r>
              <a:rPr lang="en-US" sz="2800" b="1" dirty="0">
                <a:solidFill>
                  <a:srgbClr val="0070C0"/>
                </a:solidFill>
              </a:rPr>
              <a:t>2. Alice encrypts data using Bob’s public key ‘g’: </a:t>
            </a:r>
          </a:p>
          <a:p>
            <a:pPr marL="0" indent="0" eaLnBrk="1" hangingPunct="1">
              <a:buNone/>
            </a:pPr>
            <a:r>
              <a:rPr lang="en-US" sz="2800" dirty="0"/>
              <a:t>Alice selects an element k from cyclic group F </a:t>
            </a:r>
          </a:p>
          <a:p>
            <a:pPr marL="0" indent="0" eaLnBrk="1" hangingPunct="1">
              <a:buNone/>
            </a:pPr>
            <a:r>
              <a:rPr lang="en-US" sz="2800" dirty="0"/>
              <a:t>such that </a:t>
            </a:r>
            <a:r>
              <a:rPr lang="en-US" sz="2800" dirty="0" err="1"/>
              <a:t>gcd</a:t>
            </a:r>
            <a:r>
              <a:rPr lang="en-US" sz="2800" dirty="0"/>
              <a:t>(k, q) = 1.</a:t>
            </a:r>
          </a:p>
          <a:p>
            <a:pPr marL="0" indent="0" eaLnBrk="1" hangingPunct="1">
              <a:buNone/>
            </a:pPr>
            <a:r>
              <a:rPr lang="en-US" sz="2800" dirty="0"/>
              <a:t>Then she computes p = </a:t>
            </a:r>
            <a:r>
              <a:rPr lang="en-US" sz="2800" dirty="0" err="1"/>
              <a:t>g</a:t>
            </a:r>
            <a:r>
              <a:rPr lang="en-US" sz="2800" baseline="30000" dirty="0" err="1"/>
              <a:t>k</a:t>
            </a:r>
            <a:r>
              <a:rPr lang="en-US" sz="2800" dirty="0"/>
              <a:t> and s = </a:t>
            </a:r>
            <a:r>
              <a:rPr lang="en-US" sz="2800" dirty="0" err="1"/>
              <a:t>h</a:t>
            </a:r>
            <a:r>
              <a:rPr lang="en-US" sz="2800" baseline="30000" dirty="0" err="1"/>
              <a:t>k</a:t>
            </a:r>
            <a:r>
              <a:rPr lang="en-US" sz="2800" dirty="0"/>
              <a:t> = g</a:t>
            </a:r>
            <a:r>
              <a:rPr lang="en-US" sz="2800" baseline="30000" dirty="0"/>
              <a:t>ak</a:t>
            </a:r>
            <a:r>
              <a:rPr lang="en-US" sz="2800" dirty="0"/>
              <a:t>.</a:t>
            </a:r>
          </a:p>
          <a:p>
            <a:pPr marL="0" indent="0" eaLnBrk="1" hangingPunct="1">
              <a:buNone/>
            </a:pPr>
            <a:r>
              <a:rPr lang="en-US" sz="2800" dirty="0"/>
              <a:t>She multiples s with M.</a:t>
            </a:r>
          </a:p>
          <a:p>
            <a:pPr marL="0" indent="0" eaLnBrk="1" hangingPunct="1">
              <a:buNone/>
            </a:pPr>
            <a:r>
              <a:rPr lang="en-US" sz="2800" dirty="0"/>
              <a:t>Then she sends (p, M*s) = (</a:t>
            </a:r>
            <a:r>
              <a:rPr lang="en-US" sz="2800" dirty="0" err="1"/>
              <a:t>g</a:t>
            </a:r>
            <a:r>
              <a:rPr lang="en-US" sz="2800" baseline="30000" dirty="0" err="1"/>
              <a:t>k</a:t>
            </a:r>
            <a:r>
              <a:rPr lang="en-US" sz="2800" dirty="0"/>
              <a:t>, M*s).</a:t>
            </a:r>
          </a:p>
          <a:p>
            <a:pPr marL="0" indent="0" eaLnBrk="1" hangingPunct="1">
              <a:buNone/>
            </a:pPr>
            <a:r>
              <a:rPr lang="en-US" sz="2800" b="1" dirty="0">
                <a:solidFill>
                  <a:srgbClr val="0070C0"/>
                </a:solidFill>
              </a:rPr>
              <a:t>3. Bob decrypts the message : </a:t>
            </a:r>
          </a:p>
          <a:p>
            <a:pPr marL="0" indent="0" eaLnBrk="1" hangingPunct="1">
              <a:buNone/>
            </a:pPr>
            <a:r>
              <a:rPr lang="en-US" sz="2800" dirty="0"/>
              <a:t>Bob calculates s′ = p</a:t>
            </a:r>
            <a:r>
              <a:rPr lang="en-US" sz="2800" baseline="30000" dirty="0"/>
              <a:t>a</a:t>
            </a:r>
            <a:r>
              <a:rPr lang="en-US" sz="2800" dirty="0"/>
              <a:t> = g</a:t>
            </a:r>
            <a:r>
              <a:rPr lang="en-US" sz="2800" baseline="30000" dirty="0"/>
              <a:t>ak</a:t>
            </a:r>
            <a:r>
              <a:rPr lang="en-US" sz="2800" dirty="0"/>
              <a:t>.</a:t>
            </a:r>
          </a:p>
          <a:p>
            <a:pPr marL="0" indent="0" eaLnBrk="1" hangingPunct="1">
              <a:buNone/>
            </a:pPr>
            <a:r>
              <a:rPr lang="en-US" sz="2800" dirty="0"/>
              <a:t>He divides M*s by s′ to obtain M as s = s′.</a:t>
            </a:r>
            <a:endParaRPr lang="en-IN" sz="2800" dirty="0"/>
          </a:p>
        </p:txBody>
      </p:sp>
      <p:sp>
        <p:nvSpPr>
          <p:cNvPr id="4" name="Text Box 4">
            <a:extLst>
              <a:ext uri="{FF2B5EF4-FFF2-40B4-BE49-F238E27FC236}">
                <a16:creationId xmlns:a16="http://schemas.microsoft.com/office/drawing/2014/main" id="{E0FF04E6-E9E5-7EFF-84B7-4866CC56C792}"/>
              </a:ext>
            </a:extLst>
          </p:cNvPr>
          <p:cNvSpPr txBox="1"/>
          <p:nvPr/>
        </p:nvSpPr>
        <p:spPr>
          <a:xfrm>
            <a:off x="1295400" y="337502"/>
            <a:ext cx="9144000" cy="829945"/>
          </a:xfrm>
          <a:prstGeom prst="rect">
            <a:avLst/>
          </a:prstGeom>
          <a:noFill/>
          <a:ln w="12700">
            <a:noFill/>
          </a:ln>
        </p:spPr>
        <p:txBody>
          <a:bodyPr anchor="ctr" anchorCtr="0">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lvl="0" indent="0" algn="ctr">
              <a:spcBef>
                <a:spcPct val="0"/>
              </a:spcBef>
              <a:buFontTx/>
              <a:buNone/>
            </a:pPr>
            <a:r>
              <a:rPr sz="4800" dirty="0">
                <a:sym typeface="+mn-ea"/>
              </a:rPr>
              <a:t>Idea of ElGamal cryptosystem: </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4197388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D828B-F155-262C-2396-06A64A68236F}"/>
              </a:ext>
            </a:extLst>
          </p:cNvPr>
          <p:cNvSpPr>
            <a:spLocks noGrp="1"/>
          </p:cNvSpPr>
          <p:nvPr>
            <p:ph type="title"/>
          </p:nvPr>
        </p:nvSpPr>
        <p:spPr/>
        <p:txBody>
          <a:bodyPr/>
          <a:lstStyle/>
          <a:p>
            <a:r>
              <a:rPr lang="en-IN" b="1" dirty="0"/>
              <a:t>Applications of ElGamal Encryption Algorithm</a:t>
            </a:r>
            <a:endParaRPr lang="en-IN" dirty="0"/>
          </a:p>
        </p:txBody>
      </p:sp>
      <p:sp>
        <p:nvSpPr>
          <p:cNvPr id="3" name="Content Placeholder 2">
            <a:extLst>
              <a:ext uri="{FF2B5EF4-FFF2-40B4-BE49-F238E27FC236}">
                <a16:creationId xmlns:a16="http://schemas.microsoft.com/office/drawing/2014/main" id="{72413306-6898-1B35-E524-065D11654972}"/>
              </a:ext>
            </a:extLst>
          </p:cNvPr>
          <p:cNvSpPr>
            <a:spLocks noGrp="1"/>
          </p:cNvSpPr>
          <p:nvPr>
            <p:ph idx="1"/>
          </p:nvPr>
        </p:nvSpPr>
        <p:spPr/>
        <p:txBody>
          <a:bodyPr/>
          <a:lstStyle/>
          <a:p>
            <a:pPr algn="just"/>
            <a:r>
              <a:rPr lang="en-US" b="1" dirty="0"/>
              <a:t>Encryption</a:t>
            </a:r>
            <a:r>
              <a:rPr lang="en-US" dirty="0"/>
              <a:t>: ElGamal is used for encrypting messages where </a:t>
            </a:r>
            <a:r>
              <a:rPr lang="en-US" u="sng" dirty="0">
                <a:hlinkClick r:id="rId2"/>
              </a:rPr>
              <a:t>public key</a:t>
            </a:r>
            <a:r>
              <a:rPr lang="en-US" dirty="0"/>
              <a:t> cryptography is required.</a:t>
            </a:r>
          </a:p>
          <a:p>
            <a:pPr algn="just"/>
            <a:r>
              <a:rPr lang="en-US" b="1" dirty="0"/>
              <a:t>Digital Signatures</a:t>
            </a:r>
            <a:r>
              <a:rPr lang="en-US" dirty="0"/>
              <a:t>: A variant of ElGamal is used for creating digital signatures, ensuring message authenticity and integrity.</a:t>
            </a:r>
          </a:p>
          <a:p>
            <a:pPr algn="just"/>
            <a:endParaRPr lang="en-IN" dirty="0"/>
          </a:p>
        </p:txBody>
      </p:sp>
    </p:spTree>
    <p:extLst>
      <p:ext uri="{BB962C8B-B14F-4D97-AF65-F5344CB8AC3E}">
        <p14:creationId xmlns:p14="http://schemas.microsoft.com/office/powerpoint/2010/main" val="2187495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3232E-9B8B-4C45-0DC4-8A529D7DD843}"/>
              </a:ext>
            </a:extLst>
          </p:cNvPr>
          <p:cNvSpPr>
            <a:spLocks noGrp="1"/>
          </p:cNvSpPr>
          <p:nvPr>
            <p:ph type="title"/>
          </p:nvPr>
        </p:nvSpPr>
        <p:spPr/>
        <p:txBody>
          <a:bodyPr/>
          <a:lstStyle/>
          <a:p>
            <a:r>
              <a:rPr lang="en-IN" b="1" dirty="0"/>
              <a:t>Advantages</a:t>
            </a:r>
            <a:endParaRPr lang="en-IN" dirty="0"/>
          </a:p>
        </p:txBody>
      </p:sp>
      <p:sp>
        <p:nvSpPr>
          <p:cNvPr id="3" name="Content Placeholder 2">
            <a:extLst>
              <a:ext uri="{FF2B5EF4-FFF2-40B4-BE49-F238E27FC236}">
                <a16:creationId xmlns:a16="http://schemas.microsoft.com/office/drawing/2014/main" id="{F9C04DFF-F89E-E93F-99AC-67975274DDAC}"/>
              </a:ext>
            </a:extLst>
          </p:cNvPr>
          <p:cNvSpPr>
            <a:spLocks noGrp="1"/>
          </p:cNvSpPr>
          <p:nvPr>
            <p:ph idx="1"/>
          </p:nvPr>
        </p:nvSpPr>
        <p:spPr/>
        <p:txBody>
          <a:bodyPr/>
          <a:lstStyle/>
          <a:p>
            <a:pPr algn="just"/>
            <a:r>
              <a:rPr lang="en-US" b="1" dirty="0"/>
              <a:t>Security: </a:t>
            </a:r>
            <a:r>
              <a:rPr lang="en-US" dirty="0"/>
              <a:t>ElGamal is based on the discrete logarithm problem, which is considered to be a hard problem to solve. This makes it secure against attacks from hackers.</a:t>
            </a:r>
          </a:p>
          <a:p>
            <a:pPr algn="just"/>
            <a:r>
              <a:rPr lang="en-US" b="1" dirty="0"/>
              <a:t>Key distribution: </a:t>
            </a:r>
            <a:r>
              <a:rPr lang="en-US" dirty="0"/>
              <a:t>The encryption and decryption keys are different, making it easier to distribute keys securely. This allows for secure communication between multiple parties.</a:t>
            </a:r>
          </a:p>
          <a:p>
            <a:pPr algn="just"/>
            <a:r>
              <a:rPr lang="en-US" b="1" dirty="0"/>
              <a:t>Digital signatures: </a:t>
            </a:r>
            <a:r>
              <a:rPr lang="en-US" dirty="0"/>
              <a:t>ElGamal can also be used for </a:t>
            </a:r>
            <a:r>
              <a:rPr lang="en-US" u="sng" dirty="0"/>
              <a:t>digital signatures</a:t>
            </a:r>
            <a:r>
              <a:rPr lang="en-US" dirty="0"/>
              <a:t>, which allows for secure </a:t>
            </a:r>
            <a:r>
              <a:rPr lang="en-US" u="sng" dirty="0"/>
              <a:t>authentication </a:t>
            </a:r>
            <a:r>
              <a:rPr lang="en-US" dirty="0"/>
              <a:t>of messages.</a:t>
            </a:r>
          </a:p>
          <a:p>
            <a:pPr algn="just"/>
            <a:endParaRPr lang="en-IN" dirty="0"/>
          </a:p>
        </p:txBody>
      </p:sp>
    </p:spTree>
    <p:extLst>
      <p:ext uri="{BB962C8B-B14F-4D97-AF65-F5344CB8AC3E}">
        <p14:creationId xmlns:p14="http://schemas.microsoft.com/office/powerpoint/2010/main" val="2625029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3B5D4-142E-BE26-9E6E-688571125D2A}"/>
              </a:ext>
            </a:extLst>
          </p:cNvPr>
          <p:cNvSpPr>
            <a:spLocks noGrp="1"/>
          </p:cNvSpPr>
          <p:nvPr>
            <p:ph type="title"/>
          </p:nvPr>
        </p:nvSpPr>
        <p:spPr/>
        <p:txBody>
          <a:bodyPr/>
          <a:lstStyle/>
          <a:p>
            <a:r>
              <a:rPr lang="en-IN" b="1" dirty="0"/>
              <a:t>Disadvantages</a:t>
            </a:r>
            <a:endParaRPr lang="en-IN" dirty="0"/>
          </a:p>
        </p:txBody>
      </p:sp>
      <p:sp>
        <p:nvSpPr>
          <p:cNvPr id="3" name="Content Placeholder 2">
            <a:extLst>
              <a:ext uri="{FF2B5EF4-FFF2-40B4-BE49-F238E27FC236}">
                <a16:creationId xmlns:a16="http://schemas.microsoft.com/office/drawing/2014/main" id="{21F4B216-00C1-06A6-B682-D4E6F35A5ED3}"/>
              </a:ext>
            </a:extLst>
          </p:cNvPr>
          <p:cNvSpPr>
            <a:spLocks noGrp="1"/>
          </p:cNvSpPr>
          <p:nvPr>
            <p:ph idx="1"/>
          </p:nvPr>
        </p:nvSpPr>
        <p:spPr>
          <a:xfrm>
            <a:off x="609600" y="1417638"/>
            <a:ext cx="10972800" cy="4525963"/>
          </a:xfrm>
        </p:spPr>
        <p:txBody>
          <a:bodyPr/>
          <a:lstStyle/>
          <a:p>
            <a:pPr algn="just"/>
            <a:r>
              <a:rPr lang="en-US" sz="2800" b="1" dirty="0"/>
              <a:t>Slow processing: </a:t>
            </a:r>
            <a:r>
              <a:rPr lang="en-US" sz="2800" dirty="0"/>
              <a:t>ElGamal is slower compared to other </a:t>
            </a:r>
            <a:r>
              <a:rPr lang="en-US" sz="2800" u="sng" dirty="0"/>
              <a:t>encryption algorithms</a:t>
            </a:r>
            <a:r>
              <a:rPr lang="en-US" sz="2800" dirty="0"/>
              <a:t>, especially when used with long keys. This can make it impractical for certain applications that require fast processing speeds.</a:t>
            </a:r>
          </a:p>
          <a:p>
            <a:pPr algn="just"/>
            <a:r>
              <a:rPr lang="en-US" sz="2800" b="1" dirty="0"/>
              <a:t>Key size: </a:t>
            </a:r>
            <a:r>
              <a:rPr lang="en-US" sz="2800" dirty="0"/>
              <a:t>ElGamal requires larger key sizes to achieve the same level of security as other algorithms. This can make it more difficult to use in some applications.</a:t>
            </a:r>
          </a:p>
          <a:p>
            <a:pPr algn="just"/>
            <a:r>
              <a:rPr lang="en-US" sz="2800" b="1" dirty="0"/>
              <a:t>Vulnerability to certain attacks: </a:t>
            </a:r>
            <a:r>
              <a:rPr lang="en-US" sz="2800" dirty="0"/>
              <a:t>ElGamal is vulnerable to attacks based on the discrete logarithm problem, such as the index calculus algorithm. This can reduce the security of the algorithm in certain situations.</a:t>
            </a:r>
          </a:p>
          <a:p>
            <a:pPr algn="just"/>
            <a:endParaRPr lang="en-IN" sz="2800" dirty="0"/>
          </a:p>
        </p:txBody>
      </p:sp>
    </p:spTree>
    <p:extLst>
      <p:ext uri="{BB962C8B-B14F-4D97-AF65-F5344CB8AC3E}">
        <p14:creationId xmlns:p14="http://schemas.microsoft.com/office/powerpoint/2010/main" val="1605271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Elliptic Curve Cryptography</a:t>
            </a:r>
          </a:p>
        </p:txBody>
      </p:sp>
      <p:sp>
        <p:nvSpPr>
          <p:cNvPr id="3" name="Content Placeholder 2"/>
          <p:cNvSpPr>
            <a:spLocks noGrp="1"/>
          </p:cNvSpPr>
          <p:nvPr>
            <p:ph idx="1"/>
          </p:nvPr>
        </p:nvSpPr>
        <p:spPr>
          <a:xfrm>
            <a:off x="609600" y="1417955"/>
            <a:ext cx="11109325" cy="4461510"/>
          </a:xfrm>
        </p:spPr>
        <p:txBody>
          <a:bodyPr/>
          <a:lstStyle/>
          <a:p>
            <a:pPr marL="0" indent="0" algn="just">
              <a:buNone/>
            </a:pPr>
            <a:r>
              <a:rPr lang="en-US" sz="2800" dirty="0"/>
              <a:t>ECC, as the name implies, is an asymmetric encryption algorithm that employs the algebraic architecture of elliptic curves with finite fields.</a:t>
            </a:r>
          </a:p>
          <a:p>
            <a:pPr algn="just"/>
            <a:r>
              <a:rPr lang="en-US" sz="2800" dirty="0"/>
              <a:t>Elliptic Curve Cryptography (ECC) is an encryption technology comparable to RSA that enables public-key encryption. </a:t>
            </a:r>
          </a:p>
          <a:p>
            <a:pPr algn="just"/>
            <a:r>
              <a:rPr lang="en-US" sz="2800" dirty="0"/>
              <a:t>While RSA’s security is dependent on huge prime numbers, ECC leverages the mathematical theory of elliptic curves to achieve the same level of security with considerably smaller keys.</a:t>
            </a:r>
          </a:p>
          <a:p>
            <a:pPr algn="just"/>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2CBF-4A6F-5EAD-775E-BEE532301EBA}"/>
              </a:ext>
            </a:extLst>
          </p:cNvPr>
          <p:cNvSpPr>
            <a:spLocks noGrp="1"/>
          </p:cNvSpPr>
          <p:nvPr>
            <p:ph type="title"/>
          </p:nvPr>
        </p:nvSpPr>
        <p:spPr/>
        <p:txBody>
          <a:bodyPr/>
          <a:lstStyle/>
          <a:p>
            <a:r>
              <a:rPr lang="en-US" b="1" dirty="0"/>
              <a:t>History of Elliptic Curve Cryptography</a:t>
            </a:r>
            <a:endParaRPr lang="en-IN" dirty="0"/>
          </a:p>
        </p:txBody>
      </p:sp>
      <p:sp>
        <p:nvSpPr>
          <p:cNvPr id="3" name="Content Placeholder 2">
            <a:extLst>
              <a:ext uri="{FF2B5EF4-FFF2-40B4-BE49-F238E27FC236}">
                <a16:creationId xmlns:a16="http://schemas.microsoft.com/office/drawing/2014/main" id="{DBF2E378-00D2-D378-F8CD-B3D4212C5450}"/>
              </a:ext>
            </a:extLst>
          </p:cNvPr>
          <p:cNvSpPr>
            <a:spLocks noGrp="1"/>
          </p:cNvSpPr>
          <p:nvPr>
            <p:ph idx="1"/>
          </p:nvPr>
        </p:nvSpPr>
        <p:spPr/>
        <p:txBody>
          <a:bodyPr/>
          <a:lstStyle/>
          <a:p>
            <a:pPr algn="just"/>
            <a:r>
              <a:rPr lang="en-US" sz="2000" dirty="0"/>
              <a:t>Neal Koblitz and Victor S. Miller independently proposed the use of elliptic curves in encryption in 1985.</a:t>
            </a:r>
          </a:p>
          <a:p>
            <a:pPr algn="just"/>
            <a:r>
              <a:rPr lang="en-US" sz="2000" dirty="0"/>
              <a:t>Elliptic curve cryptography algorithms entered wide use from 2004 to 2005.</a:t>
            </a:r>
          </a:p>
          <a:p>
            <a:pPr algn="just"/>
            <a:r>
              <a:rPr lang="en-US" sz="2000" dirty="0"/>
              <a:t>In the mid-1980s, researchers found that examining elliptic curves could lead to the discovery of new sources of difficult problems. Elliptic Curve Cryptography (ECC) introduced a new degree of security to public key cryptosystems, that provide combined encryption and digital signature services.</a:t>
            </a:r>
          </a:p>
          <a:p>
            <a:pPr algn="just"/>
            <a:r>
              <a:rPr lang="en-US" sz="2000" dirty="0"/>
              <a:t>The security of elliptic curve cryptosystems, like that of all public-key cryptosystems, is based on tough mathematical issues at the core. Given two elliptic curve points G and Y, where Y = </a:t>
            </a:r>
            <a:r>
              <a:rPr lang="en-US" sz="2000" dirty="0" err="1"/>
              <a:t>kG.</a:t>
            </a:r>
            <a:endParaRPr lang="en-US" sz="2000" dirty="0"/>
          </a:p>
          <a:p>
            <a:pPr algn="just"/>
            <a:r>
              <a:rPr lang="en-US" sz="2000" dirty="0"/>
              <a:t>The term "elliptic curve" is derived from the ellipse. Elliptic curves were discovered in the form of the Diophantine equation for c, after the 17th century. Furthermore, while calculating the surface of the ellipse is simple, calculating the circumference of the ellipse is difficult.</a:t>
            </a:r>
          </a:p>
          <a:p>
            <a:pPr algn="just"/>
            <a:endParaRPr lang="en-IN" sz="2000" dirty="0"/>
          </a:p>
        </p:txBody>
      </p:sp>
    </p:spTree>
    <p:extLst>
      <p:ext uri="{BB962C8B-B14F-4D97-AF65-F5344CB8AC3E}">
        <p14:creationId xmlns:p14="http://schemas.microsoft.com/office/powerpoint/2010/main" val="1430858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10972800" cy="5029200"/>
          </a:xfrm>
        </p:spPr>
        <p:txBody>
          <a:bodyPr/>
          <a:lstStyle/>
          <a:p>
            <a:pPr algn="just"/>
            <a:r>
              <a:rPr lang="en-US" sz="2400" dirty="0"/>
              <a:t>ECC, an alternative technique to RSA, is a powerful cryptography approach. It generates security between key pairs for public key encryption by using the mathematics of elliptic curves.</a:t>
            </a:r>
          </a:p>
          <a:p>
            <a:pPr algn="just"/>
            <a:r>
              <a:rPr lang="en-US" sz="2400" dirty="0"/>
              <a:t>RSA does something similar with prime numbers instead of elliptic curves, but ECC has gradually been growing in popularity recently due to its smaller key size and ability to maintain security. This trend will probably continue as the demand on devices to remain secure increases due to the size of keys growing, drawing on scarce mobile resources. This is why it is so important to understand elliptic curve cryptography in context.</a:t>
            </a:r>
          </a:p>
          <a:p>
            <a:pPr algn="just"/>
            <a:r>
              <a:rPr lang="en-US" sz="2400" dirty="0"/>
              <a:t>An elliptic curve is not an ellipse, or oval shape, but it is represented as a looping line intersecting two axes, which are lines on a graph used to indicate the position of a point. The curve is completely symmetric, or mirrored, along the x-axis of the graph.</a:t>
            </a:r>
          </a:p>
          <a:p>
            <a:pPr algn="just"/>
            <a:endParaRPr lang="en-US" sz="2400" dirty="0"/>
          </a:p>
          <a:p>
            <a:pPr algn="just"/>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02335"/>
            <a:ext cx="10972800" cy="4995545"/>
          </a:xfrm>
        </p:spPr>
        <p:txBody>
          <a:bodyPr/>
          <a:lstStyle/>
          <a:p>
            <a:pPr algn="just"/>
            <a:r>
              <a:rPr lang="en-US" dirty="0"/>
              <a:t>Public key cryptography systems, like ECC, use a mathematical process to merge two distinct keys and then use the output to encrypt and decrypt data. One is a public key that is known to anyone, and the other is a private key that is only known by the sender and receiver of the data.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EF55-CB02-5D7F-4696-CCF77E98A9CD}"/>
              </a:ext>
            </a:extLst>
          </p:cNvPr>
          <p:cNvSpPr>
            <a:spLocks noGrp="1"/>
          </p:cNvSpPr>
          <p:nvPr>
            <p:ph type="title"/>
          </p:nvPr>
        </p:nvSpPr>
        <p:spPr/>
        <p:txBody>
          <a:bodyPr/>
          <a:lstStyle/>
          <a:p>
            <a:r>
              <a:rPr lang="en-US" dirty="0"/>
              <a:t>What are the benefits of ECC?</a:t>
            </a:r>
            <a:endParaRPr lang="en-IN" dirty="0"/>
          </a:p>
        </p:txBody>
      </p:sp>
      <p:sp>
        <p:nvSpPr>
          <p:cNvPr id="3" name="Content Placeholder 2">
            <a:extLst>
              <a:ext uri="{FF2B5EF4-FFF2-40B4-BE49-F238E27FC236}">
                <a16:creationId xmlns:a16="http://schemas.microsoft.com/office/drawing/2014/main" id="{CCA0DA50-B2CD-F735-18DE-5D954A47B0BD}"/>
              </a:ext>
            </a:extLst>
          </p:cNvPr>
          <p:cNvSpPr>
            <a:spLocks noGrp="1"/>
          </p:cNvSpPr>
          <p:nvPr>
            <p:ph idx="1"/>
          </p:nvPr>
        </p:nvSpPr>
        <p:spPr/>
        <p:txBody>
          <a:bodyPr/>
          <a:lstStyle/>
          <a:p>
            <a:pPr marL="457200" indent="-457200" algn="just">
              <a:buFont typeface="+mj-lt"/>
              <a:buAutoNum type="arabicPeriod"/>
            </a:pPr>
            <a:r>
              <a:rPr lang="en-US" sz="2400" dirty="0"/>
              <a:t>ECC requires smaller keys than other methods to achieve the same level of security. This can be important in constrained environments where limited storage is available.</a:t>
            </a:r>
          </a:p>
          <a:p>
            <a:pPr marL="457200" indent="-457200" algn="just">
              <a:buFont typeface="+mj-lt"/>
              <a:buAutoNum type="arabicPeriod"/>
            </a:pPr>
            <a:r>
              <a:rPr lang="en-US" sz="2400" dirty="0"/>
              <a:t>Because ECC offers equivalent security with lower computing power and battery resource usage, it is becoming more widely used in cryptocurrency platforms, including Bitcoin and Ethereum, mobile applications, and low-power devices that have limited computational power.</a:t>
            </a:r>
          </a:p>
          <a:p>
            <a:pPr marL="457200" indent="-457200" algn="just">
              <a:buFont typeface="+mj-lt"/>
              <a:buAutoNum type="arabicPeriod"/>
            </a:pPr>
            <a:r>
              <a:rPr lang="en-US" sz="2400" dirty="0"/>
              <a:t>Finally, ECC can be used for digital signatures, key exchange, and other purposes; this makes it a versatile tool for many different applications.</a:t>
            </a:r>
            <a:endParaRPr lang="en-IN" sz="2400" dirty="0"/>
          </a:p>
        </p:txBody>
      </p:sp>
    </p:spTree>
    <p:extLst>
      <p:ext uri="{BB962C8B-B14F-4D97-AF65-F5344CB8AC3E}">
        <p14:creationId xmlns:p14="http://schemas.microsoft.com/office/powerpoint/2010/main" val="1697557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67B09-708C-6E7A-F6A9-447E292A0033}"/>
              </a:ext>
            </a:extLst>
          </p:cNvPr>
          <p:cNvSpPr>
            <a:spLocks noGrp="1"/>
          </p:cNvSpPr>
          <p:nvPr>
            <p:ph type="title"/>
          </p:nvPr>
        </p:nvSpPr>
        <p:spPr/>
        <p:txBody>
          <a:bodyPr/>
          <a:lstStyle/>
          <a:p>
            <a:r>
              <a:rPr lang="en-IN" dirty="0"/>
              <a:t>How does ECC work?</a:t>
            </a:r>
          </a:p>
        </p:txBody>
      </p:sp>
      <p:sp>
        <p:nvSpPr>
          <p:cNvPr id="3" name="Content Placeholder 2">
            <a:extLst>
              <a:ext uri="{FF2B5EF4-FFF2-40B4-BE49-F238E27FC236}">
                <a16:creationId xmlns:a16="http://schemas.microsoft.com/office/drawing/2014/main" id="{35BD2D60-ADEC-9BF8-D167-144C925D7A5A}"/>
              </a:ext>
            </a:extLst>
          </p:cNvPr>
          <p:cNvSpPr>
            <a:spLocks noGrp="1"/>
          </p:cNvSpPr>
          <p:nvPr>
            <p:ph idx="1"/>
          </p:nvPr>
        </p:nvSpPr>
        <p:spPr>
          <a:xfrm>
            <a:off x="574040" y="1295400"/>
            <a:ext cx="10972800" cy="4708525"/>
          </a:xfrm>
        </p:spPr>
        <p:txBody>
          <a:bodyPr/>
          <a:lstStyle/>
          <a:p>
            <a:pPr marL="0" indent="0" algn="just">
              <a:buNone/>
            </a:pPr>
            <a:r>
              <a:rPr lang="en-US" sz="2000" dirty="0"/>
              <a:t>From a cryptographic perspective, the points along the graph can be formulated using the following equation: </a:t>
            </a:r>
            <a:r>
              <a:rPr lang="en-IN" altLang="en-US" sz="2000" dirty="0"/>
              <a:t>    </a:t>
            </a:r>
            <a:r>
              <a:rPr lang="en-US" sz="2000" dirty="0"/>
              <a:t>y²=x³ + ax + b, where a and b are constants, and x and y are variables.</a:t>
            </a:r>
          </a:p>
          <a:p>
            <a:pPr algn="just"/>
            <a:r>
              <a:rPr lang="en-US" sz="2000" dirty="0"/>
              <a:t>Elliptic curves have many interesting mathematical properties that make them well-suited for cryptography. For example, given two points P and Q on an elliptic curve, there is a third point R such that P + Q = R. This property is called “</a:t>
            </a:r>
            <a:r>
              <a:rPr lang="en-US" sz="2000" b="1" dirty="0">
                <a:solidFill>
                  <a:srgbClr val="FF0000"/>
                </a:solidFill>
              </a:rPr>
              <a:t>point addition</a:t>
            </a:r>
            <a:r>
              <a:rPr lang="en-US" sz="2000" dirty="0"/>
              <a:t>” and is illustrated below.</a:t>
            </a:r>
          </a:p>
          <a:p>
            <a:pPr algn="just"/>
            <a:r>
              <a:rPr lang="en-US" sz="2000" dirty="0"/>
              <a:t>Another valuable property of cryptography is “</a:t>
            </a:r>
            <a:r>
              <a:rPr lang="en-US" sz="2000" b="1" dirty="0">
                <a:solidFill>
                  <a:srgbClr val="FF0000"/>
                </a:solidFill>
              </a:rPr>
              <a:t>point doubling</a:t>
            </a:r>
            <a:r>
              <a:rPr lang="en-US" sz="2000" dirty="0"/>
              <a:t>.” This is when we take a point P on an elliptic curve and find another point 2P such that P + P = 2P. This is illustrated below.</a:t>
            </a:r>
          </a:p>
          <a:p>
            <a:pPr algn="just"/>
            <a:r>
              <a:rPr lang="en-US" sz="2000" dirty="0"/>
              <a:t>We can keep doubling points until we get to the point that we call “the infinity point,” which we denote as O. You can think of this as the limit case where the distance between P and 2P gets arbitrarily close to zero.</a:t>
            </a:r>
          </a:p>
          <a:p>
            <a:pPr algn="just"/>
            <a:r>
              <a:rPr lang="en-US" sz="2000" dirty="0"/>
              <a:t>Thus, we can add and double points on an elliptic curve to our heart’s content and never get the exact moment twice (except for O). </a:t>
            </a:r>
          </a:p>
          <a:p>
            <a:pPr algn="just"/>
            <a:r>
              <a:rPr lang="en-US" sz="2000" dirty="0"/>
              <a:t>Given any point P on an elliptic curve, an infinite number of points can be obtained by adding and doubling P (including O). Consequently, </a:t>
            </a:r>
            <a:r>
              <a:rPr lang="en-US" sz="2000" b="1" dirty="0">
                <a:solidFill>
                  <a:srgbClr val="FF0000"/>
                </a:solidFill>
              </a:rPr>
              <a:t>an endless number of possible keys can be generated using elliptic curves.</a:t>
            </a:r>
          </a:p>
          <a:p>
            <a:pPr algn="just"/>
            <a:endParaRPr lang="en-IN" sz="2000" dirty="0"/>
          </a:p>
        </p:txBody>
      </p:sp>
    </p:spTree>
    <p:extLst>
      <p:ext uri="{BB962C8B-B14F-4D97-AF65-F5344CB8AC3E}">
        <p14:creationId xmlns:p14="http://schemas.microsoft.com/office/powerpoint/2010/main" val="473072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Picture 4"/>
          <p:cNvPicPr/>
          <p:nvPr>
            <p:custDataLst>
              <p:tags r:id="rId1"/>
            </p:custDataLst>
          </p:nvPr>
        </p:nvPicPr>
        <p:blipFill>
          <a:blip r:embed="rId3"/>
        </p:blipFill>
        <p:spPr>
          <a:xfrm>
            <a:off x="3886200" y="-152400"/>
            <a:ext cx="8305800" cy="6702425"/>
          </a:xfrm>
          <a:prstGeom prst="rect">
            <a:avLst/>
          </a:prstGeom>
        </p:spPr>
      </p:pic>
      <p:sp>
        <p:nvSpPr>
          <p:cNvPr id="6" name="Text Box 5"/>
          <p:cNvSpPr txBox="1"/>
          <p:nvPr/>
        </p:nvSpPr>
        <p:spPr>
          <a:xfrm>
            <a:off x="530860" y="307975"/>
            <a:ext cx="3442335" cy="6355080"/>
          </a:xfrm>
          <a:prstGeom prst="rect">
            <a:avLst/>
          </a:prstGeom>
          <a:noFill/>
        </p:spPr>
        <p:txBody>
          <a:bodyPr wrap="square" rtlCol="0" anchor="t">
            <a:noAutofit/>
          </a:bodyPr>
          <a:lstStyle/>
          <a:p>
            <a:r>
              <a:rPr lang="en-US" sz="2600">
                <a:sym typeface="+mn-ea"/>
              </a:rPr>
              <a:t>ECC is based on the properties of a set of values for which </a:t>
            </a:r>
            <a:r>
              <a:rPr lang="en-US" sz="2600" b="1">
                <a:sym typeface="+mn-ea"/>
              </a:rPr>
              <a:t>operations can be performed on any two members of the group to produce a third member</a:t>
            </a:r>
            <a:r>
              <a:rPr lang="en-US" sz="2600">
                <a:sym typeface="+mn-ea"/>
              </a:rPr>
              <a:t>, which is derived from points where the line intersects the axes as shown with </a:t>
            </a:r>
            <a:r>
              <a:rPr lang="en-US" sz="2600" b="1">
                <a:gradFill>
                  <a:gsLst>
                    <a:gs pos="0">
                      <a:srgbClr val="14CD68"/>
                    </a:gs>
                    <a:gs pos="100000">
                      <a:srgbClr val="0B6E38"/>
                    </a:gs>
                  </a:gsLst>
                  <a:lin scaled="0"/>
                </a:gradFill>
                <a:sym typeface="+mn-ea"/>
              </a:rPr>
              <a:t>the green line</a:t>
            </a:r>
            <a:r>
              <a:rPr lang="en-US" sz="2600">
                <a:sym typeface="+mn-ea"/>
              </a:rPr>
              <a:t> and </a:t>
            </a:r>
            <a:r>
              <a:rPr lang="en-US" sz="2600" b="1">
                <a:solidFill>
                  <a:srgbClr val="0070C0"/>
                </a:solidFill>
                <a:sym typeface="+mn-ea"/>
              </a:rPr>
              <a:t>three blue dots</a:t>
            </a:r>
            <a:r>
              <a:rPr lang="en-US" sz="2600">
                <a:sym typeface="+mn-ea"/>
              </a:rPr>
              <a:t> in the below diagram labeled A, B and C.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6415" y="532130"/>
            <a:ext cx="11216005" cy="5594350"/>
          </a:xfrm>
        </p:spPr>
        <p:txBody>
          <a:bodyPr/>
          <a:lstStyle/>
          <a:p>
            <a:r>
              <a:rPr lang="en-US"/>
              <a:t>Multiplying a point on the curve by a number produces another point on the curve(</a:t>
            </a:r>
            <a:r>
              <a:rPr lang="en-IN" altLang="en-US"/>
              <a:t>point </a:t>
            </a:r>
            <a:r>
              <a:rPr lang="en-US"/>
              <a:t>C). </a:t>
            </a:r>
          </a:p>
          <a:p>
            <a:r>
              <a:rPr lang="en-US"/>
              <a:t>Taking </a:t>
            </a:r>
            <a:r>
              <a:rPr lang="en-US" b="1"/>
              <a:t>point C</a:t>
            </a:r>
            <a:r>
              <a:rPr lang="en-US"/>
              <a:t> and bringing it to the </a:t>
            </a:r>
            <a:r>
              <a:rPr lang="en-US" b="1"/>
              <a:t>mirrored point on the opposite side of the x-axis produces point D</a:t>
            </a:r>
            <a:r>
              <a:rPr lang="en-US"/>
              <a:t>. From here, a line is drawn back to our original point A, creating an intersection at point E. </a:t>
            </a:r>
          </a:p>
          <a:p>
            <a:r>
              <a:rPr lang="en-US"/>
              <a:t>This process can be completed </a:t>
            </a:r>
            <a:r>
              <a:rPr lang="en-US" b="1"/>
              <a:t>n number of times</a:t>
            </a:r>
            <a:r>
              <a:rPr lang="en-US"/>
              <a:t> within a defined max value. The </a:t>
            </a:r>
            <a:r>
              <a:rPr lang="en-US" b="1"/>
              <a:t>n is the private key</a:t>
            </a:r>
            <a:r>
              <a:rPr lang="en-US"/>
              <a:t> value, which indicates how many times the equation should be run, ending on the final value that is used to encrypt and decrypt data. The maximum defined value of the equation relates to the key size used.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972800" cy="1143000"/>
          </a:xfrm>
        </p:spPr>
        <p:txBody>
          <a:bodyPr/>
          <a:lstStyle/>
          <a:p>
            <a:r>
              <a:rPr lang="en-US" sz="5335"/>
              <a:t>Elliptic Curve Cryptography</a:t>
            </a:r>
          </a:p>
        </p:txBody>
      </p:sp>
      <p:sp>
        <p:nvSpPr>
          <p:cNvPr id="3" name="Content Placeholder 2"/>
          <p:cNvSpPr>
            <a:spLocks noGrp="1"/>
          </p:cNvSpPr>
          <p:nvPr>
            <p:ph sz="half" idx="1"/>
          </p:nvPr>
        </p:nvSpPr>
        <p:spPr>
          <a:xfrm>
            <a:off x="609600" y="1524000"/>
            <a:ext cx="10859770" cy="4618355"/>
          </a:xfrm>
        </p:spPr>
        <p:txBody>
          <a:bodyPr/>
          <a:lstStyle/>
          <a:p>
            <a:pPr algn="just"/>
            <a:r>
              <a:rPr lang="en-US" dirty="0"/>
              <a:t>ECC is like most other public key encryption methods, such as the RSA algorithm and Diffie-Hellman. Each of these cryptography mechanisms uses the concept of a one-way, or trapdoor, function. </a:t>
            </a:r>
          </a:p>
          <a:p>
            <a:pPr algn="just"/>
            <a:r>
              <a:rPr lang="en-US" dirty="0"/>
              <a:t>This means that a mathematical equation with a public and private key can be used to easily get from point A to point B. </a:t>
            </a:r>
          </a:p>
          <a:p>
            <a:pPr algn="just"/>
            <a:r>
              <a:rPr lang="en-US" dirty="0"/>
              <a:t>But, without knowing the private key and depending on the key size used, getting from B to A is difficult, if not impossible, to achieve.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Below is the difference between ECC and RSA: </a:t>
            </a:r>
          </a:p>
        </p:txBody>
      </p:sp>
      <p:graphicFrame>
        <p:nvGraphicFramePr>
          <p:cNvPr id="6" name="Content Placeholder 5"/>
          <p:cNvGraphicFramePr>
            <a:graphicFrameLocks noGrp="1"/>
          </p:cNvGraphicFramePr>
          <p:nvPr>
            <p:ph idx="1"/>
            <p:custDataLst>
              <p:tags r:id="rId1"/>
            </p:custDataLst>
          </p:nvPr>
        </p:nvGraphicFramePr>
        <p:xfrm>
          <a:off x="609600" y="1600200"/>
          <a:ext cx="11136630" cy="4586603"/>
        </p:xfrm>
        <a:graphic>
          <a:graphicData uri="http://schemas.openxmlformats.org/drawingml/2006/table">
            <a:tbl>
              <a:tblPr firstRow="1" bandRow="1">
                <a:tableStyleId>{5C22544A-7EE6-4342-B048-85BDC9FD1C3A}</a:tableStyleId>
              </a:tblPr>
              <a:tblGrid>
                <a:gridCol w="2352675">
                  <a:extLst>
                    <a:ext uri="{9D8B030D-6E8A-4147-A177-3AD203B41FA5}">
                      <a16:colId xmlns:a16="http://schemas.microsoft.com/office/drawing/2014/main" val="20000"/>
                    </a:ext>
                  </a:extLst>
                </a:gridCol>
                <a:gridCol w="4352290">
                  <a:extLst>
                    <a:ext uri="{9D8B030D-6E8A-4147-A177-3AD203B41FA5}">
                      <a16:colId xmlns:a16="http://schemas.microsoft.com/office/drawing/2014/main" val="20001"/>
                    </a:ext>
                  </a:extLst>
                </a:gridCol>
                <a:gridCol w="4431665">
                  <a:extLst>
                    <a:ext uri="{9D8B030D-6E8A-4147-A177-3AD203B41FA5}">
                      <a16:colId xmlns:a16="http://schemas.microsoft.com/office/drawing/2014/main" val="20002"/>
                    </a:ext>
                  </a:extLst>
                </a:gridCol>
              </a:tblGrid>
              <a:tr h="608965">
                <a:tc>
                  <a:txBody>
                    <a:bodyPr/>
                    <a:lstStyle/>
                    <a:p>
                      <a:pPr marL="0" indent="0" algn="ctr" fontAlgn="base">
                        <a:spcAft>
                          <a:spcPct val="0"/>
                        </a:spcAft>
                      </a:pPr>
                      <a:r>
                        <a:rPr sz="2800" b="1" i="0">
                          <a:solidFill>
                            <a:srgbClr val="273239"/>
                          </a:solidFill>
                          <a:latin typeface="Calibri" panose="020F0502020204030204" pitchFamily="34" charset="0"/>
                          <a:ea typeface="Nunito"/>
                          <a:cs typeface="Calibri" panose="020F0502020204030204" pitchFamily="34" charset="0"/>
                        </a:rPr>
                        <a:t>Parameters</a:t>
                      </a:r>
                    </a:p>
                  </a:txBody>
                  <a:tcPr marL="38100" marR="38100" marT="63817" marB="63817" anchor="ctr"/>
                </a:tc>
                <a:tc>
                  <a:txBody>
                    <a:bodyPr/>
                    <a:lstStyle/>
                    <a:p>
                      <a:pPr marL="0" indent="0" algn="ctr" fontAlgn="base">
                        <a:spcAft>
                          <a:spcPts val="500"/>
                        </a:spcAft>
                      </a:pPr>
                      <a:r>
                        <a:rPr sz="2800" b="1" i="0">
                          <a:solidFill>
                            <a:srgbClr val="273239"/>
                          </a:solidFill>
                          <a:latin typeface="Calibri" panose="020F0502020204030204" pitchFamily="34" charset="0"/>
                          <a:ea typeface="Nunito"/>
                          <a:cs typeface="Calibri" panose="020F0502020204030204" pitchFamily="34" charset="0"/>
                        </a:rPr>
                        <a:t>ECC</a:t>
                      </a:r>
                    </a:p>
                  </a:txBody>
                  <a:tcPr marL="63817" marR="63817" marT="63817" marB="63817" anchor="ctr"/>
                </a:tc>
                <a:tc>
                  <a:txBody>
                    <a:bodyPr/>
                    <a:lstStyle/>
                    <a:p>
                      <a:pPr marL="0" indent="0" algn="ctr" fontAlgn="base">
                        <a:spcAft>
                          <a:spcPts val="500"/>
                        </a:spcAft>
                      </a:pPr>
                      <a:r>
                        <a:rPr sz="2800" b="1" i="0">
                          <a:solidFill>
                            <a:srgbClr val="273239"/>
                          </a:solidFill>
                          <a:latin typeface="Calibri" panose="020F0502020204030204" pitchFamily="34" charset="0"/>
                          <a:ea typeface="Nunito"/>
                          <a:cs typeface="Calibri" panose="020F0502020204030204" pitchFamily="34" charset="0"/>
                        </a:rPr>
                        <a:t>RSA</a:t>
                      </a:r>
                    </a:p>
                  </a:txBody>
                  <a:tcPr marL="63817" marR="63817" marT="63817" marB="63817" anchor="ctr"/>
                </a:tc>
                <a:extLst>
                  <a:ext uri="{0D108BD9-81ED-4DB2-BD59-A6C34878D82A}">
                    <a16:rowId xmlns:a16="http://schemas.microsoft.com/office/drawing/2014/main" val="10000"/>
                  </a:ext>
                </a:extLst>
              </a:tr>
              <a:tr h="820420">
                <a:tc>
                  <a:txBody>
                    <a:bodyPr/>
                    <a:lstStyle/>
                    <a:p>
                      <a:pPr marL="0" indent="0" algn="ctr" fontAlgn="base">
                        <a:spcAft>
                          <a:spcPct val="0"/>
                        </a:spcAft>
                      </a:pPr>
                      <a:r>
                        <a:rPr sz="1800" b="1" i="0">
                          <a:solidFill>
                            <a:srgbClr val="273239"/>
                          </a:solidFill>
                          <a:latin typeface="Calibri" panose="020F0502020204030204" pitchFamily="34" charset="0"/>
                          <a:ea typeface="Nunito"/>
                          <a:cs typeface="Calibri" panose="020F0502020204030204" pitchFamily="34" charset="0"/>
                        </a:rPr>
                        <a:t>Working algorithm</a:t>
                      </a:r>
                    </a:p>
                  </a:txBody>
                  <a:tcPr marL="38100" marR="38100" marT="24870" marB="24870"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ECC is a cryptography technique that works just on a mathematical model of elliptic curves.</a:t>
                      </a:r>
                    </a:p>
                  </a:txBody>
                  <a:tcPr marL="63817" marR="63817" marT="89217" marB="89217"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RSA cryptography algorithm is primarily based on the prime factorization approach.</a:t>
                      </a:r>
                    </a:p>
                  </a:txBody>
                  <a:tcPr marL="63817" marR="63817" marT="89217" marB="89217" anchor="ctr"/>
                </a:tc>
                <a:extLst>
                  <a:ext uri="{0D108BD9-81ED-4DB2-BD59-A6C34878D82A}">
                    <a16:rowId xmlns:a16="http://schemas.microsoft.com/office/drawing/2014/main" val="10001"/>
                  </a:ext>
                </a:extLst>
              </a:tr>
              <a:tr h="819785">
                <a:tc>
                  <a:txBody>
                    <a:bodyPr/>
                    <a:lstStyle/>
                    <a:p>
                      <a:pPr marL="0" indent="0" algn="ctr" fontAlgn="base">
                        <a:spcAft>
                          <a:spcPct val="0"/>
                        </a:spcAft>
                      </a:pPr>
                      <a:r>
                        <a:rPr sz="1800" b="1" i="0">
                          <a:solidFill>
                            <a:srgbClr val="273239"/>
                          </a:solidFill>
                          <a:latin typeface="Calibri" panose="020F0502020204030204" pitchFamily="34" charset="0"/>
                          <a:ea typeface="Nunito"/>
                          <a:cs typeface="Calibri" panose="020F0502020204030204" pitchFamily="34" charset="0"/>
                        </a:rPr>
                        <a:t>Bandwidth savings</a:t>
                      </a:r>
                    </a:p>
                  </a:txBody>
                  <a:tcPr marL="38100" marR="38100" marT="24870" marB="24870"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ECC gives significant bandwidth savings over RSA.</a:t>
                      </a:r>
                    </a:p>
                  </a:txBody>
                  <a:tcPr marL="63817" marR="63817" marT="89217" marB="89217"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RSA provides much lesser bandwidth saving than ECC.</a:t>
                      </a:r>
                    </a:p>
                  </a:txBody>
                  <a:tcPr marL="63817" marR="63817" marT="89217" marB="89217" anchor="ctr"/>
                </a:tc>
                <a:extLst>
                  <a:ext uri="{0D108BD9-81ED-4DB2-BD59-A6C34878D82A}">
                    <a16:rowId xmlns:a16="http://schemas.microsoft.com/office/drawing/2014/main" val="10002"/>
                  </a:ext>
                </a:extLst>
              </a:tr>
              <a:tr h="726440">
                <a:tc>
                  <a:txBody>
                    <a:bodyPr/>
                    <a:lstStyle/>
                    <a:p>
                      <a:pPr marL="0" indent="0" algn="ctr" fontAlgn="base">
                        <a:spcAft>
                          <a:spcPct val="0"/>
                        </a:spcAft>
                      </a:pPr>
                      <a:r>
                        <a:rPr sz="1800" b="1" i="0">
                          <a:solidFill>
                            <a:srgbClr val="273239"/>
                          </a:solidFill>
                          <a:latin typeface="Calibri" panose="020F0502020204030204" pitchFamily="34" charset="0"/>
                          <a:ea typeface="Nunito"/>
                          <a:cs typeface="Calibri" panose="020F0502020204030204" pitchFamily="34" charset="0"/>
                        </a:rPr>
                        <a:t>Encryption process</a:t>
                      </a:r>
                    </a:p>
                  </a:txBody>
                  <a:tcPr marL="38100" marR="38100" marT="24870" marB="24870"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The encryption process takes less time in ECC.</a:t>
                      </a:r>
                    </a:p>
                  </a:txBody>
                  <a:tcPr marL="63817" marR="63817" marT="89217" marB="89217"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The encryption process takes more time in RSA.</a:t>
                      </a:r>
                    </a:p>
                  </a:txBody>
                  <a:tcPr marL="63817" marR="63817" marT="89217" marB="89217" anchor="ctr"/>
                </a:tc>
                <a:extLst>
                  <a:ext uri="{0D108BD9-81ED-4DB2-BD59-A6C34878D82A}">
                    <a16:rowId xmlns:a16="http://schemas.microsoft.com/office/drawing/2014/main" val="10003"/>
                  </a:ext>
                </a:extLst>
              </a:tr>
              <a:tr h="608965">
                <a:tc>
                  <a:txBody>
                    <a:bodyPr/>
                    <a:lstStyle/>
                    <a:p>
                      <a:pPr marL="0" indent="0" algn="ctr" fontAlgn="base">
                        <a:spcAft>
                          <a:spcPct val="0"/>
                        </a:spcAft>
                      </a:pPr>
                      <a:r>
                        <a:rPr sz="1800" b="1" i="0">
                          <a:solidFill>
                            <a:srgbClr val="273239"/>
                          </a:solidFill>
                          <a:latin typeface="Calibri" panose="020F0502020204030204" pitchFamily="34" charset="0"/>
                          <a:ea typeface="Nunito"/>
                          <a:cs typeface="Calibri" panose="020F0502020204030204" pitchFamily="34" charset="0"/>
                        </a:rPr>
                        <a:t>Decryption process</a:t>
                      </a:r>
                    </a:p>
                  </a:txBody>
                  <a:tcPr marL="38100" marR="38100" marT="24870" marB="24870"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The decryption process takes more time.</a:t>
                      </a:r>
                    </a:p>
                  </a:txBody>
                  <a:tcPr marL="63817" marR="63817" marT="89217" marB="89217"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Decryption is faster than ECC.</a:t>
                      </a:r>
                    </a:p>
                  </a:txBody>
                  <a:tcPr marL="63817" marR="63817" marT="89217" marB="89217" anchor="ctr"/>
                </a:tc>
                <a:extLst>
                  <a:ext uri="{0D108BD9-81ED-4DB2-BD59-A6C34878D82A}">
                    <a16:rowId xmlns:a16="http://schemas.microsoft.com/office/drawing/2014/main" val="10004"/>
                  </a:ext>
                </a:extLst>
              </a:tr>
              <a:tr h="820420">
                <a:tc>
                  <a:txBody>
                    <a:bodyPr/>
                    <a:lstStyle/>
                    <a:p>
                      <a:pPr marL="0" indent="0" algn="ctr" fontAlgn="base">
                        <a:spcAft>
                          <a:spcPct val="0"/>
                        </a:spcAft>
                      </a:pPr>
                      <a:r>
                        <a:rPr sz="1800" b="1" i="0">
                          <a:solidFill>
                            <a:srgbClr val="273239"/>
                          </a:solidFill>
                          <a:latin typeface="Calibri" panose="020F0502020204030204" pitchFamily="34" charset="0"/>
                          <a:ea typeface="Nunito"/>
                          <a:cs typeface="Calibri" panose="020F0502020204030204" pitchFamily="34" charset="0"/>
                        </a:rPr>
                        <a:t>Security</a:t>
                      </a:r>
                    </a:p>
                  </a:txBody>
                  <a:tcPr marL="38100" marR="38100" marT="24870" marB="24870"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ECC is much safer than RSA and is currently in the process of adapting.</a:t>
                      </a:r>
                    </a:p>
                  </a:txBody>
                  <a:tcPr marL="63817" marR="63817" marT="89217" marB="89217" anchor="ctr"/>
                </a:tc>
                <a:tc>
                  <a:txBody>
                    <a:bodyPr/>
                    <a:lstStyle/>
                    <a:p>
                      <a:pPr marL="0" indent="0" algn="l" fontAlgn="ctr">
                        <a:spcAft>
                          <a:spcPct val="0"/>
                        </a:spcAft>
                      </a:pPr>
                      <a:r>
                        <a:rPr sz="1800" b="0" i="0">
                          <a:solidFill>
                            <a:srgbClr val="273239"/>
                          </a:solidFill>
                          <a:latin typeface="Calibri" panose="020F0502020204030204" pitchFamily="34" charset="0"/>
                          <a:ea typeface="Nunito"/>
                          <a:cs typeface="Calibri" panose="020F0502020204030204" pitchFamily="34" charset="0"/>
                        </a:rPr>
                        <a:t> RSA is heading toward the end of its tenure.</a:t>
                      </a:r>
                    </a:p>
                  </a:txBody>
                  <a:tcPr marL="63817" marR="63817" marT="89217" marB="89217"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t>ECC offers several benefits compared to RSA:</a:t>
            </a:r>
          </a:p>
          <a:p>
            <a:endParaRPr lang="en-US"/>
          </a:p>
          <a:p>
            <a:r>
              <a:rPr lang="en-US"/>
              <a:t>It operates on devices with low CPU and memory resources.</a:t>
            </a:r>
          </a:p>
          <a:p>
            <a:r>
              <a:rPr lang="en-US"/>
              <a:t>It encrypts and decrypts faster.</a:t>
            </a:r>
          </a:p>
          <a:p>
            <a:r>
              <a:rPr lang="en-US"/>
              <a:t>Larger key sizes can be used without significantly increasing the key size or CPU and memory requirements.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Elliptic Curve Cryptography </a:t>
            </a:r>
            <a:r>
              <a:rPr lang="en-IN" altLang="en-US"/>
              <a:t>Applications</a:t>
            </a:r>
          </a:p>
        </p:txBody>
      </p:sp>
      <p:sp>
        <p:nvSpPr>
          <p:cNvPr id="3" name="Content Placeholder 2"/>
          <p:cNvSpPr>
            <a:spLocks noGrp="1"/>
          </p:cNvSpPr>
          <p:nvPr>
            <p:ph idx="1"/>
          </p:nvPr>
        </p:nvSpPr>
        <p:spPr>
          <a:xfrm>
            <a:off x="533400" y="1371600"/>
            <a:ext cx="10972800" cy="4525963"/>
          </a:xfrm>
        </p:spPr>
        <p:txBody>
          <a:bodyPr/>
          <a:lstStyle/>
          <a:p>
            <a:pPr algn="just"/>
            <a:r>
              <a:rPr lang="en-US" sz="2400" b="1" dirty="0">
                <a:solidFill>
                  <a:srgbClr val="00B050"/>
                </a:solidFill>
              </a:rPr>
              <a:t> Elliptic Curve Digital Signature Algorithm (ECDSA)</a:t>
            </a:r>
            <a:r>
              <a:rPr lang="en-US" sz="2400" dirty="0"/>
              <a:t>: ECC is one of the most widely utilized digital signature implementation approaches in cryptocurrencies. In order to sign transactions, both Bitcoin and Ethereum use the field inverse multiplication, but also arithmetic multiplication, inverse function, and modular operation.</a:t>
            </a:r>
          </a:p>
          <a:p>
            <a:pPr algn="just"/>
            <a:r>
              <a:rPr lang="en-US" sz="2400" b="1" dirty="0">
                <a:solidFill>
                  <a:srgbClr val="00B050"/>
                </a:solidFill>
              </a:rPr>
              <a:t>Online application:</a:t>
            </a:r>
            <a:r>
              <a:rPr lang="en-US" sz="2400" dirty="0"/>
              <a:t> Moreover, ECC is not limited to cryptocurrencies. It is an encryption standard that will be utilized by </a:t>
            </a:r>
            <a:r>
              <a:rPr lang="en-US" sz="2400" dirty="0">
                <a:solidFill>
                  <a:srgbClr val="FF0000"/>
                </a:solidFill>
              </a:rPr>
              <a:t>most online apps </a:t>
            </a:r>
            <a:r>
              <a:rPr lang="en-US" sz="2400" dirty="0"/>
              <a:t>in the future due to its reduced key size and efficiency. Most commonly </a:t>
            </a:r>
            <a:r>
              <a:rPr lang="en-US" sz="2400" dirty="0">
                <a:solidFill>
                  <a:srgbClr val="FF0000"/>
                </a:solidFill>
              </a:rPr>
              <a:t>used in cryptocurrencies </a:t>
            </a:r>
            <a:r>
              <a:rPr lang="en-US" sz="2400" dirty="0"/>
              <a:t>such as Bitcoin and Ethereum, along with single-way encryption of emails, data, and software.</a:t>
            </a:r>
          </a:p>
          <a:p>
            <a:pPr algn="just"/>
            <a:r>
              <a:rPr lang="en-US" sz="2400" b="1" dirty="0">
                <a:solidFill>
                  <a:srgbClr val="00B050"/>
                </a:solidFill>
              </a:rPr>
              <a:t>Blockchain application: </a:t>
            </a:r>
            <a:r>
              <a:rPr lang="en-US" sz="2400" dirty="0"/>
              <a:t>The cryptocurrency Bitcoin employs elliptic curve cryptography.   Ethereum 2.0 makes heavy use of elliptic curve pairs with BLS signatures, as stated in the IETF proposed BLS specification, to cryptographically ensure that a specific Eth2 validator has really verified a specific transaction.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Elliptic Curve Cryptography (ECC)</a:t>
            </a:r>
            <a:r>
              <a:rPr lang="en-IN" altLang="en-US">
                <a:sym typeface="+mn-ea"/>
              </a:rPr>
              <a:t> used for</a:t>
            </a:r>
          </a:p>
        </p:txBody>
      </p:sp>
      <p:sp>
        <p:nvSpPr>
          <p:cNvPr id="3" name="Content Placeholder 2"/>
          <p:cNvSpPr>
            <a:spLocks noGrp="1"/>
          </p:cNvSpPr>
          <p:nvPr>
            <p:ph idx="1"/>
          </p:nvPr>
        </p:nvSpPr>
        <p:spPr/>
        <p:txBody>
          <a:bodyPr/>
          <a:lstStyle/>
          <a:p>
            <a:pPr algn="just"/>
            <a:r>
              <a:rPr lang="en-US" sz="2400" dirty="0"/>
              <a:t>ECC is frequently discussed in the context of the Rivest–Shamir–Adleman (RSA) cryptographic algorithm. RSA achieves one-way encryption of things like emails, data, and software using prime factorization.</a:t>
            </a:r>
          </a:p>
          <a:p>
            <a:pPr algn="just"/>
            <a:r>
              <a:rPr lang="en-US" sz="2400" dirty="0"/>
              <a:t>One example is online banking and payments. When you make an online purchase with your debit or credit card, your information is often encrypted using ECC before it’s sent over the internet. </a:t>
            </a:r>
          </a:p>
          <a:p>
            <a:pPr algn="just"/>
            <a:r>
              <a:rPr lang="en-US" sz="2400" dirty="0"/>
              <a:t>Pretty Good Privacy (PGP) is a popular</a:t>
            </a:r>
            <a:r>
              <a:rPr lang="en-US" sz="2400" dirty="0">
                <a:hlinkClick r:id="rId2"/>
              </a:rPr>
              <a:t> email encryption software</a:t>
            </a:r>
            <a:r>
              <a:rPr lang="en-US" sz="2400" dirty="0"/>
              <a:t> that can leverage ECC to protect your emails from being read by anyone other than the intended recipient.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vert="horz" wrap="square" lIns="121920" tIns="60960" rIns="121920" bIns="60960" anchor="ctr" anchorCtr="0"/>
          <a:lstStyle/>
          <a:p>
            <a:pPr eaLnBrk="1" hangingPunct="1"/>
            <a:r>
              <a:rPr lang="en-US" altLang="en-US" dirty="0"/>
              <a:t>THANK YOU</a:t>
            </a:r>
          </a:p>
        </p:txBody>
      </p:sp>
      <p:sp>
        <p:nvSpPr>
          <p:cNvPr id="3" name="Content Placeholder 2"/>
          <p:cNvSpPr>
            <a:spLocks noGrp="1"/>
          </p:cNvSpPr>
          <p:nvPr>
            <p:ph idx="1"/>
          </p:nvPr>
        </p:nvSpPr>
        <p:spPr>
          <a:xfrm>
            <a:off x="3149600" y="2311400"/>
            <a:ext cx="6502400" cy="2641600"/>
          </a:xfrm>
        </p:spPr>
        <p:txBody>
          <a:bodyPr vert="horz" wrap="square" lIns="121920" tIns="60960" rIns="121920" bIns="60960" anchor="t" anchorCtr="0"/>
          <a:lstStyle/>
          <a:p>
            <a:pPr eaLnBrk="1" hangingPunct="1">
              <a:buNone/>
            </a:pPr>
            <a:endParaRPr lang="en-US" altLang="en-US" sz="4800" dirty="0"/>
          </a:p>
        </p:txBody>
      </p:sp>
      <p:sp>
        <p:nvSpPr>
          <p:cNvPr id="18436" name="Slide Number Placeholder 3"/>
          <p:cNvSpPr txBox="1">
            <a:spLocks noGrp="1"/>
          </p:cNvSpPr>
          <p:nvPr>
            <p:ph type="sldNum" sz="quarter" idx="12"/>
          </p:nvPr>
        </p:nvSpPr>
        <p:spPr>
          <a:noFill/>
          <a:ln>
            <a:noFill/>
          </a:ln>
        </p:spPr>
        <p:txBody>
          <a:bodyPr anchor="ctr" anchorCtr="0"/>
          <a:lstStyle/>
          <a:p>
            <a:pPr marL="0" indent="0" algn="r">
              <a:spcBef>
                <a:spcPct val="0"/>
              </a:spcBef>
              <a:buFontTx/>
              <a:buNone/>
            </a:pPr>
            <a:fld id="{9A0DB2DC-4C9A-4742-B13C-FB6460FD3503}" type="slidenum">
              <a:rPr lang="en-US" altLang="en-US" sz="1600" dirty="0">
                <a:solidFill>
                  <a:srgbClr val="898989"/>
                </a:solidFill>
                <a:latin typeface="Times New Roman" panose="02020603050405020304" pitchFamily="18" charset="0"/>
              </a:rPr>
              <a:t>38</a:t>
            </a:fld>
            <a:endParaRPr lang="en-US" altLang="en-US" sz="1600" dirty="0">
              <a:solidFill>
                <a:srgbClr val="898989"/>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6*337"/>
  <p:tag name="TABLE_ENDDRAG_RECT" val="48*126*876*33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3334</Words>
  <Application>Microsoft Office PowerPoint</Application>
  <PresentationFormat>Widescreen</PresentationFormat>
  <Paragraphs>203</Paragraphs>
  <Slides>38</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38</vt:i4>
      </vt:variant>
    </vt:vector>
  </HeadingPairs>
  <TitlesOfParts>
    <vt:vector size="43" baseType="lpstr">
      <vt:lpstr>Arial</vt:lpstr>
      <vt:lpstr>Calibri</vt:lpstr>
      <vt:lpstr>Times New Roman</vt:lpstr>
      <vt:lpstr>Office Theme</vt:lpstr>
      <vt:lpstr>1_Office Theme</vt:lpstr>
      <vt:lpstr> Cyber Security Course  Unit 3: Asymmetric Ciphers  Lecture 4- Diffie-Hellman Key Exchange Algorithm   </vt:lpstr>
      <vt:lpstr>Introduction to Diffie-Hellman Key Exchange Algorithm</vt:lpstr>
      <vt:lpstr>Diffie-Hellman Key Exchange Algorithm for Key Generation</vt:lpstr>
      <vt:lpstr>DH Algorithm</vt:lpstr>
      <vt:lpstr>Diffie Hellman Algorithm</vt:lpstr>
      <vt:lpstr>Diffie Hellman Algorithm</vt:lpstr>
      <vt:lpstr>Example 1</vt:lpstr>
      <vt:lpstr>Example</vt:lpstr>
      <vt:lpstr>Example 2: </vt:lpstr>
      <vt:lpstr>Solution 2</vt:lpstr>
      <vt:lpstr>Uses of Diffie Hellman Algorithm</vt:lpstr>
      <vt:lpstr>Advantages of the Diffie Hellman Algorithm</vt:lpstr>
      <vt:lpstr>Disadvantages of the Diffie Hellman Algorithm</vt:lpstr>
      <vt:lpstr>ElGamal Encryption Algorithm</vt:lpstr>
      <vt:lpstr>ElGamal Encryption Algorithm</vt:lpstr>
      <vt:lpstr>PowerPoint Presentation</vt:lpstr>
      <vt:lpstr>Components of the ElGamal Algorithm</vt:lpstr>
      <vt:lpstr>Components of the ElGamal Algorithm</vt:lpstr>
      <vt:lpstr>Components of the ElGamal Algorithm</vt:lpstr>
      <vt:lpstr>PowerPoint Presentation</vt:lpstr>
      <vt:lpstr>PowerPoint Presentation</vt:lpstr>
      <vt:lpstr>Applications of ElGamal Encryption Algorithm</vt:lpstr>
      <vt:lpstr>Advantages</vt:lpstr>
      <vt:lpstr>Disadvantages</vt:lpstr>
      <vt:lpstr>Elliptic Curve Cryptography</vt:lpstr>
      <vt:lpstr>History of Elliptic Curve Cryptography</vt:lpstr>
      <vt:lpstr>PowerPoint Presentation</vt:lpstr>
      <vt:lpstr>PowerPoint Presentation</vt:lpstr>
      <vt:lpstr>What are the benefits of ECC?</vt:lpstr>
      <vt:lpstr>How does ECC work?</vt:lpstr>
      <vt:lpstr>PowerPoint Presentation</vt:lpstr>
      <vt:lpstr>PowerPoint Presentation</vt:lpstr>
      <vt:lpstr>Elliptic Curve Cryptography</vt:lpstr>
      <vt:lpstr>Below is the difference between ECC and RSA: </vt:lpstr>
      <vt:lpstr>PowerPoint Presentation</vt:lpstr>
      <vt:lpstr>Elliptic Curve Cryptography Applications</vt:lpstr>
      <vt:lpstr>Elliptic Curve Cryptography (ECC) used for</vt:lpstr>
      <vt:lpstr>THANK YOU</vt:lpstr>
    </vt:vector>
  </TitlesOfParts>
  <Company>BYU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Arrays</dc:title>
  <dc:creator>Robert P. Burton</dc:creator>
  <cp:lastModifiedBy>PRRANJALI JADHAV</cp:lastModifiedBy>
  <cp:revision>364</cp:revision>
  <dcterms:created xsi:type="dcterms:W3CDTF">2004-09-16T16:31:00Z</dcterms:created>
  <dcterms:modified xsi:type="dcterms:W3CDTF">2025-08-11T10:32:51Z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5FB8E015B63847C4A73ECFF745EF03D3_12</vt:lpwstr>
  </property>
  <property fmtid="{D5CDD505-2E9C-101B-9397-08002B2CF9AE}" pid="3" name="KSOProductBuildVer">
    <vt:lpwstr>1033-12.2.0.17119</vt:lpwstr>
  </property>
</Properties>
</file>