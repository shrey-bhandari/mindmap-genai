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3" r:id="rId2"/>
    <p:sldId id="327" r:id="rId3"/>
    <p:sldId id="328" r:id="rId4"/>
    <p:sldId id="329" r:id="rId5"/>
    <p:sldId id="330" r:id="rId6"/>
    <p:sldId id="331" r:id="rId7"/>
    <p:sldId id="332" r:id="rId8"/>
    <p:sldId id="306" r:id="rId9"/>
    <p:sldId id="307" r:id="rId10"/>
    <p:sldId id="308" r:id="rId11"/>
    <p:sldId id="309" r:id="rId12"/>
    <p:sldId id="336" r:id="rId13"/>
    <p:sldId id="337" r:id="rId14"/>
    <p:sldId id="338" r:id="rId15"/>
    <p:sldId id="339" r:id="rId16"/>
    <p:sldId id="340" r:id="rId17"/>
    <p:sldId id="341" r:id="rId18"/>
    <p:sldId id="322" r:id="rId19"/>
    <p:sldId id="323" r:id="rId20"/>
    <p:sldId id="324" r:id="rId21"/>
    <p:sldId id="334" r:id="rId22"/>
    <p:sldId id="335" r:id="rId23"/>
    <p:sldId id="325" r:id="rId24"/>
    <p:sldId id="342" r:id="rId25"/>
    <p:sldId id="343" r:id="rId26"/>
    <p:sldId id="34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317D5-2BB3-9C1A-AE67-D8F217617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46166-CE1F-4FF9-502F-3EEC58DCE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A74D-E8C8-A40C-60F8-B60FAAAD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275A-6061-432F-AC8D-C54AA2DEF8B1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2D361-1AFF-A829-189F-7C41D8416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D5589-55E8-7AC1-A7FB-160CDA31D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F3A2-1BE9-4684-9342-CC0E914E2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244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64E11-DC78-9824-733C-C1C70170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34213-3E20-D522-3B76-2C01CD486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129E7-8791-D3FD-9CAC-E9BB9717A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275A-6061-432F-AC8D-C54AA2DEF8B1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51D74-F5AD-8045-2189-9A2F1796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05EDF-1277-4538-40D9-21DFA333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F3A2-1BE9-4684-9342-CC0E914E2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135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AC91C-2A31-9858-4853-156140DC9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C59B2-537D-9E80-81E6-6F8C4DF20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55C45-CD39-1CCE-3DF2-C771BCE6C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275A-6061-432F-AC8D-C54AA2DEF8B1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C1FFB-7F74-96CC-C14B-44DAB21E7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7D091-CC9B-2641-644F-9911405EA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F3A2-1BE9-4684-9342-CC0E914E2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3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C9D4-C1C1-6D27-79AC-0F160BEA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A8054-2DA2-8662-52F0-950D6786D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A5FE5-D119-B686-A869-69BA06881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7DC21-DF0E-6AF7-0B2D-FE6736DDA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275A-6061-432F-AC8D-C54AA2DEF8B1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C7AF6-8866-0296-4DE9-C8A55EC6E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63B55-8E50-6CEC-F7D9-6F7A09A1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F3A2-1BE9-4684-9342-CC0E914E2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2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06DB-D716-A804-C33C-D841487E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67CB4-6BEA-3549-2D9B-B76EEF5A1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0EE5F-9694-4729-F5B5-E876F4ADB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69444D-948C-C1B5-9AA0-6306C8270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F70D0-E68D-767A-BDA8-6537F4303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219AB3-0827-0F51-E9DD-BCDF767E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275A-6061-432F-AC8D-C54AA2DEF8B1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5732A-DD51-467D-EE84-A18E60A0A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C5A2F-D1F2-CE0A-EAD5-B41DAF27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F3A2-1BE9-4684-9342-CC0E914E2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1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23D0-67D2-1C16-748A-EE9B1311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5B4AE-0A8C-03A5-1F3B-7C5E7DFF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275A-6061-432F-AC8D-C54AA2DEF8B1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F5B8A-D3F2-AEDC-5CE6-59CD9403B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D6ED9-4566-61CB-7C91-C036ECC8C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F3A2-1BE9-4684-9342-CC0E914E2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00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2D713C-BA7C-DDD8-3847-B8DE784D6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275A-6061-432F-AC8D-C54AA2DEF8B1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0956C-7AF0-3EAA-F027-B41B8FCC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C4FB6-7E36-006B-344B-27ECF006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F3A2-1BE9-4684-9342-CC0E914E2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026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4461-DD18-B51E-C4ED-1A5F5CEB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5EEEB-96EA-401B-1320-1EB92305D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33842-249B-6C3F-1401-73AB95A8C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BA09B-5842-3A08-DA52-3F2ACB37C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275A-6061-432F-AC8D-C54AA2DEF8B1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CF512-AE3E-F796-88EC-8E2915F48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BC71A-6B7C-15E5-4F7A-F6984F65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F3A2-1BE9-4684-9342-CC0E914E2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96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8F425-5115-2375-144A-09A19E0D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79A1C3-E458-211C-34A9-7425590E0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DEA20-4439-DB48-002C-90D15BD2E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ECD43-30B7-6686-4FF2-D39AB7D45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275A-6061-432F-AC8D-C54AA2DEF8B1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91E77-7B77-7E3B-4484-F1C6BBB6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D5019-1C44-5F11-0B92-B1455B28A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F3A2-1BE9-4684-9342-CC0E914E2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50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32F03-9A46-9262-2541-22C5FD5C7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B9276-DDC8-7411-6B13-C5B896784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AC296-2A9E-1486-1289-EF2877747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275A-6061-432F-AC8D-C54AA2DEF8B1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18A8E-D56F-5EFA-CC5D-46968847D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0B07A-D2E4-8CBE-3FCC-0AC86170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F3A2-1BE9-4684-9342-CC0E914E2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781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7EDBAB-B79A-7F4F-66B2-964EBF265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FD881-69CD-4D8D-0A17-60AEAF1A6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7B434-1397-BA42-7872-D280B3E3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275A-6061-432F-AC8D-C54AA2DEF8B1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8E562-A20E-BA97-7A37-0948F4C01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8BDF5-BB3B-AF0A-2A46-3CE5AA60F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0F3A2-1BE9-4684-9342-CC0E914E2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09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8CA74-A7D3-2841-723A-CA7AC6B3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17825-EE29-7EA4-6ADA-4794D69E0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333F1-3681-9120-24EE-7B510540F6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1275A-6061-432F-AC8D-C54AA2DEF8B1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5D77C-74B5-703F-79FB-4A1E6A1A4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21B1-10AC-70C0-66D0-EBD4FF264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0F3A2-1BE9-4684-9342-CC0E914E2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36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27564" y="3338491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Cyber Security </a:t>
            </a:r>
            <a:r>
              <a:rPr lang="en-US" b="1" dirty="0">
                <a:solidFill>
                  <a:schemeClr val="accent2"/>
                </a:solidFill>
              </a:rPr>
              <a:t>(CS) </a:t>
            </a:r>
            <a:br>
              <a:rPr lang="en-US" b="1" dirty="0">
                <a:solidFill>
                  <a:schemeClr val="accent2"/>
                </a:solidFill>
              </a:rPr>
            </a:br>
            <a:r>
              <a:rPr lang="en-US" dirty="0"/>
              <a:t>Unit 3: </a:t>
            </a:r>
            <a:r>
              <a:rPr lang="en-IN" dirty="0"/>
              <a:t>Asymmetric Ciphers</a:t>
            </a:r>
            <a:br>
              <a:rPr lang="en-IN" dirty="0"/>
            </a:br>
            <a:br>
              <a:rPr lang="en-IN" dirty="0"/>
            </a:br>
            <a:r>
              <a:rPr lang="en-IN" sz="2700" dirty="0"/>
              <a:t>Lecture -</a:t>
            </a:r>
            <a:r>
              <a:rPr lang="en-US" altLang="en-IN" sz="2700" dirty="0"/>
              <a:t>1</a:t>
            </a:r>
            <a:r>
              <a:rPr lang="en-IN" sz="2700" dirty="0"/>
              <a:t>: </a:t>
            </a:r>
            <a:r>
              <a:rPr lang="en-US" sz="2700" dirty="0"/>
              <a:t>Number Theory, Prime Numbers, Fermat’s and Euler’s Theorems, Testing for Primality, The Chinese Remainder Theorem</a:t>
            </a:r>
            <a:br>
              <a:rPr lang="en-US" sz="2700" dirty="0"/>
            </a:br>
            <a:endParaRPr lang="en-US" sz="2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07182" y="5313218"/>
            <a:ext cx="64008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By Ms </a:t>
            </a:r>
            <a:r>
              <a:rPr lang="en-US" dirty="0" err="1"/>
              <a:t>Prranjali</a:t>
            </a:r>
            <a:r>
              <a:rPr lang="en-US" dirty="0"/>
              <a:t> </a:t>
            </a:r>
            <a:r>
              <a:rPr lang="en-US" dirty="0" err="1"/>
              <a:t>Jadhav</a:t>
            </a:r>
            <a:endParaRPr lang="en-US" dirty="0"/>
          </a:p>
          <a:p>
            <a:pPr>
              <a:defRPr/>
            </a:pPr>
            <a:r>
              <a:rPr lang="en-US" dirty="0"/>
              <a:t>AIDS Dept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344018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6998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Fermat’s</a:t>
            </a:r>
            <a:r>
              <a:rPr spc="-155" dirty="0"/>
              <a:t> </a:t>
            </a:r>
            <a:r>
              <a:rPr dirty="0"/>
              <a:t>Little</a:t>
            </a:r>
            <a:r>
              <a:rPr spc="-125" dirty="0"/>
              <a:t> </a:t>
            </a:r>
            <a:r>
              <a:rPr spc="-10" dirty="0"/>
              <a:t>Theorem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4199" y="97547"/>
            <a:ext cx="1506134" cy="17510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391379" y="1835675"/>
            <a:ext cx="1921510" cy="8160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5080" indent="-254635">
              <a:lnSpc>
                <a:spcPct val="1228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Pierre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Fermat (1601-1665)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4771" y="1311910"/>
            <a:ext cx="7902669" cy="226568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2200" b="1" dirty="0">
                <a:latin typeface="Calibri"/>
                <a:cs typeface="Calibri"/>
              </a:rPr>
              <a:t>Theorem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3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</a:t>
            </a:r>
            <a:r>
              <a:rPr sz="2200" i="1" dirty="0">
                <a:latin typeface="Calibri"/>
                <a:cs typeface="Calibri"/>
              </a:rPr>
              <a:t>Fermat’s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Little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orem)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</a:t>
            </a:r>
            <a:r>
              <a:rPr sz="2200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prime</a:t>
            </a:r>
            <a:r>
              <a:rPr lang="en-IN"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</a:t>
            </a:r>
            <a:r>
              <a:rPr sz="2200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integer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divisible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 </a:t>
            </a:r>
            <a:r>
              <a:rPr sz="2200" i="1" dirty="0">
                <a:latin typeface="Calibri"/>
                <a:cs typeface="Calibri"/>
              </a:rPr>
              <a:t>p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then</a:t>
            </a:r>
            <a:endParaRPr sz="2200" dirty="0">
              <a:latin typeface="Calibri"/>
              <a:cs typeface="Calibri"/>
            </a:endParaRPr>
          </a:p>
          <a:p>
            <a:pPr marL="228600"/>
            <a:r>
              <a:rPr sz="2200" i="1" spc="-10" dirty="0">
                <a:latin typeface="Calibri"/>
                <a:cs typeface="Calibri"/>
              </a:rPr>
              <a:t>a</a:t>
            </a:r>
            <a:r>
              <a:rPr sz="2175" i="1" spc="-15" baseline="24904" dirty="0">
                <a:latin typeface="Calibri"/>
                <a:cs typeface="Calibri"/>
              </a:rPr>
              <a:t>p-</a:t>
            </a:r>
            <a:r>
              <a:rPr sz="2175" baseline="24904" dirty="0">
                <a:latin typeface="Calibri"/>
                <a:cs typeface="Calibri"/>
              </a:rPr>
              <a:t>1</a:t>
            </a:r>
            <a:r>
              <a:rPr sz="2175" spc="225" baseline="249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≡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 (mod </a:t>
            </a:r>
            <a:r>
              <a:rPr sz="2200" i="1" spc="-25" dirty="0">
                <a:latin typeface="Calibri"/>
                <a:cs typeface="Calibri"/>
              </a:rPr>
              <a:t>p</a:t>
            </a:r>
            <a:r>
              <a:rPr sz="2200" spc="-2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38100">
              <a:spcBef>
                <a:spcPts val="900"/>
              </a:spcBef>
            </a:pPr>
            <a:r>
              <a:rPr sz="2200" spc="-10" dirty="0">
                <a:latin typeface="Calibri"/>
                <a:cs typeface="Calibri"/>
              </a:rPr>
              <a:t>Furthermore,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every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integer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</a:t>
            </a:r>
            <a:r>
              <a:rPr sz="2200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have</a:t>
            </a:r>
            <a:endParaRPr sz="2200" dirty="0">
              <a:latin typeface="Calibri"/>
              <a:cs typeface="Calibri"/>
            </a:endParaRPr>
          </a:p>
          <a:p>
            <a:pPr marL="228600">
              <a:spcBef>
                <a:spcPts val="5"/>
              </a:spcBef>
            </a:pPr>
            <a:r>
              <a:rPr sz="2200" i="1" dirty="0">
                <a:latin typeface="Calibri"/>
                <a:cs typeface="Calibri"/>
              </a:rPr>
              <a:t>a</a:t>
            </a:r>
            <a:r>
              <a:rPr sz="2175" i="1" baseline="24904" dirty="0">
                <a:latin typeface="Calibri"/>
                <a:cs typeface="Calibri"/>
              </a:rPr>
              <a:t>p</a:t>
            </a:r>
            <a:r>
              <a:rPr sz="2175" i="1" spc="217" baseline="249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≡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(mod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i="1" spc="-25" dirty="0">
                <a:latin typeface="Calibri"/>
                <a:cs typeface="Calibri"/>
              </a:rPr>
              <a:t>p</a:t>
            </a:r>
            <a:r>
              <a:rPr sz="2200" spc="-2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38100">
              <a:spcBef>
                <a:spcPts val="894"/>
              </a:spcBef>
            </a:pPr>
            <a:r>
              <a:rPr sz="2200" dirty="0">
                <a:latin typeface="Calibri"/>
                <a:cs typeface="Calibri"/>
              </a:rPr>
              <a:t>(</a:t>
            </a:r>
            <a:r>
              <a:rPr sz="2200" i="1" dirty="0">
                <a:latin typeface="Calibri"/>
                <a:cs typeface="Calibri"/>
              </a:rPr>
              <a:t>proof</a:t>
            </a:r>
            <a:r>
              <a:rPr sz="2200" i="1" spc="42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outlined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in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Exercise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spc="-25" dirty="0">
                <a:latin typeface="Calibri"/>
                <a:cs typeface="Calibri"/>
              </a:rPr>
              <a:t>19</a:t>
            </a:r>
            <a:r>
              <a:rPr sz="2200" spc="-2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4771" y="3667125"/>
            <a:ext cx="8819969" cy="2379980"/>
          </a:xfrm>
          <a:prstGeom prst="rect">
            <a:avLst/>
          </a:prstGeom>
          <a:ln w="15875">
            <a:solidFill>
              <a:schemeClr val="accent1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2200" spc="-10" dirty="0">
                <a:latin typeface="Calibri"/>
                <a:cs typeface="Calibri"/>
              </a:rPr>
              <a:t>Fermat’s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little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theorem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useful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computing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remainders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modulo</a:t>
            </a:r>
            <a:endParaRPr sz="2200" dirty="0">
              <a:latin typeface="Calibri"/>
              <a:cs typeface="Calibri"/>
            </a:endParaRPr>
          </a:p>
          <a:p>
            <a:pPr marL="38100"/>
            <a:r>
              <a:rPr sz="2200" i="1" dirty="0">
                <a:latin typeface="Calibri"/>
                <a:cs typeface="Calibri"/>
              </a:rPr>
              <a:t>p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large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powers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integers.</a:t>
            </a:r>
            <a:endParaRPr sz="2200" dirty="0">
              <a:latin typeface="Calibri"/>
              <a:cs typeface="Calibri"/>
            </a:endParaRPr>
          </a:p>
          <a:p>
            <a:pPr marL="38100">
              <a:spcBef>
                <a:spcPts val="900"/>
              </a:spcBef>
            </a:pPr>
            <a:r>
              <a:rPr sz="2200" b="1" dirty="0">
                <a:latin typeface="Calibri"/>
                <a:cs typeface="Calibri"/>
              </a:rPr>
              <a:t>Example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7</a:t>
            </a:r>
            <a:r>
              <a:rPr sz="2175" baseline="24904" dirty="0">
                <a:latin typeface="Calibri"/>
                <a:cs typeface="Calibri"/>
              </a:rPr>
              <a:t>222</a:t>
            </a:r>
            <a:r>
              <a:rPr sz="2175" spc="-75" baseline="2490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mod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11.</a:t>
            </a:r>
            <a:endParaRPr sz="2200" dirty="0">
              <a:latin typeface="Calibri"/>
              <a:cs typeface="Calibri"/>
            </a:endParaRPr>
          </a:p>
          <a:p>
            <a:pPr marL="38100">
              <a:spcBef>
                <a:spcPts val="900"/>
              </a:spcBef>
            </a:pPr>
            <a:r>
              <a:rPr sz="2200" dirty="0">
                <a:latin typeface="Calibri"/>
                <a:cs typeface="Calibri"/>
              </a:rPr>
              <a:t>By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Fermat’s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little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theorem,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7</a:t>
            </a:r>
            <a:r>
              <a:rPr sz="2175" baseline="24904" dirty="0">
                <a:latin typeface="Calibri"/>
                <a:cs typeface="Calibri"/>
              </a:rPr>
              <a:t>10</a:t>
            </a:r>
            <a:r>
              <a:rPr sz="2175" spc="-52" baseline="249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≡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(mod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11),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so</a:t>
            </a:r>
            <a:endParaRPr sz="2200" dirty="0">
              <a:latin typeface="Calibri"/>
              <a:cs typeface="Calibri"/>
            </a:endParaRPr>
          </a:p>
          <a:p>
            <a:pPr marL="38100"/>
            <a:r>
              <a:rPr sz="2200" dirty="0">
                <a:latin typeface="Calibri"/>
                <a:cs typeface="Calibri"/>
              </a:rPr>
              <a:t>(7</a:t>
            </a:r>
            <a:r>
              <a:rPr sz="2175" baseline="24904" dirty="0">
                <a:latin typeface="Calibri"/>
                <a:cs typeface="Calibri"/>
              </a:rPr>
              <a:t>10</a:t>
            </a:r>
            <a:r>
              <a:rPr sz="2175" spc="-52" baseline="249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175" i="1" baseline="24904" dirty="0">
                <a:latin typeface="Calibri"/>
                <a:cs typeface="Calibri"/>
              </a:rPr>
              <a:t>k</a:t>
            </a:r>
            <a:r>
              <a:rPr sz="2175" i="1" spc="-44" baseline="249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≡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(mod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11),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every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positive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integer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k</a:t>
            </a:r>
            <a:r>
              <a:rPr sz="2200" dirty="0">
                <a:latin typeface="Calibri"/>
                <a:cs typeface="Calibri"/>
              </a:rPr>
              <a:t>.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Therefore,</a:t>
            </a:r>
            <a:endParaRPr sz="2200" dirty="0">
              <a:latin typeface="Calibri"/>
              <a:cs typeface="Calibri"/>
            </a:endParaRPr>
          </a:p>
          <a:p>
            <a:pPr marL="1307465">
              <a:spcBef>
                <a:spcPts val="900"/>
              </a:spcBef>
              <a:tabLst>
                <a:tab pos="4326890" algn="l"/>
              </a:tabLst>
            </a:pPr>
            <a:r>
              <a:rPr sz="2200" dirty="0">
                <a:latin typeface="Calibri"/>
                <a:cs typeface="Calibri"/>
              </a:rPr>
              <a:t>7</a:t>
            </a:r>
            <a:r>
              <a:rPr sz="2175" baseline="24904" dirty="0">
                <a:latin typeface="Calibri"/>
                <a:cs typeface="Calibri"/>
              </a:rPr>
              <a:t>222</a:t>
            </a:r>
            <a:r>
              <a:rPr sz="2175" spc="-30" baseline="249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7</a:t>
            </a:r>
            <a:r>
              <a:rPr sz="2175" baseline="24904" dirty="0">
                <a:latin typeface="Calibri"/>
                <a:cs typeface="Calibri"/>
              </a:rPr>
              <a:t>22∙10</a:t>
            </a:r>
            <a:r>
              <a:rPr sz="2175" spc="-44" baseline="24904" dirty="0">
                <a:latin typeface="Calibri"/>
                <a:cs typeface="Calibri"/>
              </a:rPr>
              <a:t> </a:t>
            </a:r>
            <a:r>
              <a:rPr sz="2175" baseline="24904" dirty="0">
                <a:latin typeface="Calibri"/>
                <a:cs typeface="Calibri"/>
              </a:rPr>
              <a:t>+</a:t>
            </a:r>
            <a:r>
              <a:rPr sz="2175" spc="7" baseline="24904" dirty="0">
                <a:latin typeface="Calibri"/>
                <a:cs typeface="Calibri"/>
              </a:rPr>
              <a:t> </a:t>
            </a:r>
            <a:r>
              <a:rPr sz="2175" baseline="24904" dirty="0">
                <a:latin typeface="Calibri"/>
                <a:cs typeface="Calibri"/>
              </a:rPr>
              <a:t>2</a:t>
            </a:r>
            <a:r>
              <a:rPr sz="2175" spc="247" baseline="249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(7</a:t>
            </a:r>
            <a:r>
              <a:rPr sz="2175" baseline="24904" dirty="0">
                <a:latin typeface="Calibri"/>
                <a:cs typeface="Calibri"/>
              </a:rPr>
              <a:t>10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175" baseline="24904" dirty="0">
                <a:latin typeface="Calibri"/>
                <a:cs typeface="Calibri"/>
              </a:rPr>
              <a:t>22</a:t>
            </a:r>
            <a:r>
              <a:rPr sz="2200" dirty="0">
                <a:latin typeface="Calibri"/>
                <a:cs typeface="Calibri"/>
              </a:rPr>
              <a:t>7</a:t>
            </a:r>
            <a:r>
              <a:rPr sz="2175" baseline="24904" dirty="0">
                <a:latin typeface="Calibri"/>
                <a:cs typeface="Calibri"/>
              </a:rPr>
              <a:t>2</a:t>
            </a:r>
            <a:r>
              <a:rPr sz="2175" spc="202" baseline="24904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≡</a:t>
            </a:r>
            <a:r>
              <a:rPr sz="2200" dirty="0">
                <a:latin typeface="Calibri"/>
                <a:cs typeface="Calibri"/>
              </a:rPr>
              <a:t>	(1)</a:t>
            </a:r>
            <a:r>
              <a:rPr sz="2175" baseline="24904" dirty="0">
                <a:latin typeface="Calibri"/>
                <a:cs typeface="Calibri"/>
              </a:rPr>
              <a:t>22</a:t>
            </a:r>
            <a:r>
              <a:rPr sz="2175" spc="217" baseline="249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∙49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≡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(mod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11).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8713" y="0"/>
            <a:ext cx="11038115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02739" y="6191962"/>
            <a:ext cx="3150870" cy="672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algn="ctr">
              <a:lnSpc>
                <a:spcPts val="2300"/>
              </a:lnSpc>
            </a:pPr>
            <a:r>
              <a:rPr sz="2200" dirty="0">
                <a:latin typeface="Calibri"/>
                <a:cs typeface="Calibri"/>
              </a:rPr>
              <a:t>Hence, 7</a:t>
            </a:r>
            <a:r>
              <a:rPr sz="2175" baseline="24904" dirty="0">
                <a:latin typeface="Calibri"/>
                <a:cs typeface="Calibri"/>
              </a:rPr>
              <a:t>222</a:t>
            </a:r>
            <a:r>
              <a:rPr sz="2175" spc="-30" baseline="2490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mod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11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5.</a:t>
            </a:r>
            <a:endParaRPr sz="2200">
              <a:latin typeface="Calibri"/>
              <a:cs typeface="Calibri"/>
            </a:endParaRPr>
          </a:p>
          <a:p>
            <a:pPr marL="12700">
              <a:spcBef>
                <a:spcPts val="1895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2019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McGraw-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Hill</a:t>
            </a:r>
            <a:r>
              <a:rPr sz="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Education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453" y="2624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5857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Pseudoprimes</a:t>
            </a:r>
            <a:r>
              <a:rPr sz="1500" spc="-10" dirty="0"/>
              <a:t>1</a:t>
            </a:r>
            <a:r>
              <a:rPr spc="-10" dirty="0"/>
              <a:t>*</a:t>
            </a:r>
            <a:endParaRPr sz="1500" dirty="0"/>
          </a:p>
        </p:txBody>
      </p:sp>
      <p:sp>
        <p:nvSpPr>
          <p:cNvPr id="3" name="object 3"/>
          <p:cNvSpPr txBox="1"/>
          <p:nvPr/>
        </p:nvSpPr>
        <p:spPr>
          <a:xfrm>
            <a:off x="2034541" y="1156919"/>
            <a:ext cx="8353425" cy="49028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8100">
              <a:spcBef>
                <a:spcPts val="1295"/>
              </a:spcBef>
            </a:pPr>
            <a:r>
              <a:rPr sz="2400" dirty="0">
                <a:latin typeface="Calibri"/>
                <a:cs typeface="Calibri"/>
              </a:rPr>
              <a:t>By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Calibri"/>
                <a:cs typeface="Calibri"/>
              </a:rPr>
              <a:t>Fermat’s</a:t>
            </a:r>
            <a:r>
              <a:rPr sz="2400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little</a:t>
            </a:r>
            <a:r>
              <a:rPr sz="2400" spc="-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alibri"/>
                <a:cs typeface="Calibri"/>
              </a:rPr>
              <a:t>theorem</a:t>
            </a:r>
            <a:r>
              <a:rPr sz="2400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where</a:t>
            </a:r>
            <a:endParaRPr sz="2400" dirty="0">
              <a:latin typeface="Calibri"/>
              <a:cs typeface="Calibri"/>
            </a:endParaRPr>
          </a:p>
          <a:p>
            <a:pPr marL="3220720">
              <a:spcBef>
                <a:spcPts val="1200"/>
              </a:spcBef>
            </a:pPr>
            <a:r>
              <a:rPr sz="2400" spc="-10" dirty="0">
                <a:latin typeface="Calibri"/>
                <a:cs typeface="Calibri"/>
              </a:rPr>
              <a:t>2</a:t>
            </a:r>
            <a:r>
              <a:rPr sz="2400" i="1" spc="-15" baseline="24305" dirty="0">
                <a:latin typeface="Calibri"/>
                <a:cs typeface="Calibri"/>
              </a:rPr>
              <a:t>n</a:t>
            </a:r>
            <a:r>
              <a:rPr sz="2400" spc="-15" baseline="24305" dirty="0">
                <a:latin typeface="Calibri"/>
                <a:cs typeface="Calibri"/>
              </a:rPr>
              <a:t>-</a:t>
            </a:r>
            <a:r>
              <a:rPr sz="2400" baseline="24305" dirty="0">
                <a:latin typeface="Calibri"/>
                <a:cs typeface="Calibri"/>
              </a:rPr>
              <a:t>1</a:t>
            </a:r>
            <a:r>
              <a:rPr sz="2400" spc="254" baseline="24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≡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(mod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n</a:t>
            </a:r>
            <a:r>
              <a:rPr sz="2400" spc="-25" dirty="0">
                <a:latin typeface="Calibri"/>
                <a:cs typeface="Calibri"/>
              </a:rPr>
              <a:t>).</a:t>
            </a:r>
            <a:endParaRPr sz="2400" dirty="0">
              <a:latin typeface="Calibri"/>
              <a:cs typeface="Calibri"/>
            </a:endParaRPr>
          </a:p>
          <a:p>
            <a:pPr marL="38100" marR="30480">
              <a:spcBef>
                <a:spcPts val="1205"/>
              </a:spcBef>
            </a:pPr>
            <a:r>
              <a:rPr sz="2400" dirty="0">
                <a:latin typeface="Calibri"/>
                <a:cs typeface="Calibri"/>
              </a:rPr>
              <a:t>But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congruence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holds,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Composite integers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2</a:t>
            </a:r>
            <a:r>
              <a:rPr sz="2400" i="1" spc="-15" baseline="24305" dirty="0">
                <a:latin typeface="Calibri"/>
                <a:cs typeface="Calibri"/>
              </a:rPr>
              <a:t>n</a:t>
            </a:r>
            <a:r>
              <a:rPr sz="2400" spc="-15" baseline="24305" dirty="0">
                <a:latin typeface="Calibri"/>
                <a:cs typeface="Calibri"/>
              </a:rPr>
              <a:t>-</a:t>
            </a:r>
            <a:r>
              <a:rPr sz="2400" baseline="24305" dirty="0">
                <a:latin typeface="Calibri"/>
                <a:cs typeface="Calibri"/>
              </a:rPr>
              <a:t>1</a:t>
            </a:r>
            <a:r>
              <a:rPr sz="2400" spc="225" baseline="24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≡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(mod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pseudoprimes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2.</a:t>
            </a:r>
            <a:endParaRPr sz="2400" dirty="0">
              <a:latin typeface="Calibri"/>
              <a:cs typeface="Calibri"/>
            </a:endParaRPr>
          </a:p>
          <a:p>
            <a:pPr marL="152400" marR="1205230" indent="-114300">
              <a:lnSpc>
                <a:spcPct val="141700"/>
              </a:lnSpc>
            </a:pPr>
            <a:r>
              <a:rPr sz="2400" b="1" dirty="0">
                <a:latin typeface="Calibri"/>
                <a:cs typeface="Calibri"/>
              </a:rPr>
              <a:t>Example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341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pseudoprime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2. </a:t>
            </a:r>
            <a:r>
              <a:rPr sz="2400" dirty="0">
                <a:latin typeface="Calibri"/>
                <a:cs typeface="Calibri"/>
              </a:rPr>
              <a:t>341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11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∙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31</a:t>
            </a:r>
            <a:endParaRPr sz="2400" dirty="0">
              <a:latin typeface="Calibri"/>
              <a:cs typeface="Calibri"/>
            </a:endParaRPr>
          </a:p>
          <a:p>
            <a:pPr marL="152400">
              <a:spcBef>
                <a:spcPts val="1200"/>
              </a:spcBef>
            </a:pPr>
            <a:r>
              <a:rPr sz="2400" dirty="0">
                <a:latin typeface="Calibri"/>
                <a:cs typeface="Calibri"/>
              </a:rPr>
              <a:t>2</a:t>
            </a:r>
            <a:r>
              <a:rPr sz="2400" baseline="24305" dirty="0">
                <a:latin typeface="Calibri"/>
                <a:cs typeface="Calibri"/>
              </a:rPr>
              <a:t>340</a:t>
            </a:r>
            <a:r>
              <a:rPr sz="2400" spc="240" baseline="24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≡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(mod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341)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i="1" dirty="0">
                <a:latin typeface="Calibri"/>
                <a:cs typeface="Calibri"/>
              </a:rPr>
              <a:t>see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in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Exercise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37)</a:t>
            </a:r>
            <a:endParaRPr sz="2400" dirty="0">
              <a:latin typeface="Calibri"/>
              <a:cs typeface="Calibri"/>
            </a:endParaRPr>
          </a:p>
          <a:p>
            <a:pPr marL="38100">
              <a:spcBef>
                <a:spcPts val="1200"/>
              </a:spcBef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replace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≥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2.</a:t>
            </a:r>
            <a:endParaRPr sz="2400" dirty="0">
              <a:latin typeface="Calibri"/>
              <a:cs typeface="Calibri"/>
            </a:endParaRPr>
          </a:p>
          <a:p>
            <a:pPr marL="38100">
              <a:spcBef>
                <a:spcPts val="1200"/>
              </a:spcBef>
            </a:pPr>
            <a:r>
              <a:rPr sz="2400" b="1" dirty="0">
                <a:latin typeface="Calibri"/>
                <a:cs typeface="Calibri"/>
              </a:rPr>
              <a:t>Definition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integer.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composite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integer,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59941" y="6095569"/>
            <a:ext cx="8108315" cy="32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95"/>
              </a:lnSpc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b</a:t>
            </a:r>
            <a:r>
              <a:rPr sz="2400" i="1" spc="-15" baseline="24305" dirty="0">
                <a:latin typeface="Calibri"/>
                <a:cs typeface="Calibri"/>
              </a:rPr>
              <a:t>n</a:t>
            </a:r>
            <a:r>
              <a:rPr sz="2400" spc="-15" baseline="24305" dirty="0">
                <a:latin typeface="Calibri"/>
                <a:cs typeface="Calibri"/>
              </a:rPr>
              <a:t>-</a:t>
            </a:r>
            <a:r>
              <a:rPr sz="2400" baseline="24305" dirty="0">
                <a:latin typeface="Calibri"/>
                <a:cs typeface="Calibri"/>
              </a:rPr>
              <a:t>1</a:t>
            </a:r>
            <a:r>
              <a:rPr sz="2400" spc="232" baseline="24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≡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(mod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),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pseudoprime </a:t>
            </a:r>
            <a:r>
              <a:rPr sz="2400" i="1" dirty="0">
                <a:latin typeface="Calibri"/>
                <a:cs typeface="Calibri"/>
              </a:rPr>
              <a:t>to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base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b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8739" y="6736715"/>
            <a:ext cx="1309370" cy="127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lang="en-IN"/>
              <a:t>©</a:t>
            </a:r>
            <a:r>
              <a:rPr lang="en-IN" spc="-5"/>
              <a:t> </a:t>
            </a:r>
            <a:r>
              <a:rPr lang="en-IN"/>
              <a:t>2019</a:t>
            </a:r>
            <a:r>
              <a:rPr lang="en-IN" spc="-30"/>
              <a:t> </a:t>
            </a:r>
            <a:r>
              <a:rPr lang="en-IN" spc="-10"/>
              <a:t>McGraw-</a:t>
            </a:r>
            <a:r>
              <a:rPr lang="en-IN"/>
              <a:t>Hill</a:t>
            </a:r>
            <a:r>
              <a:rPr lang="en-IN" spc="20"/>
              <a:t> </a:t>
            </a:r>
            <a:r>
              <a:rPr lang="en-IN" spc="-10"/>
              <a:t>Education</a:t>
            </a:r>
            <a:endParaRPr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5857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Pseudoprimes</a:t>
            </a:r>
            <a:r>
              <a:rPr sz="1500" spc="-10" dirty="0"/>
              <a:t>2</a:t>
            </a:r>
            <a:r>
              <a:rPr spc="-10" dirty="0"/>
              <a:t>*</a:t>
            </a:r>
            <a:endParaRPr sz="1500" dirty="0"/>
          </a:p>
        </p:txBody>
      </p:sp>
      <p:sp>
        <p:nvSpPr>
          <p:cNvPr id="3" name="object 3"/>
          <p:cNvSpPr txBox="1"/>
          <p:nvPr/>
        </p:nvSpPr>
        <p:spPr>
          <a:xfrm>
            <a:off x="2009141" y="1307338"/>
            <a:ext cx="8231505" cy="4892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spcBef>
                <a:spcPts val="105"/>
              </a:spcBef>
              <a:tabLst>
                <a:tab pos="5003165" algn="l"/>
              </a:tabLst>
            </a:pPr>
            <a:r>
              <a:rPr sz="2600" dirty="0">
                <a:latin typeface="Calibri"/>
                <a:cs typeface="Calibri"/>
              </a:rPr>
              <a:t>Given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positive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integer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that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2</a:t>
            </a:r>
            <a:r>
              <a:rPr sz="2550" i="1" spc="-15" baseline="26143" dirty="0">
                <a:latin typeface="Calibri"/>
                <a:cs typeface="Calibri"/>
              </a:rPr>
              <a:t>n</a:t>
            </a:r>
            <a:r>
              <a:rPr sz="2550" spc="-15" baseline="26143" dirty="0">
                <a:latin typeface="Calibri"/>
                <a:cs typeface="Calibri"/>
              </a:rPr>
              <a:t>-</a:t>
            </a:r>
            <a:r>
              <a:rPr sz="2550" baseline="26143" dirty="0">
                <a:latin typeface="Calibri"/>
                <a:cs typeface="Calibri"/>
              </a:rPr>
              <a:t>1</a:t>
            </a:r>
            <a:r>
              <a:rPr sz="2550" spc="292" baseline="26143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≡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(mod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i="1" spc="-25" dirty="0">
                <a:latin typeface="Calibri"/>
                <a:cs typeface="Calibri"/>
              </a:rPr>
              <a:t>n</a:t>
            </a:r>
            <a:r>
              <a:rPr sz="2600" spc="-25" dirty="0">
                <a:latin typeface="Calibri"/>
                <a:cs typeface="Calibri"/>
              </a:rPr>
              <a:t>):</a:t>
            </a:r>
            <a:endParaRPr sz="2600">
              <a:latin typeface="Calibri"/>
              <a:cs typeface="Calibri"/>
            </a:endParaRPr>
          </a:p>
          <a:p>
            <a:pPr marL="520700" indent="-342900">
              <a:spcBef>
                <a:spcPts val="1830"/>
              </a:spcBef>
              <a:buClr>
                <a:srgbClr val="04607A"/>
              </a:buClr>
              <a:buFont typeface="Arial MT"/>
              <a:buChar char="•"/>
              <a:tabLst>
                <a:tab pos="520700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satisfy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congruence,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composite.</a:t>
            </a:r>
            <a:endParaRPr sz="2200">
              <a:latin typeface="Calibri"/>
              <a:cs typeface="Calibri"/>
            </a:endParaRPr>
          </a:p>
          <a:p>
            <a:pPr marL="520700" marR="43180" indent="-343535">
              <a:spcBef>
                <a:spcPts val="1800"/>
              </a:spcBef>
              <a:buClr>
                <a:srgbClr val="04607A"/>
              </a:buClr>
              <a:buFont typeface="Arial MT"/>
              <a:buChar char="•"/>
              <a:tabLst>
                <a:tab pos="520700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satisfy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congruence,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either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prime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pseudoprime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2.</a:t>
            </a:r>
            <a:endParaRPr sz="2200">
              <a:latin typeface="Calibri"/>
              <a:cs typeface="Calibri"/>
            </a:endParaRPr>
          </a:p>
          <a:p>
            <a:pPr marL="63500" marR="434975">
              <a:spcBef>
                <a:spcPts val="1770"/>
              </a:spcBef>
            </a:pPr>
            <a:r>
              <a:rPr sz="2600" dirty="0">
                <a:latin typeface="Calibri"/>
                <a:cs typeface="Calibri"/>
              </a:rPr>
              <a:t>Doing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similar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tests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additional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more </a:t>
            </a:r>
            <a:r>
              <a:rPr sz="2600" dirty="0">
                <a:latin typeface="Calibri"/>
                <a:cs typeface="Calibri"/>
              </a:rPr>
              <a:t>evidence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whether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n</a:t>
            </a:r>
            <a:r>
              <a:rPr sz="2600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prime.</a:t>
            </a:r>
            <a:endParaRPr sz="2600">
              <a:latin typeface="Calibri"/>
              <a:cs typeface="Calibri"/>
            </a:endParaRPr>
          </a:p>
          <a:p>
            <a:pPr marL="63500" marR="519430">
              <a:spcBef>
                <a:spcPts val="1800"/>
              </a:spcBef>
            </a:pPr>
            <a:r>
              <a:rPr sz="2600" dirty="0">
                <a:latin typeface="Calibri"/>
                <a:cs typeface="Calibri"/>
              </a:rPr>
              <a:t>Among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positive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integers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exceeding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positive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real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x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compared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primes,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relatively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few </a:t>
            </a:r>
            <a:r>
              <a:rPr sz="2600" dirty="0">
                <a:latin typeface="Calibri"/>
                <a:cs typeface="Calibri"/>
              </a:rPr>
              <a:t>pseudoprimes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i="1" spc="-25" dirty="0">
                <a:latin typeface="Calibri"/>
                <a:cs typeface="Calibri"/>
              </a:rPr>
              <a:t>b</a:t>
            </a:r>
            <a:r>
              <a:rPr sz="2600" spc="-25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520700" indent="-342900">
              <a:spcBef>
                <a:spcPts val="1835"/>
              </a:spcBef>
              <a:buClr>
                <a:srgbClr val="04607A"/>
              </a:buClr>
              <a:buFont typeface="Arial MT"/>
              <a:buChar char="•"/>
              <a:tabLst>
                <a:tab pos="520700" algn="l"/>
              </a:tabLst>
            </a:pPr>
            <a:r>
              <a:rPr sz="2200" dirty="0">
                <a:latin typeface="Calibri"/>
                <a:cs typeface="Calibri"/>
              </a:rPr>
              <a:t>For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example,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positive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integers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less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10</a:t>
            </a:r>
            <a:r>
              <a:rPr sz="2175" baseline="24904" dirty="0">
                <a:latin typeface="Calibri"/>
                <a:cs typeface="Calibri"/>
              </a:rPr>
              <a:t>10</a:t>
            </a:r>
            <a:r>
              <a:rPr sz="2175" spc="150" baseline="249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are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02739" y="6243930"/>
            <a:ext cx="839089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0">
              <a:lnSpc>
                <a:spcPts val="2190"/>
              </a:lnSpc>
            </a:pPr>
            <a:r>
              <a:rPr sz="2200" dirty="0">
                <a:latin typeface="Calibri"/>
                <a:cs typeface="Calibri"/>
              </a:rPr>
              <a:t>455,052,512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primes,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14,884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pseudoprimes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base</a:t>
            </a:r>
            <a:r>
              <a:rPr sz="2200" spc="-25" dirty="0">
                <a:latin typeface="Calibri"/>
                <a:cs typeface="Calibri"/>
              </a:rPr>
              <a:t> 2.</a:t>
            </a:r>
            <a:endParaRPr sz="2200">
              <a:latin typeface="Calibri"/>
              <a:cs typeface="Calibri"/>
            </a:endParaRPr>
          </a:p>
          <a:p>
            <a:pPr marL="12700">
              <a:spcBef>
                <a:spcPts val="1595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2019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McGraw-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Hill</a:t>
            </a:r>
            <a:r>
              <a:rPr sz="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Education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579A-16CB-22C1-FFCC-59040FA9B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4960"/>
          </a:xfrm>
        </p:spPr>
        <p:txBody>
          <a:bodyPr/>
          <a:lstStyle/>
          <a:p>
            <a:r>
              <a:rPr lang="en-IN" b="1" dirty="0"/>
              <a:t>Euler’s Theorem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0515F-8A2E-449B-EBC2-B385FDE02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943"/>
            <a:ext cx="10515600" cy="4838020"/>
          </a:xfrm>
        </p:spPr>
        <p:txBody>
          <a:bodyPr/>
          <a:lstStyle/>
          <a:p>
            <a:pPr algn="just"/>
            <a:r>
              <a:rPr lang="en-US" dirty="0"/>
              <a:t>Euler’s Theorem can be thought of as a generalization of Fermat’s little theorem. The modules in the Fermat theorem is a prime, the modulus in Euler’s theorem is an integer.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first version of Euler’s theorem </a:t>
            </a:r>
            <a:r>
              <a:rPr lang="en-US" dirty="0"/>
              <a:t>is similar to the first version of the Fermat’s little theorem. if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n </a:t>
            </a:r>
            <a:r>
              <a:rPr lang="en-US" dirty="0"/>
              <a:t>are coprime, </a:t>
            </a:r>
          </a:p>
          <a:p>
            <a:pPr algn="just"/>
            <a:r>
              <a:rPr lang="en-US" dirty="0"/>
              <a:t>Then Let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n </a:t>
            </a:r>
            <a:r>
              <a:rPr lang="en-US" dirty="0"/>
              <a:t>be coprime. Then </a:t>
            </a:r>
            <a:r>
              <a:rPr lang="en-US" i="1" dirty="0"/>
              <a:t>a </a:t>
            </a:r>
            <a:r>
              <a:rPr lang="en-US" i="1" baseline="30000" dirty="0"/>
              <a:t>φ(n)</a:t>
            </a:r>
            <a:r>
              <a:rPr lang="en-US" i="1" dirty="0"/>
              <a:t> = 1 (mod n).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Second version of Euler’s theorem</a:t>
            </a:r>
            <a:r>
              <a:rPr lang="en-US" dirty="0"/>
              <a:t> is similar to the second version of Fermat’s little theorem; it removes the condition that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n </a:t>
            </a:r>
            <a:r>
              <a:rPr lang="en-US" dirty="0"/>
              <a:t>should be coprime. </a:t>
            </a:r>
          </a:p>
          <a:p>
            <a:pPr algn="just"/>
            <a:r>
              <a:rPr lang="en-IN" dirty="0"/>
              <a:t>If </a:t>
            </a:r>
            <a:r>
              <a:rPr lang="en-IN" i="1" dirty="0"/>
              <a:t>n= p X q, a&lt;n</a:t>
            </a:r>
            <a:r>
              <a:rPr lang="en-IN" dirty="0"/>
              <a:t>, and </a:t>
            </a:r>
            <a:r>
              <a:rPr lang="en-IN" i="1" dirty="0"/>
              <a:t>k </a:t>
            </a:r>
            <a:r>
              <a:rPr lang="en-IN" dirty="0"/>
              <a:t>an integer, then </a:t>
            </a:r>
            <a:r>
              <a:rPr lang="en-IN" i="1" dirty="0"/>
              <a:t>a k × f(n) + 1 ≡ a (mod n)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9727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6B33-C8D2-F721-FCF4-A90C4F5F6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25B57-EC9E-E59C-2829-23932B1E5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Euler’s Theorem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0C88D-D475-C108-2E17-581D41957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Solve  using Euler’s Theorem: a=3 and n=10.</a:t>
            </a:r>
          </a:p>
          <a:p>
            <a:r>
              <a:rPr lang="en-IN" dirty="0"/>
              <a:t>Solution: </a:t>
            </a:r>
            <a:r>
              <a:rPr lang="en-US" i="1" dirty="0"/>
              <a:t>φ(n)= φ(10)={1,3,7,9}=4…</a:t>
            </a:r>
            <a:r>
              <a:rPr lang="en-US" i="1" dirty="0">
                <a:solidFill>
                  <a:srgbClr val="0070C0"/>
                </a:solidFill>
              </a:rPr>
              <a:t>relatively prime to 10 </a:t>
            </a:r>
            <a:r>
              <a:rPr lang="en-US" i="1" dirty="0" err="1">
                <a:solidFill>
                  <a:srgbClr val="0070C0"/>
                </a:solidFill>
              </a:rPr>
              <a:t>ie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 err="1">
                <a:solidFill>
                  <a:srgbClr val="0070C0"/>
                </a:solidFill>
              </a:rPr>
              <a:t>gcd</a:t>
            </a:r>
            <a:r>
              <a:rPr lang="en-US" i="1" dirty="0">
                <a:solidFill>
                  <a:srgbClr val="0070C0"/>
                </a:solidFill>
              </a:rPr>
              <a:t>=1</a:t>
            </a:r>
          </a:p>
          <a:p>
            <a:r>
              <a:rPr lang="en-US" i="1" dirty="0"/>
              <a:t>According to Euler’s Theorem,</a:t>
            </a:r>
          </a:p>
          <a:p>
            <a:r>
              <a:rPr lang="en-US" i="1" dirty="0"/>
              <a:t>3</a:t>
            </a:r>
            <a:r>
              <a:rPr lang="en-US" i="1" baseline="30000" dirty="0"/>
              <a:t>4</a:t>
            </a:r>
            <a:r>
              <a:rPr lang="en-US" i="1" dirty="0"/>
              <a:t>=1(mod 10)</a:t>
            </a:r>
          </a:p>
          <a:p>
            <a:r>
              <a:rPr lang="en-US" i="1" dirty="0"/>
              <a:t>81=1 mod 10 </a:t>
            </a:r>
          </a:p>
          <a:p>
            <a:r>
              <a:rPr lang="en-US" i="1" dirty="0"/>
              <a:t>81mod 10 =1 &amp; 1 mod 10 =1</a:t>
            </a:r>
          </a:p>
          <a:p>
            <a:r>
              <a:rPr lang="en-US" i="1" dirty="0"/>
              <a:t>Hence proved.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5276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CC76B-B283-A343-641D-DD9D03FA3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38F7A-AB56-1FEF-5DE9-A4E7BDD4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Euler’s Theorem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91B5E-9CC3-C5C2-C51B-9A5534922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Solve  using Euler’s Theorem: a=2 and n=11.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4542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7058" y="14833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044700">
              <a:lnSpc>
                <a:spcPct val="100000"/>
              </a:lnSpc>
              <a:spcBef>
                <a:spcPts val="100"/>
              </a:spcBef>
            </a:pPr>
            <a:r>
              <a:rPr dirty="0"/>
              <a:t>Euclidean</a:t>
            </a:r>
            <a:r>
              <a:rPr spc="-55" dirty="0"/>
              <a:t> </a:t>
            </a:r>
            <a:r>
              <a:rPr spc="-10" dirty="0"/>
              <a:t>Algorithm</a:t>
            </a:r>
            <a:r>
              <a:rPr sz="1500" spc="-10" dirty="0"/>
              <a:t>1</a:t>
            </a:r>
            <a:endParaRPr sz="15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6028" y="1447800"/>
            <a:ext cx="1380432" cy="16078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44359" y="3030475"/>
            <a:ext cx="247713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sz="2000" spc="-10" dirty="0">
                <a:latin typeface="Calibri"/>
                <a:cs typeface="Calibri"/>
              </a:rPr>
              <a:t>Euclid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(325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B.C.E.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265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B.C.E.)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9940" y="1308862"/>
            <a:ext cx="569468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Euclidian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efficient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method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greatest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divisor</a:t>
            </a:r>
            <a:r>
              <a:rPr sz="2400" spc="6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integers.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gcd(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gcd(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i="1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12700"/>
            <a:r>
              <a:rPr sz="2400" i="1" dirty="0">
                <a:latin typeface="Calibri"/>
                <a:cs typeface="Calibri"/>
              </a:rPr>
              <a:t>c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remainder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b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9941" y="3366896"/>
            <a:ext cx="3528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903730" algn="l"/>
              </a:tabLst>
            </a:pPr>
            <a:r>
              <a:rPr sz="2400" b="1" dirty="0">
                <a:latin typeface="Calibri"/>
                <a:cs typeface="Calibri"/>
              </a:rPr>
              <a:t>Example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Find</a:t>
            </a:r>
            <a:r>
              <a:rPr sz="2400" dirty="0">
                <a:latin typeface="Calibri"/>
                <a:cs typeface="Calibri"/>
              </a:rPr>
              <a:t>	gcd(91,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287):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9941" y="3961258"/>
            <a:ext cx="2392045" cy="158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Clr>
                <a:srgbClr val="04607A"/>
              </a:buClr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287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91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∙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14</a:t>
            </a:r>
            <a:endParaRPr sz="2400">
              <a:latin typeface="Calibri"/>
              <a:cs typeface="Calibri"/>
            </a:endParaRPr>
          </a:p>
          <a:p>
            <a:pPr marL="424180" indent="-411480">
              <a:spcBef>
                <a:spcPts val="1800"/>
              </a:spcBef>
              <a:buClr>
                <a:srgbClr val="04607A"/>
              </a:buClr>
              <a:buFont typeface="Arial MT"/>
              <a:buChar char="•"/>
              <a:tabLst>
                <a:tab pos="424180" algn="l"/>
              </a:tabLst>
            </a:pPr>
            <a:r>
              <a:rPr sz="2400" dirty="0">
                <a:latin typeface="Calibri"/>
                <a:cs typeface="Calibri"/>
              </a:rPr>
              <a:t>91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∙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  <a:p>
            <a:pPr marL="424180" indent="-411480">
              <a:spcBef>
                <a:spcPts val="1800"/>
              </a:spcBef>
              <a:buClr>
                <a:srgbClr val="04607A"/>
              </a:buClr>
              <a:buFont typeface="Arial MT"/>
              <a:buChar char="•"/>
              <a:tabLst>
                <a:tab pos="424180" algn="l"/>
                <a:tab pos="1089025" algn="l"/>
              </a:tabLst>
            </a:pPr>
            <a:r>
              <a:rPr sz="2400" dirty="0">
                <a:latin typeface="Calibri"/>
                <a:cs typeface="Calibri"/>
              </a:rPr>
              <a:t>14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7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∙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32507" y="4304030"/>
            <a:ext cx="1577975" cy="1354455"/>
            <a:chOff x="1208506" y="4304029"/>
            <a:chExt cx="1577975" cy="1354455"/>
          </a:xfrm>
        </p:grpSpPr>
        <p:sp>
          <p:nvSpPr>
            <p:cNvPr id="9" name="object 9"/>
            <p:cNvSpPr/>
            <p:nvPr/>
          </p:nvSpPr>
          <p:spPr>
            <a:xfrm>
              <a:off x="1208506" y="4304029"/>
              <a:ext cx="1385570" cy="938530"/>
            </a:xfrm>
            <a:custGeom>
              <a:avLst/>
              <a:gdLst/>
              <a:ahLst/>
              <a:cxnLst/>
              <a:rect l="l" t="t" r="r" b="b"/>
              <a:pathLst>
                <a:path w="1385570" h="938529">
                  <a:moveTo>
                    <a:pt x="357403" y="641858"/>
                  </a:moveTo>
                  <a:lnTo>
                    <a:pt x="349656" y="631698"/>
                  </a:lnTo>
                  <a:lnTo>
                    <a:pt x="24765" y="881532"/>
                  </a:lnTo>
                  <a:lnTo>
                    <a:pt x="49187" y="821563"/>
                  </a:lnTo>
                  <a:lnTo>
                    <a:pt x="50507" y="818388"/>
                  </a:lnTo>
                  <a:lnTo>
                    <a:pt x="48945" y="814705"/>
                  </a:lnTo>
                  <a:lnTo>
                    <a:pt x="45694" y="813308"/>
                  </a:lnTo>
                  <a:lnTo>
                    <a:pt x="42456" y="812038"/>
                  </a:lnTo>
                  <a:lnTo>
                    <a:pt x="38747" y="813562"/>
                  </a:lnTo>
                  <a:lnTo>
                    <a:pt x="37426" y="816864"/>
                  </a:lnTo>
                  <a:lnTo>
                    <a:pt x="0" y="908558"/>
                  </a:lnTo>
                  <a:lnTo>
                    <a:pt x="20853" y="905891"/>
                  </a:lnTo>
                  <a:lnTo>
                    <a:pt x="98323" y="895985"/>
                  </a:lnTo>
                  <a:lnTo>
                    <a:pt x="101752" y="895604"/>
                  </a:lnTo>
                  <a:lnTo>
                    <a:pt x="104292" y="892429"/>
                  </a:lnTo>
                  <a:lnTo>
                    <a:pt x="103784" y="888873"/>
                  </a:lnTo>
                  <a:lnTo>
                    <a:pt x="103403" y="885444"/>
                  </a:lnTo>
                  <a:lnTo>
                    <a:pt x="100228" y="882904"/>
                  </a:lnTo>
                  <a:lnTo>
                    <a:pt x="96672" y="883412"/>
                  </a:lnTo>
                  <a:lnTo>
                    <a:pt x="32423" y="891628"/>
                  </a:lnTo>
                  <a:lnTo>
                    <a:pt x="357403" y="641858"/>
                  </a:lnTo>
                  <a:close/>
                </a:path>
                <a:path w="1385570" h="938529">
                  <a:moveTo>
                    <a:pt x="358038" y="8636"/>
                  </a:moveTo>
                  <a:lnTo>
                    <a:pt x="348894" y="0"/>
                  </a:lnTo>
                  <a:lnTo>
                    <a:pt x="20167" y="348043"/>
                  </a:lnTo>
                  <a:lnTo>
                    <a:pt x="35509" y="282067"/>
                  </a:lnTo>
                  <a:lnTo>
                    <a:pt x="35636" y="281559"/>
                  </a:lnTo>
                  <a:lnTo>
                    <a:pt x="33515" y="278130"/>
                  </a:lnTo>
                  <a:lnTo>
                    <a:pt x="26682" y="276606"/>
                  </a:lnTo>
                  <a:lnTo>
                    <a:pt x="23266" y="278638"/>
                  </a:lnTo>
                  <a:lnTo>
                    <a:pt x="0" y="378587"/>
                  </a:lnTo>
                  <a:lnTo>
                    <a:pt x="15976" y="373888"/>
                  </a:lnTo>
                  <a:lnTo>
                    <a:pt x="98450" y="349631"/>
                  </a:lnTo>
                  <a:lnTo>
                    <a:pt x="100355" y="346202"/>
                  </a:lnTo>
                  <a:lnTo>
                    <a:pt x="99339" y="342773"/>
                  </a:lnTo>
                  <a:lnTo>
                    <a:pt x="98450" y="339471"/>
                  </a:lnTo>
                  <a:lnTo>
                    <a:pt x="94894" y="337566"/>
                  </a:lnTo>
                  <a:lnTo>
                    <a:pt x="91465" y="338455"/>
                  </a:lnTo>
                  <a:lnTo>
                    <a:pt x="29502" y="356692"/>
                  </a:lnTo>
                  <a:lnTo>
                    <a:pt x="358038" y="8636"/>
                  </a:lnTo>
                  <a:close/>
                </a:path>
                <a:path w="1385570" h="938529">
                  <a:moveTo>
                    <a:pt x="1271930" y="625856"/>
                  </a:moveTo>
                  <a:lnTo>
                    <a:pt x="1267104" y="614172"/>
                  </a:lnTo>
                  <a:lnTo>
                    <a:pt x="576287" y="905090"/>
                  </a:lnTo>
                  <a:lnTo>
                    <a:pt x="615213" y="853186"/>
                  </a:lnTo>
                  <a:lnTo>
                    <a:pt x="617372" y="850392"/>
                  </a:lnTo>
                  <a:lnTo>
                    <a:pt x="616864" y="846455"/>
                  </a:lnTo>
                  <a:lnTo>
                    <a:pt x="613943" y="844296"/>
                  </a:lnTo>
                  <a:lnTo>
                    <a:pt x="611149" y="842264"/>
                  </a:lnTo>
                  <a:lnTo>
                    <a:pt x="607212" y="842772"/>
                  </a:lnTo>
                  <a:lnTo>
                    <a:pt x="605053" y="845566"/>
                  </a:lnTo>
                  <a:lnTo>
                    <a:pt x="545617" y="924814"/>
                  </a:lnTo>
                  <a:lnTo>
                    <a:pt x="643915" y="937641"/>
                  </a:lnTo>
                  <a:lnTo>
                    <a:pt x="647344" y="938022"/>
                  </a:lnTo>
                  <a:lnTo>
                    <a:pt x="650519" y="935609"/>
                  </a:lnTo>
                  <a:lnTo>
                    <a:pt x="651027" y="932180"/>
                  </a:lnTo>
                  <a:lnTo>
                    <a:pt x="651408" y="928624"/>
                  </a:lnTo>
                  <a:lnTo>
                    <a:pt x="649274" y="925842"/>
                  </a:lnTo>
                  <a:lnTo>
                    <a:pt x="648995" y="925461"/>
                  </a:lnTo>
                  <a:lnTo>
                    <a:pt x="645566" y="925080"/>
                  </a:lnTo>
                  <a:lnTo>
                    <a:pt x="581406" y="916698"/>
                  </a:lnTo>
                  <a:lnTo>
                    <a:pt x="559714" y="925842"/>
                  </a:lnTo>
                  <a:lnTo>
                    <a:pt x="564527" y="923798"/>
                  </a:lnTo>
                  <a:lnTo>
                    <a:pt x="581406" y="916698"/>
                  </a:lnTo>
                  <a:lnTo>
                    <a:pt x="1271930" y="625856"/>
                  </a:lnTo>
                  <a:close/>
                </a:path>
                <a:path w="1385570" h="938529">
                  <a:moveTo>
                    <a:pt x="1384960" y="31369"/>
                  </a:moveTo>
                  <a:lnTo>
                    <a:pt x="1379626" y="19939"/>
                  </a:lnTo>
                  <a:lnTo>
                    <a:pt x="650341" y="358051"/>
                  </a:lnTo>
                  <a:lnTo>
                    <a:pt x="689381" y="302006"/>
                  </a:lnTo>
                  <a:lnTo>
                    <a:pt x="688619" y="298069"/>
                  </a:lnTo>
                  <a:lnTo>
                    <a:pt x="685825" y="296037"/>
                  </a:lnTo>
                  <a:lnTo>
                    <a:pt x="682904" y="294132"/>
                  </a:lnTo>
                  <a:lnTo>
                    <a:pt x="678967" y="294767"/>
                  </a:lnTo>
                  <a:lnTo>
                    <a:pt x="620204" y="379095"/>
                  </a:lnTo>
                  <a:lnTo>
                    <a:pt x="621639" y="379095"/>
                  </a:lnTo>
                  <a:lnTo>
                    <a:pt x="718972" y="388239"/>
                  </a:lnTo>
                  <a:lnTo>
                    <a:pt x="722401" y="388620"/>
                  </a:lnTo>
                  <a:lnTo>
                    <a:pt x="725576" y="386080"/>
                  </a:lnTo>
                  <a:lnTo>
                    <a:pt x="725830" y="382524"/>
                  </a:lnTo>
                  <a:lnTo>
                    <a:pt x="726160" y="379476"/>
                  </a:lnTo>
                  <a:lnTo>
                    <a:pt x="726211" y="379095"/>
                  </a:lnTo>
                  <a:lnTo>
                    <a:pt x="723671" y="375920"/>
                  </a:lnTo>
                  <a:lnTo>
                    <a:pt x="720115" y="375666"/>
                  </a:lnTo>
                  <a:lnTo>
                    <a:pt x="655662" y="369608"/>
                  </a:lnTo>
                  <a:lnTo>
                    <a:pt x="1384960" y="3136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0800" y="5455919"/>
              <a:ext cx="195072" cy="20252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794629" y="4104895"/>
            <a:ext cx="17354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solidFill>
                  <a:srgbClr val="B60000"/>
                </a:solidFill>
                <a:latin typeface="Calibri"/>
                <a:cs typeface="Calibri"/>
              </a:rPr>
              <a:t>Divide</a:t>
            </a:r>
            <a:r>
              <a:rPr sz="2000" spc="-35" dirty="0">
                <a:solidFill>
                  <a:srgbClr val="B6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B60000"/>
                </a:solidFill>
                <a:latin typeface="Calibri"/>
                <a:cs typeface="Calibri"/>
              </a:rPr>
              <a:t>287</a:t>
            </a:r>
            <a:r>
              <a:rPr sz="2000" spc="-35" dirty="0">
                <a:solidFill>
                  <a:srgbClr val="B6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B60000"/>
                </a:solidFill>
                <a:latin typeface="Calibri"/>
                <a:cs typeface="Calibri"/>
              </a:rPr>
              <a:t>by</a:t>
            </a:r>
            <a:r>
              <a:rPr sz="2000" spc="-35" dirty="0">
                <a:solidFill>
                  <a:srgbClr val="B6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B60000"/>
                </a:solidFill>
                <a:latin typeface="Calibri"/>
                <a:cs typeface="Calibri"/>
              </a:rPr>
              <a:t>91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94628" y="4705351"/>
            <a:ext cx="16078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solidFill>
                  <a:srgbClr val="B60000"/>
                </a:solidFill>
                <a:latin typeface="Calibri"/>
                <a:cs typeface="Calibri"/>
              </a:rPr>
              <a:t>Divide</a:t>
            </a:r>
            <a:r>
              <a:rPr sz="2000" spc="-30" dirty="0">
                <a:solidFill>
                  <a:srgbClr val="B6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B60000"/>
                </a:solidFill>
                <a:latin typeface="Calibri"/>
                <a:cs typeface="Calibri"/>
              </a:rPr>
              <a:t>91</a:t>
            </a:r>
            <a:r>
              <a:rPr sz="2000" spc="-25" dirty="0">
                <a:solidFill>
                  <a:srgbClr val="B6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B60000"/>
                </a:solidFill>
                <a:latin typeface="Calibri"/>
                <a:cs typeface="Calibri"/>
              </a:rPr>
              <a:t>by</a:t>
            </a:r>
            <a:r>
              <a:rPr sz="2000" spc="-35" dirty="0">
                <a:solidFill>
                  <a:srgbClr val="B60000"/>
                </a:solidFill>
                <a:latin typeface="Calibri"/>
                <a:cs typeface="Calibri"/>
              </a:rPr>
              <a:t> 14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94629" y="5229606"/>
            <a:ext cx="14776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solidFill>
                  <a:srgbClr val="B60000"/>
                </a:solidFill>
                <a:latin typeface="Calibri"/>
                <a:cs typeface="Calibri"/>
              </a:rPr>
              <a:t>Divide</a:t>
            </a:r>
            <a:r>
              <a:rPr sz="2000" spc="-30" dirty="0">
                <a:solidFill>
                  <a:srgbClr val="B6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B60000"/>
                </a:solidFill>
                <a:latin typeface="Calibri"/>
                <a:cs typeface="Calibri"/>
              </a:rPr>
              <a:t>14</a:t>
            </a:r>
            <a:r>
              <a:rPr sz="2000" spc="-25" dirty="0">
                <a:solidFill>
                  <a:srgbClr val="B6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B60000"/>
                </a:solidFill>
                <a:latin typeface="Calibri"/>
                <a:cs typeface="Calibri"/>
              </a:rPr>
              <a:t>by</a:t>
            </a:r>
            <a:r>
              <a:rPr sz="2000" spc="-35" dirty="0">
                <a:solidFill>
                  <a:srgbClr val="B6000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B60000"/>
                </a:solidFill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59941" y="5615432"/>
            <a:ext cx="5307965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3270">
              <a:spcBef>
                <a:spcPts val="100"/>
              </a:spcBef>
            </a:pPr>
            <a:r>
              <a:rPr sz="2000" dirty="0">
                <a:solidFill>
                  <a:srgbClr val="B60000"/>
                </a:solidFill>
                <a:latin typeface="Calibri"/>
                <a:cs typeface="Calibri"/>
              </a:rPr>
              <a:t>Stopping</a:t>
            </a:r>
            <a:r>
              <a:rPr sz="2000" spc="-65" dirty="0">
                <a:solidFill>
                  <a:srgbClr val="B6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B60000"/>
                </a:solidFill>
                <a:latin typeface="Calibri"/>
                <a:cs typeface="Calibri"/>
              </a:rPr>
              <a:t>condition</a:t>
            </a:r>
            <a:endParaRPr sz="2000">
              <a:latin typeface="Calibri"/>
              <a:cs typeface="Calibri"/>
            </a:endParaRPr>
          </a:p>
          <a:p>
            <a:pPr marL="12700">
              <a:spcBef>
                <a:spcPts val="2095"/>
              </a:spcBef>
              <a:tabLst>
                <a:tab pos="3562350" algn="l"/>
                <a:tab pos="4918710" algn="l"/>
              </a:tabLst>
            </a:pPr>
            <a:r>
              <a:rPr sz="2400" dirty="0">
                <a:latin typeface="Calibri"/>
                <a:cs typeface="Calibri"/>
              </a:rPr>
              <a:t>gcd(287,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91)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gcd(91,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gcd(14,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7)</a:t>
            </a:r>
            <a:r>
              <a:rPr sz="2400" dirty="0">
                <a:latin typeface="Calibri"/>
                <a:cs typeface="Calibri"/>
              </a:rPr>
              <a:t>	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2400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78739" y="6736715"/>
            <a:ext cx="1309370" cy="127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lang="en-IN"/>
              <a:t>©</a:t>
            </a:r>
            <a:r>
              <a:rPr lang="en-IN" spc="-5"/>
              <a:t> </a:t>
            </a:r>
            <a:r>
              <a:rPr lang="en-IN"/>
              <a:t>2019</a:t>
            </a:r>
            <a:r>
              <a:rPr lang="en-IN" spc="-30"/>
              <a:t> </a:t>
            </a:r>
            <a:r>
              <a:rPr lang="en-IN" spc="-10"/>
              <a:t>McGraw-</a:t>
            </a:r>
            <a:r>
              <a:rPr lang="en-IN"/>
              <a:t>Hill</a:t>
            </a:r>
            <a:r>
              <a:rPr lang="en-IN" spc="20"/>
              <a:t> </a:t>
            </a:r>
            <a:r>
              <a:rPr lang="en-IN" spc="-10"/>
              <a:t>Education</a:t>
            </a: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044700">
              <a:lnSpc>
                <a:spcPct val="100000"/>
              </a:lnSpc>
              <a:spcBef>
                <a:spcPts val="100"/>
              </a:spcBef>
            </a:pPr>
            <a:r>
              <a:rPr dirty="0"/>
              <a:t>Euclidean</a:t>
            </a:r>
            <a:r>
              <a:rPr spc="-55" dirty="0"/>
              <a:t> </a:t>
            </a:r>
            <a:r>
              <a:rPr spc="-10" dirty="0"/>
              <a:t>Algorithm</a:t>
            </a:r>
            <a:r>
              <a:rPr sz="1500" spc="-10" dirty="0"/>
              <a:t>2</a:t>
            </a:r>
            <a:endParaRPr sz="1500"/>
          </a:p>
        </p:txBody>
      </p:sp>
      <p:sp>
        <p:nvSpPr>
          <p:cNvPr id="3" name="object 3"/>
          <p:cNvSpPr txBox="1"/>
          <p:nvPr/>
        </p:nvSpPr>
        <p:spPr>
          <a:xfrm>
            <a:off x="2059940" y="1307339"/>
            <a:ext cx="70878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Euclidean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algorithm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expressed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pseudocode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is: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1200" y="1828800"/>
            <a:ext cx="8229600" cy="3810000"/>
          </a:xfrm>
          <a:prstGeom prst="rect">
            <a:avLst/>
          </a:prstGeom>
          <a:ln w="9525">
            <a:solidFill>
              <a:srgbClr val="13AAE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91440">
              <a:spcBef>
                <a:spcPts val="200"/>
              </a:spcBef>
            </a:pPr>
            <a:r>
              <a:rPr sz="2600" b="1" spc="-10" dirty="0">
                <a:latin typeface="Calibri"/>
                <a:cs typeface="Calibri"/>
              </a:rPr>
              <a:t>procedure</a:t>
            </a:r>
            <a:r>
              <a:rPr sz="2600" b="1" spc="-2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gcd</a:t>
            </a:r>
            <a:r>
              <a:rPr sz="2600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i="1" dirty="0">
                <a:latin typeface="Calibri"/>
                <a:cs typeface="Calibri"/>
              </a:rPr>
              <a:t>a,</a:t>
            </a:r>
            <a:r>
              <a:rPr sz="2600" i="1" spc="-4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positive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integers)</a:t>
            </a:r>
            <a:endParaRPr sz="2600">
              <a:latin typeface="Calibri"/>
              <a:cs typeface="Calibri"/>
            </a:endParaRPr>
          </a:p>
          <a:p>
            <a:pPr marL="314960" marR="7185659">
              <a:lnSpc>
                <a:spcPct val="119200"/>
              </a:lnSpc>
            </a:pPr>
            <a:r>
              <a:rPr sz="2600" i="1" dirty="0">
                <a:latin typeface="Calibri"/>
                <a:cs typeface="Calibri"/>
              </a:rPr>
              <a:t>x</a:t>
            </a:r>
            <a:r>
              <a:rPr sz="2600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:=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i="1" spc="-50" dirty="0">
                <a:latin typeface="Calibri"/>
                <a:cs typeface="Calibri"/>
              </a:rPr>
              <a:t>a </a:t>
            </a:r>
            <a:r>
              <a:rPr sz="2600" i="1" dirty="0">
                <a:latin typeface="Calibri"/>
                <a:cs typeface="Calibri"/>
              </a:rPr>
              <a:t>y</a:t>
            </a:r>
            <a:r>
              <a:rPr sz="2600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:=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i="1" spc="-50" dirty="0">
                <a:latin typeface="Calibri"/>
                <a:cs typeface="Calibri"/>
              </a:rPr>
              <a:t>b</a:t>
            </a:r>
            <a:endParaRPr sz="2600">
              <a:latin typeface="Calibri"/>
              <a:cs typeface="Calibri"/>
            </a:endParaRPr>
          </a:p>
          <a:p>
            <a:pPr marL="314960">
              <a:spcBef>
                <a:spcPts val="600"/>
              </a:spcBef>
              <a:tabLst>
                <a:tab pos="1290955" algn="l"/>
              </a:tabLst>
            </a:pPr>
            <a:r>
              <a:rPr sz="2600" b="1" spc="-10" dirty="0">
                <a:latin typeface="Calibri"/>
                <a:cs typeface="Calibri"/>
              </a:rPr>
              <a:t>while</a:t>
            </a:r>
            <a:r>
              <a:rPr sz="2600" b="1" dirty="0">
                <a:latin typeface="Calibri"/>
                <a:cs typeface="Calibri"/>
              </a:rPr>
              <a:t>	</a:t>
            </a:r>
            <a:r>
              <a:rPr sz="2600" i="1" dirty="0">
                <a:latin typeface="Calibri"/>
                <a:cs typeface="Calibri"/>
              </a:rPr>
              <a:t>y</a:t>
            </a:r>
            <a:r>
              <a:rPr sz="2600" i="1" spc="-1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≠</a:t>
            </a:r>
            <a:r>
              <a:rPr sz="2600" i="1" spc="5" dirty="0">
                <a:latin typeface="Calibri"/>
                <a:cs typeface="Calibri"/>
              </a:rPr>
              <a:t> </a:t>
            </a:r>
            <a:r>
              <a:rPr sz="2600" spc="-60" dirty="0">
                <a:latin typeface="Calibri"/>
                <a:cs typeface="Calibri"/>
              </a:rPr>
              <a:t>0</a:t>
            </a:r>
            <a:endParaRPr sz="2600">
              <a:latin typeface="Calibri"/>
              <a:cs typeface="Calibri"/>
            </a:endParaRPr>
          </a:p>
          <a:p>
            <a:pPr marL="548640" marR="6092190">
              <a:lnSpc>
                <a:spcPct val="119200"/>
              </a:lnSpc>
              <a:spcBef>
                <a:spcPts val="5"/>
              </a:spcBef>
            </a:pPr>
            <a:r>
              <a:rPr sz="2600" i="1" dirty="0">
                <a:latin typeface="Calibri"/>
                <a:cs typeface="Calibri"/>
              </a:rPr>
              <a:t>r</a:t>
            </a:r>
            <a:r>
              <a:rPr sz="2600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:= </a:t>
            </a:r>
            <a:r>
              <a:rPr sz="2600" i="1" dirty="0">
                <a:latin typeface="Calibri"/>
                <a:cs typeface="Calibri"/>
              </a:rPr>
              <a:t>x</a:t>
            </a:r>
            <a:r>
              <a:rPr sz="2600" i="1" spc="-2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mod</a:t>
            </a:r>
            <a:r>
              <a:rPr sz="2600" b="1" spc="-15" dirty="0">
                <a:latin typeface="Calibri"/>
                <a:cs typeface="Calibri"/>
              </a:rPr>
              <a:t> </a:t>
            </a:r>
            <a:r>
              <a:rPr sz="2600" i="1" spc="-60" dirty="0">
                <a:latin typeface="Calibri"/>
                <a:cs typeface="Calibri"/>
              </a:rPr>
              <a:t>y </a:t>
            </a:r>
            <a:r>
              <a:rPr sz="2600" i="1" dirty="0">
                <a:latin typeface="Calibri"/>
                <a:cs typeface="Calibri"/>
              </a:rPr>
              <a:t>x</a:t>
            </a:r>
            <a:r>
              <a:rPr sz="2600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:=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i="1" spc="-50" dirty="0">
                <a:latin typeface="Calibri"/>
                <a:cs typeface="Calibri"/>
              </a:rPr>
              <a:t>y</a:t>
            </a:r>
            <a:endParaRPr sz="2600">
              <a:latin typeface="Calibri"/>
              <a:cs typeface="Calibri"/>
            </a:endParaRPr>
          </a:p>
          <a:p>
            <a:pPr marL="548640">
              <a:spcBef>
                <a:spcPts val="600"/>
              </a:spcBef>
            </a:pPr>
            <a:r>
              <a:rPr sz="2600" i="1" dirty="0">
                <a:latin typeface="Calibri"/>
                <a:cs typeface="Calibri"/>
              </a:rPr>
              <a:t>y</a:t>
            </a:r>
            <a:r>
              <a:rPr sz="2600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:=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i="1" spc="-50" dirty="0">
                <a:latin typeface="Calibri"/>
                <a:cs typeface="Calibri"/>
              </a:rPr>
              <a:t>r</a:t>
            </a:r>
            <a:endParaRPr sz="2600">
              <a:latin typeface="Calibri"/>
              <a:cs typeface="Calibri"/>
            </a:endParaRPr>
          </a:p>
          <a:p>
            <a:pPr marL="314960">
              <a:spcBef>
                <a:spcPts val="600"/>
              </a:spcBef>
              <a:tabLst>
                <a:tab pos="1546860" algn="l"/>
              </a:tabLst>
            </a:pPr>
            <a:r>
              <a:rPr sz="2600" b="1" dirty="0">
                <a:latin typeface="Calibri"/>
                <a:cs typeface="Calibri"/>
              </a:rPr>
              <a:t>return</a:t>
            </a:r>
            <a:r>
              <a:rPr sz="2600" b="1" spc="-114" dirty="0">
                <a:latin typeface="Calibri"/>
                <a:cs typeface="Calibri"/>
              </a:rPr>
              <a:t> </a:t>
            </a:r>
            <a:r>
              <a:rPr sz="2600" i="1" spc="-50" dirty="0">
                <a:latin typeface="Calibri"/>
                <a:cs typeface="Calibri"/>
              </a:rPr>
              <a:t>x</a:t>
            </a:r>
            <a:r>
              <a:rPr sz="2600" i="1" dirty="0">
                <a:latin typeface="Calibri"/>
                <a:cs typeface="Calibri"/>
              </a:rPr>
              <a:t>	</a:t>
            </a:r>
            <a:r>
              <a:rPr sz="2600" dirty="0">
                <a:latin typeface="Calibri"/>
                <a:cs typeface="Calibri"/>
              </a:rPr>
              <a:t>{gcd(</a:t>
            </a:r>
            <a:r>
              <a:rPr sz="2600" i="1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i="1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)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i="1" spc="-25" dirty="0">
                <a:latin typeface="Calibri"/>
                <a:cs typeface="Calibri"/>
              </a:rPr>
              <a:t>x</a:t>
            </a:r>
            <a:r>
              <a:rPr sz="2600" spc="-25" dirty="0">
                <a:latin typeface="Calibri"/>
                <a:cs typeface="Calibri"/>
              </a:rPr>
              <a:t>}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9941" y="5727903"/>
            <a:ext cx="7407275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In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Section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5.3,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we’ll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complexity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</a:t>
            </a:r>
            <a:endParaRPr sz="260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</a:pPr>
            <a:r>
              <a:rPr sz="2600" dirty="0">
                <a:latin typeface="Calibri"/>
                <a:cs typeface="Calibri"/>
              </a:rPr>
              <a:t>algorithm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O</a:t>
            </a:r>
            <a:r>
              <a:rPr sz="2600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(log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b</a:t>
            </a:r>
            <a:r>
              <a:rPr sz="2600" dirty="0">
                <a:latin typeface="Calibri"/>
                <a:cs typeface="Calibri"/>
              </a:rPr>
              <a:t>),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a</a:t>
            </a:r>
            <a:r>
              <a:rPr sz="2600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&gt;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b.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2400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739" y="6736715"/>
            <a:ext cx="1309370" cy="127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lang="en-IN"/>
              <a:t>©</a:t>
            </a:r>
            <a:r>
              <a:rPr lang="en-IN" spc="-5"/>
              <a:t> </a:t>
            </a:r>
            <a:r>
              <a:rPr lang="en-IN"/>
              <a:t>2019</a:t>
            </a:r>
            <a:r>
              <a:rPr lang="en-IN" spc="-30"/>
              <a:t> </a:t>
            </a:r>
            <a:r>
              <a:rPr lang="en-IN" spc="-10"/>
              <a:t>McGraw-</a:t>
            </a:r>
            <a:r>
              <a:rPr lang="en-IN"/>
              <a:t>Hill</a:t>
            </a:r>
            <a:r>
              <a:rPr lang="en-IN" spc="20"/>
              <a:t> </a:t>
            </a:r>
            <a:r>
              <a:rPr lang="en-IN" spc="-10"/>
              <a:t>Education</a:t>
            </a:r>
            <a:endParaRPr spc="-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79070">
              <a:lnSpc>
                <a:spcPct val="100000"/>
              </a:lnSpc>
              <a:spcBef>
                <a:spcPts val="100"/>
              </a:spcBef>
            </a:pPr>
            <a:r>
              <a:rPr dirty="0"/>
              <a:t>Correctness</a:t>
            </a:r>
            <a:r>
              <a:rPr spc="1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Euclidean</a:t>
            </a:r>
            <a:r>
              <a:rPr spc="20" dirty="0"/>
              <a:t> </a:t>
            </a:r>
            <a:r>
              <a:rPr dirty="0"/>
              <a:t>Algorithm</a:t>
            </a:r>
            <a:r>
              <a:rPr sz="1500" dirty="0"/>
              <a:t>1</a:t>
            </a:r>
            <a:r>
              <a:rPr sz="1500" spc="20" dirty="0"/>
              <a:t> </a:t>
            </a:r>
            <a:r>
              <a:rPr spc="-50" dirty="0"/>
              <a:t>*</a:t>
            </a:r>
            <a:endParaRPr sz="1500"/>
          </a:p>
        </p:txBody>
      </p:sp>
      <p:sp>
        <p:nvSpPr>
          <p:cNvPr id="3" name="object 3"/>
          <p:cNvSpPr txBox="1"/>
          <p:nvPr/>
        </p:nvSpPr>
        <p:spPr>
          <a:xfrm>
            <a:off x="2059940" y="1305814"/>
            <a:ext cx="8260080" cy="4784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Lemma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1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bq</a:t>
            </a:r>
            <a:r>
              <a:rPr sz="2800" i="1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b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q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r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integers.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gcd(</a:t>
            </a:r>
            <a:r>
              <a:rPr sz="2800" i="1" dirty="0">
                <a:latin typeface="Calibri"/>
                <a:cs typeface="Calibri"/>
              </a:rPr>
              <a:t>a,b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gcd(</a:t>
            </a:r>
            <a:r>
              <a:rPr sz="2800" i="1" spc="-10" dirty="0">
                <a:latin typeface="Calibri"/>
                <a:cs typeface="Calibri"/>
              </a:rPr>
              <a:t>b,r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>
              <a:latin typeface="Calibri"/>
              <a:cs typeface="Calibri"/>
            </a:endParaRPr>
          </a:p>
          <a:p>
            <a:pPr marL="12700">
              <a:spcBef>
                <a:spcPts val="1805"/>
              </a:spcBef>
            </a:pPr>
            <a:r>
              <a:rPr sz="2800" b="1" spc="-10" dirty="0">
                <a:latin typeface="Calibri"/>
                <a:cs typeface="Calibri"/>
              </a:rPr>
              <a:t>Proof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469900" indent="-342900">
              <a:spcBef>
                <a:spcPts val="1825"/>
              </a:spcBef>
              <a:buClr>
                <a:srgbClr val="04607A"/>
              </a:buClr>
              <a:buFont typeface="Arial MT"/>
              <a:buChar char="•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Suppose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−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bq</a:t>
            </a:r>
            <a:endParaRPr sz="2400">
              <a:latin typeface="Calibri"/>
              <a:cs typeface="Calibri"/>
            </a:endParaRPr>
          </a:p>
          <a:p>
            <a:pPr marL="469900" marR="177165">
              <a:spcBef>
                <a:spcPts val="5"/>
              </a:spcBef>
              <a:tabLst>
                <a:tab pos="3987165" algn="l"/>
              </a:tabLst>
            </a:pPr>
            <a:r>
              <a:rPr sz="2400" dirty="0">
                <a:latin typeface="Calibri"/>
                <a:cs typeface="Calibri"/>
              </a:rPr>
              <a:t>=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(by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Theorem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4.1).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Hence,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divisor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5" dirty="0">
                <a:latin typeface="Calibri"/>
                <a:cs typeface="Calibri"/>
              </a:rPr>
              <a:t> any</a:t>
            </a:r>
            <a:r>
              <a:rPr sz="2400" dirty="0">
                <a:latin typeface="Calibri"/>
                <a:cs typeface="Calibri"/>
              </a:rPr>
              <a:t>	common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divisor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r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69900" indent="-342900">
              <a:spcBef>
                <a:spcPts val="1795"/>
              </a:spcBef>
              <a:buClr>
                <a:srgbClr val="04607A"/>
              </a:buClr>
              <a:buFont typeface="Arial MT"/>
              <a:buChar char="•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Suppose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bq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  <a:p>
            <a:pPr marL="469900"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=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Hence,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divisor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469900"/>
            <a:r>
              <a:rPr sz="2400" dirty="0">
                <a:latin typeface="Calibri"/>
                <a:cs typeface="Calibri"/>
              </a:rPr>
              <a:t>common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divisor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r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69900" indent="-342900">
              <a:spcBef>
                <a:spcPts val="1800"/>
              </a:spcBef>
              <a:buClr>
                <a:srgbClr val="04607A"/>
              </a:buClr>
              <a:buFont typeface="Arial MT"/>
              <a:buChar char="•"/>
              <a:tabLst>
                <a:tab pos="469900" algn="l"/>
              </a:tabLst>
            </a:pPr>
            <a:r>
              <a:rPr sz="2400" spc="-10" dirty="0">
                <a:latin typeface="Calibri"/>
                <a:cs typeface="Calibri"/>
              </a:rPr>
              <a:t>Therefore,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gcd(</a:t>
            </a:r>
            <a:r>
              <a:rPr sz="2400" i="1" dirty="0">
                <a:latin typeface="Calibri"/>
                <a:cs typeface="Calibri"/>
              </a:rPr>
              <a:t>a,b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gcd(</a:t>
            </a:r>
            <a:r>
              <a:rPr sz="2400" i="1" spc="-10" dirty="0">
                <a:latin typeface="Calibri"/>
                <a:cs typeface="Calibri"/>
              </a:rPr>
              <a:t>b,r</a:t>
            </a:r>
            <a:r>
              <a:rPr sz="2400" spc="-10" dirty="0">
                <a:latin typeface="Calibri"/>
                <a:cs typeface="Calibri"/>
              </a:rPr>
              <a:t>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8739" y="6736715"/>
            <a:ext cx="1309370" cy="127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lang="en-IN"/>
              <a:t>©</a:t>
            </a:r>
            <a:r>
              <a:rPr lang="en-IN" spc="-5"/>
              <a:t> </a:t>
            </a:r>
            <a:r>
              <a:rPr lang="en-IN"/>
              <a:t>2019</a:t>
            </a:r>
            <a:r>
              <a:rPr lang="en-IN" spc="-30"/>
              <a:t> </a:t>
            </a:r>
            <a:r>
              <a:rPr lang="en-IN" spc="-10"/>
              <a:t>McGraw-</a:t>
            </a:r>
            <a:r>
              <a:rPr lang="en-IN"/>
              <a:t>Hill</a:t>
            </a:r>
            <a:r>
              <a:rPr lang="en-IN" spc="20"/>
              <a:t> </a:t>
            </a:r>
            <a:r>
              <a:rPr lang="en-IN" spc="-10"/>
              <a:t>Education</a:t>
            </a: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79070">
              <a:lnSpc>
                <a:spcPct val="100000"/>
              </a:lnSpc>
              <a:spcBef>
                <a:spcPts val="100"/>
              </a:spcBef>
            </a:pPr>
            <a:r>
              <a:rPr dirty="0"/>
              <a:t>Correctness</a:t>
            </a:r>
            <a:r>
              <a:rPr spc="1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Euclidean</a:t>
            </a:r>
            <a:r>
              <a:rPr spc="20" dirty="0"/>
              <a:t> </a:t>
            </a:r>
            <a:r>
              <a:rPr dirty="0"/>
              <a:t>Algorithm</a:t>
            </a:r>
            <a:r>
              <a:rPr sz="1500" dirty="0"/>
              <a:t>2</a:t>
            </a:r>
            <a:r>
              <a:rPr sz="1500" spc="20" dirty="0"/>
              <a:t> </a:t>
            </a:r>
            <a:r>
              <a:rPr spc="-50" dirty="0"/>
              <a:t>*</a:t>
            </a:r>
            <a:endParaRPr sz="1500"/>
          </a:p>
        </p:txBody>
      </p:sp>
      <p:sp>
        <p:nvSpPr>
          <p:cNvPr id="3" name="object 3"/>
          <p:cNvSpPr txBox="1"/>
          <p:nvPr/>
        </p:nvSpPr>
        <p:spPr>
          <a:xfrm>
            <a:off x="2034540" y="1156919"/>
            <a:ext cx="4756150" cy="2616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598170">
              <a:lnSpc>
                <a:spcPct val="141700"/>
              </a:lnSpc>
              <a:spcBef>
                <a:spcPts val="95"/>
              </a:spcBef>
              <a:tabLst>
                <a:tab pos="1165225" algn="l"/>
              </a:tabLst>
            </a:pPr>
            <a:r>
              <a:rPr sz="2400" dirty="0">
                <a:latin typeface="Calibri"/>
                <a:cs typeface="Calibri"/>
              </a:rPr>
              <a:t>Suppose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positive integers</a:t>
            </a:r>
            <a:r>
              <a:rPr sz="2400" dirty="0">
                <a:latin typeface="Calibri"/>
                <a:cs typeface="Calibri"/>
              </a:rPr>
              <a:t>	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≥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b.</a:t>
            </a:r>
            <a:endParaRPr sz="2400">
              <a:latin typeface="Calibri"/>
              <a:cs typeface="Calibri"/>
            </a:endParaRPr>
          </a:p>
          <a:p>
            <a:pPr marL="38100">
              <a:spcBef>
                <a:spcPts val="1200"/>
              </a:spcBef>
            </a:pPr>
            <a:r>
              <a:rPr sz="2400" dirty="0">
                <a:latin typeface="Calibri"/>
                <a:cs typeface="Calibri"/>
              </a:rPr>
              <a:t>Let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</a:t>
            </a:r>
            <a:r>
              <a:rPr sz="2400" baseline="-20833" dirty="0">
                <a:latin typeface="Calibri"/>
                <a:cs typeface="Calibri"/>
              </a:rPr>
              <a:t>0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</a:t>
            </a:r>
            <a:r>
              <a:rPr sz="2400" baseline="-20833" dirty="0">
                <a:latin typeface="Calibri"/>
                <a:cs typeface="Calibri"/>
              </a:rPr>
              <a:t>1</a:t>
            </a:r>
            <a:r>
              <a:rPr sz="2400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b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8100" marR="30480">
              <a:lnSpc>
                <a:spcPct val="141700"/>
              </a:lnSpc>
            </a:pPr>
            <a:r>
              <a:rPr sz="2400" dirty="0">
                <a:latin typeface="Calibri"/>
                <a:cs typeface="Calibri"/>
              </a:rPr>
              <a:t>Successive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division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yields: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82345" y="1209112"/>
            <a:ext cx="1071245" cy="76136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8100">
              <a:spcBef>
                <a:spcPts val="710"/>
              </a:spcBef>
            </a:pP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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baseline="-25252" dirty="0">
                <a:latin typeface="Times New Roman"/>
                <a:cs typeface="Times New Roman"/>
              </a:rPr>
              <a:t>2</a:t>
            </a:r>
            <a:r>
              <a:rPr sz="1650" spc="450" baseline="-2525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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i="1" spc="-155" dirty="0">
                <a:latin typeface="Times New Roman"/>
                <a:cs typeface="Times New Roman"/>
              </a:rPr>
              <a:t>r</a:t>
            </a:r>
            <a:r>
              <a:rPr sz="1650" spc="-232" baseline="-25252" dirty="0">
                <a:latin typeface="Times New Roman"/>
                <a:cs typeface="Times New Roman"/>
              </a:rPr>
              <a:t>1</a:t>
            </a:r>
            <a:r>
              <a:rPr sz="1650" spc="-254" baseline="-25252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,</a:t>
            </a:r>
            <a:endParaRPr sz="1900">
              <a:latin typeface="Times New Roman"/>
              <a:cs typeface="Times New Roman"/>
            </a:endParaRPr>
          </a:p>
          <a:p>
            <a:pPr marL="38100">
              <a:spcBef>
                <a:spcPts val="615"/>
              </a:spcBef>
            </a:pP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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r</a:t>
            </a:r>
            <a:r>
              <a:rPr sz="1650" spc="-15" baseline="-25252" dirty="0">
                <a:latin typeface="Times New Roman"/>
                <a:cs typeface="Times New Roman"/>
              </a:rPr>
              <a:t>3</a:t>
            </a:r>
            <a:r>
              <a:rPr sz="1650" spc="390" baseline="-2525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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spc="-90" dirty="0">
                <a:latin typeface="Times New Roman"/>
                <a:cs typeface="Times New Roman"/>
              </a:rPr>
              <a:t>r</a:t>
            </a:r>
            <a:r>
              <a:rPr sz="1650" spc="-135" baseline="-25252" dirty="0">
                <a:latin typeface="Times New Roman"/>
                <a:cs typeface="Times New Roman"/>
              </a:rPr>
              <a:t>2 </a:t>
            </a:r>
            <a:r>
              <a:rPr sz="1900" spc="-50" dirty="0">
                <a:latin typeface="Times New Roman"/>
                <a:cs typeface="Times New Roman"/>
              </a:rPr>
              <a:t>,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2670" y="3122521"/>
            <a:ext cx="122301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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i="1" baseline="-25252" dirty="0">
                <a:latin typeface="Times New Roman"/>
                <a:cs typeface="Times New Roman"/>
              </a:rPr>
              <a:t>n</a:t>
            </a:r>
            <a:r>
              <a:rPr sz="1650" i="1" spc="480" baseline="-2525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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i="1" spc="-40" dirty="0">
                <a:latin typeface="Times New Roman"/>
                <a:cs typeface="Times New Roman"/>
              </a:rPr>
              <a:t>r</a:t>
            </a:r>
            <a:r>
              <a:rPr sz="1650" i="1" spc="-60" baseline="-25252" dirty="0">
                <a:latin typeface="Times New Roman"/>
                <a:cs typeface="Times New Roman"/>
              </a:rPr>
              <a:t>n</a:t>
            </a:r>
            <a:r>
              <a:rPr sz="1650" spc="-60" baseline="-25252" dirty="0">
                <a:latin typeface="Symbol"/>
                <a:cs typeface="Symbol"/>
              </a:rPr>
              <a:t></a:t>
            </a:r>
            <a:r>
              <a:rPr sz="1650" spc="-60" baseline="-25252" dirty="0">
                <a:latin typeface="Times New Roman"/>
                <a:cs typeface="Times New Roman"/>
              </a:rPr>
              <a:t>1</a:t>
            </a:r>
            <a:r>
              <a:rPr sz="1650" spc="-262" baseline="-25252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,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59628" y="1209110"/>
            <a:ext cx="1675130" cy="2600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506730">
              <a:lnSpc>
                <a:spcPct val="127099"/>
              </a:lnSpc>
              <a:spcBef>
                <a:spcPts val="90"/>
              </a:spcBef>
            </a:pP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baseline="-25252" dirty="0">
                <a:latin typeface="Times New Roman"/>
                <a:cs typeface="Times New Roman"/>
              </a:rPr>
              <a:t>0</a:t>
            </a:r>
            <a:r>
              <a:rPr sz="1650" spc="330" baseline="-2525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i="1" spc="-70" dirty="0">
                <a:latin typeface="Times New Roman"/>
                <a:cs typeface="Times New Roman"/>
              </a:rPr>
              <a:t>r</a:t>
            </a:r>
            <a:r>
              <a:rPr sz="1650" spc="-104" baseline="-25252" dirty="0">
                <a:latin typeface="Times New Roman"/>
                <a:cs typeface="Times New Roman"/>
              </a:rPr>
              <a:t>1</a:t>
            </a:r>
            <a:r>
              <a:rPr sz="1900" i="1" spc="-70" dirty="0">
                <a:latin typeface="Times New Roman"/>
                <a:cs typeface="Times New Roman"/>
              </a:rPr>
              <a:t>q</a:t>
            </a:r>
            <a:r>
              <a:rPr sz="1650" spc="-104" baseline="-25252" dirty="0">
                <a:latin typeface="Times New Roman"/>
                <a:cs typeface="Times New Roman"/>
              </a:rPr>
              <a:t>1</a:t>
            </a:r>
            <a:r>
              <a:rPr sz="1650" spc="142" baseline="-2525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Times New Roman"/>
                <a:cs typeface="Times New Roman"/>
              </a:rPr>
              <a:t>r</a:t>
            </a:r>
            <a:r>
              <a:rPr sz="1650" spc="-37" baseline="-25252" dirty="0">
                <a:latin typeface="Times New Roman"/>
                <a:cs typeface="Times New Roman"/>
              </a:rPr>
              <a:t>2 </a:t>
            </a:r>
            <a:r>
              <a:rPr sz="1900" i="1" spc="-55" dirty="0">
                <a:latin typeface="Times New Roman"/>
                <a:cs typeface="Times New Roman"/>
              </a:rPr>
              <a:t>r</a:t>
            </a:r>
            <a:r>
              <a:rPr sz="1650" spc="-82" baseline="-25252" dirty="0">
                <a:latin typeface="Times New Roman"/>
                <a:cs typeface="Times New Roman"/>
              </a:rPr>
              <a:t>1</a:t>
            </a:r>
            <a:r>
              <a:rPr sz="1650" spc="254" baseline="-2525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baseline="-25252" dirty="0">
                <a:latin typeface="Times New Roman"/>
                <a:cs typeface="Times New Roman"/>
              </a:rPr>
              <a:t>2</a:t>
            </a:r>
            <a:r>
              <a:rPr sz="1900" i="1" dirty="0">
                <a:latin typeface="Times New Roman"/>
                <a:cs typeface="Times New Roman"/>
              </a:rPr>
              <a:t>q</a:t>
            </a:r>
            <a:r>
              <a:rPr sz="1650" baseline="-25252" dirty="0">
                <a:latin typeface="Times New Roman"/>
                <a:cs typeface="Times New Roman"/>
              </a:rPr>
              <a:t>2</a:t>
            </a:r>
            <a:r>
              <a:rPr sz="1650" spc="270" baseline="-2525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i="1" spc="-95" dirty="0">
                <a:latin typeface="Times New Roman"/>
                <a:cs typeface="Times New Roman"/>
              </a:rPr>
              <a:t>r</a:t>
            </a:r>
            <a:r>
              <a:rPr sz="1650" spc="-142" baseline="-25252" dirty="0">
                <a:latin typeface="Times New Roman"/>
                <a:cs typeface="Times New Roman"/>
              </a:rPr>
              <a:t>3</a:t>
            </a:r>
            <a:endParaRPr sz="1650" baseline="-25252">
              <a:latin typeface="Times New Roman"/>
              <a:cs typeface="Times New Roman"/>
            </a:endParaRPr>
          </a:p>
          <a:p>
            <a:pPr marL="344170">
              <a:spcBef>
                <a:spcPts val="620"/>
              </a:spcBef>
            </a:pPr>
            <a:r>
              <a:rPr sz="1900" spc="-50" dirty="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347980">
              <a:spcBef>
                <a:spcPts val="615"/>
              </a:spcBef>
            </a:pPr>
            <a:r>
              <a:rPr sz="1900" spc="-50" dirty="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347980">
              <a:spcBef>
                <a:spcPts val="620"/>
              </a:spcBef>
            </a:pPr>
            <a:r>
              <a:rPr sz="1900" spc="-50" dirty="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38100" marR="30480">
              <a:lnSpc>
                <a:spcPct val="105200"/>
              </a:lnSpc>
              <a:spcBef>
                <a:spcPts val="994"/>
              </a:spcBef>
            </a:pPr>
            <a:r>
              <a:rPr sz="2850" i="1" baseline="14619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Times New Roman"/>
                <a:cs typeface="Times New Roman"/>
              </a:rPr>
              <a:t>n</a:t>
            </a:r>
            <a:r>
              <a:rPr sz="1100" dirty="0">
                <a:latin typeface="Symbol"/>
                <a:cs typeface="Symbol"/>
              </a:rPr>
              <a:t></a:t>
            </a:r>
            <a:r>
              <a:rPr sz="1100" dirty="0">
                <a:latin typeface="Times New Roman"/>
                <a:cs typeface="Times New Roman"/>
              </a:rPr>
              <a:t>2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2850" baseline="14619" dirty="0">
                <a:latin typeface="Symbol"/>
                <a:cs typeface="Symbol"/>
              </a:rPr>
              <a:t></a:t>
            </a:r>
            <a:r>
              <a:rPr sz="2850" spc="-67" baseline="14619" dirty="0">
                <a:latin typeface="Times New Roman"/>
                <a:cs typeface="Times New Roman"/>
              </a:rPr>
              <a:t> </a:t>
            </a:r>
            <a:r>
              <a:rPr sz="2850" i="1" baseline="14619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Times New Roman"/>
                <a:cs typeface="Times New Roman"/>
              </a:rPr>
              <a:t>n</a:t>
            </a:r>
            <a:r>
              <a:rPr sz="1100" dirty="0">
                <a:latin typeface="Symbol"/>
                <a:cs typeface="Symbol"/>
              </a:rPr>
              <a:t>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2850" i="1" baseline="14619" dirty="0">
                <a:latin typeface="Times New Roman"/>
                <a:cs typeface="Times New Roman"/>
              </a:rPr>
              <a:t>q</a:t>
            </a:r>
            <a:r>
              <a:rPr sz="1100" i="1" dirty="0">
                <a:latin typeface="Times New Roman"/>
                <a:cs typeface="Times New Roman"/>
              </a:rPr>
              <a:t>n</a:t>
            </a:r>
            <a:r>
              <a:rPr sz="1100" dirty="0">
                <a:latin typeface="Symbol"/>
                <a:cs typeface="Symbol"/>
              </a:rPr>
              <a:t>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2850" baseline="14619" dirty="0">
                <a:latin typeface="Symbol"/>
                <a:cs typeface="Symbol"/>
              </a:rPr>
              <a:t></a:t>
            </a:r>
            <a:r>
              <a:rPr sz="2850" spc="-187" baseline="14619" dirty="0">
                <a:latin typeface="Times New Roman"/>
                <a:cs typeface="Times New Roman"/>
              </a:rPr>
              <a:t> </a:t>
            </a:r>
            <a:r>
              <a:rPr sz="2850" i="1" spc="-104" baseline="14619" dirty="0">
                <a:latin typeface="Times New Roman"/>
                <a:cs typeface="Times New Roman"/>
              </a:rPr>
              <a:t>r</a:t>
            </a:r>
            <a:r>
              <a:rPr sz="1100" spc="-70" dirty="0">
                <a:latin typeface="Times New Roman"/>
                <a:cs typeface="Times New Roman"/>
              </a:rPr>
              <a:t>2 </a:t>
            </a:r>
            <a:r>
              <a:rPr sz="1900" i="1" dirty="0">
                <a:latin typeface="Times New Roman"/>
                <a:cs typeface="Times New Roman"/>
              </a:rPr>
              <a:t>r</a:t>
            </a:r>
            <a:r>
              <a:rPr sz="1650" i="1" baseline="-25252" dirty="0">
                <a:latin typeface="Times New Roman"/>
                <a:cs typeface="Times New Roman"/>
              </a:rPr>
              <a:t>n</a:t>
            </a:r>
            <a:r>
              <a:rPr sz="1650" baseline="-25252" dirty="0">
                <a:latin typeface="Symbol"/>
                <a:cs typeface="Symbol"/>
              </a:rPr>
              <a:t></a:t>
            </a:r>
            <a:r>
              <a:rPr sz="1650" baseline="-25252" dirty="0">
                <a:latin typeface="Times New Roman"/>
                <a:cs typeface="Times New Roman"/>
              </a:rPr>
              <a:t>1</a:t>
            </a:r>
            <a:r>
              <a:rPr sz="1650" spc="322" baseline="-25252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i="1" spc="-95" dirty="0">
                <a:latin typeface="Times New Roman"/>
                <a:cs typeface="Times New Roman"/>
              </a:rPr>
              <a:t>r</a:t>
            </a:r>
            <a:r>
              <a:rPr sz="1650" i="1" spc="-142" baseline="-25252" dirty="0">
                <a:latin typeface="Times New Roman"/>
                <a:cs typeface="Times New Roman"/>
              </a:rPr>
              <a:t>n</a:t>
            </a:r>
            <a:r>
              <a:rPr sz="1650" i="1" spc="-247" baseline="-25252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q</a:t>
            </a:r>
            <a:r>
              <a:rPr sz="1650" i="1" baseline="-25252" dirty="0">
                <a:latin typeface="Times New Roman"/>
                <a:cs typeface="Times New Roman"/>
              </a:rPr>
              <a:t>n</a:t>
            </a:r>
            <a:r>
              <a:rPr sz="1650" i="1" spc="-195" baseline="-25252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34541" y="3824097"/>
            <a:ext cx="7994015" cy="2738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Eventually,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remainder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zero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terms: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</a:t>
            </a:r>
            <a:r>
              <a:rPr sz="2400" baseline="-20833" dirty="0">
                <a:latin typeface="Calibri"/>
                <a:cs typeface="Calibri"/>
              </a:rPr>
              <a:t>0</a:t>
            </a:r>
            <a:r>
              <a:rPr sz="2400" spc="-37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</a:t>
            </a:r>
            <a:r>
              <a:rPr sz="2400" baseline="-20833" dirty="0">
                <a:latin typeface="Calibri"/>
                <a:cs typeface="Calibri"/>
              </a:rPr>
              <a:t>1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</a:t>
            </a:r>
            <a:r>
              <a:rPr sz="2400" baseline="-20833" dirty="0">
                <a:latin typeface="Calibri"/>
                <a:cs typeface="Calibri"/>
              </a:rPr>
              <a:t>2</a:t>
            </a:r>
            <a:r>
              <a:rPr sz="2400" spc="225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&gt;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∙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∙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∙</a:t>
            </a:r>
            <a:r>
              <a:rPr sz="2400" spc="4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≥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sequence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can’t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terms.</a:t>
            </a:r>
            <a:endParaRPr sz="2400">
              <a:latin typeface="Calibri"/>
              <a:cs typeface="Calibri"/>
            </a:endParaRPr>
          </a:p>
          <a:p>
            <a:pPr marL="38100" algn="just">
              <a:spcBef>
                <a:spcPts val="409"/>
              </a:spcBef>
            </a:pP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Lemma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38100" marR="1232535" algn="just">
              <a:lnSpc>
                <a:spcPct val="106900"/>
              </a:lnSpc>
              <a:spcBef>
                <a:spcPts val="195"/>
              </a:spcBef>
            </a:pPr>
            <a:r>
              <a:rPr sz="2400" dirty="0">
                <a:latin typeface="Calibri"/>
                <a:cs typeface="Calibri"/>
              </a:rPr>
              <a:t>gcd(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gcd(</a:t>
            </a:r>
            <a:r>
              <a:rPr sz="2400" i="1" dirty="0">
                <a:latin typeface="Calibri"/>
                <a:cs typeface="Calibri"/>
              </a:rPr>
              <a:t>r</a:t>
            </a:r>
            <a:r>
              <a:rPr sz="2400" baseline="-20833" dirty="0">
                <a:latin typeface="Calibri"/>
                <a:cs typeface="Calibri"/>
              </a:rPr>
              <a:t>0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i="1" dirty="0">
                <a:latin typeface="Calibri"/>
                <a:cs typeface="Calibri"/>
              </a:rPr>
              <a:t>r</a:t>
            </a:r>
            <a:r>
              <a:rPr sz="2400" baseline="-20833" dirty="0">
                <a:latin typeface="Calibri"/>
                <a:cs typeface="Calibri"/>
              </a:rPr>
              <a:t>1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∙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∙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∙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gcd(</a:t>
            </a:r>
            <a:r>
              <a:rPr sz="2400" i="1" spc="-10" dirty="0">
                <a:latin typeface="Calibri"/>
                <a:cs typeface="Calibri"/>
              </a:rPr>
              <a:t>r</a:t>
            </a:r>
            <a:r>
              <a:rPr sz="2400" i="1" spc="-15" baseline="-20833" dirty="0">
                <a:latin typeface="Calibri"/>
                <a:cs typeface="Calibri"/>
              </a:rPr>
              <a:t>n</a:t>
            </a:r>
            <a:r>
              <a:rPr sz="2400" spc="-15" baseline="-20833" dirty="0">
                <a:latin typeface="Calibri"/>
                <a:cs typeface="Calibri"/>
              </a:rPr>
              <a:t>-</a:t>
            </a:r>
            <a:r>
              <a:rPr sz="2400" baseline="-20833" dirty="0">
                <a:latin typeface="Calibri"/>
                <a:cs typeface="Calibri"/>
              </a:rPr>
              <a:t>1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i="1" dirty="0">
                <a:latin typeface="Calibri"/>
                <a:cs typeface="Calibri"/>
              </a:rPr>
              <a:t>r</a:t>
            </a:r>
            <a:r>
              <a:rPr sz="2400" i="1" baseline="-20833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gcd(r</a:t>
            </a:r>
            <a:r>
              <a:rPr sz="2400" i="1" baseline="-20833" dirty="0">
                <a:latin typeface="Calibri"/>
                <a:cs typeface="Calibri"/>
              </a:rPr>
              <a:t>n</a:t>
            </a:r>
            <a:r>
              <a:rPr sz="2400" i="1" spc="-30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r</a:t>
            </a:r>
            <a:r>
              <a:rPr sz="2400" i="1" spc="-37" baseline="-20833" dirty="0">
                <a:latin typeface="Calibri"/>
                <a:cs typeface="Calibri"/>
              </a:rPr>
              <a:t>n</a:t>
            </a:r>
            <a:r>
              <a:rPr sz="2400" spc="-25" dirty="0">
                <a:latin typeface="Calibri"/>
                <a:cs typeface="Calibri"/>
              </a:rPr>
              <a:t>. </a:t>
            </a:r>
            <a:r>
              <a:rPr sz="2400" dirty="0">
                <a:latin typeface="Calibri"/>
                <a:cs typeface="Calibri"/>
              </a:rPr>
              <a:t>Hence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greatest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divisor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nonzero remainder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sequence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divisions.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2400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78739" y="6736715"/>
            <a:ext cx="1309370" cy="127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lang="en-IN"/>
              <a:t>©</a:t>
            </a:r>
            <a:r>
              <a:rPr lang="en-IN" spc="-5"/>
              <a:t> </a:t>
            </a:r>
            <a:r>
              <a:rPr lang="en-IN"/>
              <a:t>2019</a:t>
            </a:r>
            <a:r>
              <a:rPr lang="en-IN" spc="-30"/>
              <a:t> </a:t>
            </a:r>
            <a:r>
              <a:rPr lang="en-IN" spc="-10"/>
              <a:t>McGraw-</a:t>
            </a:r>
            <a:r>
              <a:rPr lang="en-IN"/>
              <a:t>Hill</a:t>
            </a:r>
            <a:r>
              <a:rPr lang="en-IN" spc="20"/>
              <a:t> </a:t>
            </a:r>
            <a:r>
              <a:rPr lang="en-IN" spc="-10"/>
              <a:t>Education</a:t>
            </a:r>
            <a:endParaRPr spc="-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F79C-7808-759B-FC15-17E4E62B1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for Primality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16F60-4F22-1CA0-05DC-09A6A1A5A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i="1" dirty="0"/>
              <a:t>Primality testing</a:t>
            </a:r>
            <a:r>
              <a:rPr lang="en-US" dirty="0"/>
              <a:t> is the process of determining whether a given number is </a:t>
            </a:r>
            <a:r>
              <a:rPr lang="en-US" b="1" dirty="0"/>
              <a:t>prime</a:t>
            </a:r>
            <a:r>
              <a:rPr lang="en-US" dirty="0"/>
              <a:t> or </a:t>
            </a:r>
            <a:r>
              <a:rPr lang="en-US" b="1" dirty="0"/>
              <a:t>composite</a:t>
            </a:r>
            <a:r>
              <a:rPr lang="en-US" dirty="0"/>
              <a:t> (not prime).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What is a Prime Number?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prime number</a:t>
            </a:r>
            <a:r>
              <a:rPr lang="en-US" dirty="0"/>
              <a:t> is a number greater than 1 that has no positive divisors other than 1 and itself.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5568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AA1E6-EF3A-A130-0E79-B65A811A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</a:t>
            </a:r>
            <a:r>
              <a:rPr lang="en-US" b="1" dirty="0"/>
              <a:t>Basic Methods for Primality Testing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C36A5-E2F3-DE8B-A23B-FA4C1F012E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1. Trial Division (Naive Method)</a:t>
                </a:r>
              </a:p>
              <a:p>
                <a:r>
                  <a:rPr lang="en-US" dirty="0"/>
                  <a:t>Check if the number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/>
                  <a:t> is divisible by any number from 2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  <m:r>
                      <a:rPr lang="en-I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If no divisor is found, the number is prime.</a:t>
                </a:r>
              </a:p>
              <a:p>
                <a:r>
                  <a:rPr lang="en-US" b="1" dirty="0"/>
                  <a:t>Example:</a:t>
                </a:r>
                <a:br>
                  <a:rPr lang="en-US" dirty="0"/>
                </a:br>
                <a:r>
                  <a:rPr lang="en-US" dirty="0"/>
                  <a:t>Check if 29 is prime:</a:t>
                </a:r>
                <a:br>
                  <a:rPr lang="en-US" dirty="0"/>
                </a:br>
                <a:r>
                  <a:rPr lang="en-US" dirty="0"/>
                  <a:t>Try dividing 29 by 2, 3, 4, 5 (i.e., up to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</m:oMath>
                </a14:m>
                <a:r>
                  <a:rPr lang="en-US" dirty="0"/>
                  <a:t>29≈5.38).</a:t>
                </a:r>
                <a:br>
                  <a:rPr lang="en-US" dirty="0"/>
                </a:br>
                <a:r>
                  <a:rPr lang="en-US" dirty="0"/>
                  <a:t>No divisor → 29 is prime ✔️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C36A5-E2F3-DE8B-A23B-FA4C1F012E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327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36DD-96A0-9EE1-F707-D003CC30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1A2A8-512C-E2C5-F27A-1E3B569A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</a:t>
            </a:r>
            <a:r>
              <a:rPr lang="en-US" b="1" dirty="0"/>
              <a:t>Basic Methods for Primality Testing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C059E-32B1-54E4-FB8C-8D4E709D2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Sieve of Eratosthenes</a:t>
            </a:r>
          </a:p>
          <a:p>
            <a:r>
              <a:rPr lang="en-US" dirty="0"/>
              <a:t>Used to find </a:t>
            </a:r>
            <a:r>
              <a:rPr lang="en-US" b="1" dirty="0"/>
              <a:t>all primes</a:t>
            </a:r>
            <a:r>
              <a:rPr lang="en-US" dirty="0"/>
              <a:t> up to a limit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.</a:t>
            </a:r>
          </a:p>
          <a:p>
            <a:r>
              <a:rPr lang="en-US" dirty="0"/>
              <a:t>Mark multiples of each number starting from 2.</a:t>
            </a:r>
          </a:p>
          <a:p>
            <a:r>
              <a:rPr lang="en-US" dirty="0"/>
              <a:t>Remaining unmarked numbers are primes.</a:t>
            </a:r>
          </a:p>
          <a:p>
            <a:r>
              <a:rPr lang="en-US" dirty="0"/>
              <a:t>Useful for </a:t>
            </a:r>
            <a:r>
              <a:rPr lang="en-US" b="1" dirty="0"/>
              <a:t>generating</a:t>
            </a:r>
            <a:r>
              <a:rPr lang="en-US" dirty="0"/>
              <a:t> many primes, not checking a single large one.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7342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19F4E-D6F7-E948-C45B-BA1B4383E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648E0-D72A-6CF5-078A-ECB693E2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</a:t>
            </a:r>
            <a:r>
              <a:rPr lang="en-US" b="1" dirty="0"/>
              <a:t>Basic Methods for Primality Testing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66037-F1FA-9E2A-44CC-8A66AE2D9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3. Fermat Primality Test (Probabilistic)</a:t>
            </a:r>
          </a:p>
          <a:p>
            <a:r>
              <a:rPr lang="en-IN" dirty="0"/>
              <a:t>Based on Fermat’s Little Theorem:</a:t>
            </a:r>
            <a:br>
              <a:rPr lang="en-IN" dirty="0"/>
            </a:br>
            <a:r>
              <a:rPr lang="en-IN" dirty="0"/>
              <a:t>If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dirty="0"/>
              <a:t> is prime, then for any integer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/>
              <a:t>,</a:t>
            </a:r>
            <a:br>
              <a:rPr lang="en-IN" dirty="0"/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/>
              <a:t> </a:t>
            </a:r>
            <a:r>
              <a:rPr lang="en-I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baseline="30000" dirty="0"/>
              <a:t>−1</a:t>
            </a:r>
            <a:r>
              <a:rPr lang="en-IN" dirty="0"/>
              <a:t>≡1(mod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dirty="0"/>
              <a:t>) </a:t>
            </a:r>
          </a:p>
          <a:p>
            <a:r>
              <a:rPr lang="en-IN" dirty="0"/>
              <a:t>Choose random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/>
              <a:t>, and check the congruence.</a:t>
            </a:r>
          </a:p>
          <a:p>
            <a:r>
              <a:rPr lang="en-IN" dirty="0"/>
              <a:t>If it fails,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dirty="0"/>
              <a:t> is </a:t>
            </a:r>
            <a:r>
              <a:rPr lang="en-IN" b="1" dirty="0"/>
              <a:t>composite</a:t>
            </a:r>
            <a:r>
              <a:rPr lang="en-IN" dirty="0"/>
              <a:t>.</a:t>
            </a:r>
          </a:p>
          <a:p>
            <a:r>
              <a:rPr lang="en-IN" dirty="0"/>
              <a:t>If it passes for several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/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dirty="0"/>
              <a:t> is </a:t>
            </a:r>
            <a:r>
              <a:rPr lang="en-IN" b="1" dirty="0"/>
              <a:t>probably prime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7923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D6785-D0A1-80B4-E19F-9AE63FF7C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B236-32D6-C08D-DCF7-28453DDEF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</a:t>
            </a:r>
            <a:r>
              <a:rPr lang="en-US" b="1" dirty="0"/>
              <a:t>Basic Methods for Primality Testing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05A93-4F65-42E8-F3D0-7C036FCE6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Miller-Rabin Primality Test (Better Probabilistic)</a:t>
            </a:r>
          </a:p>
          <a:p>
            <a:r>
              <a:rPr lang="en-US" dirty="0"/>
              <a:t>An improved version of Fermat's test with multiple checks.</a:t>
            </a:r>
          </a:p>
          <a:p>
            <a:r>
              <a:rPr lang="en-US" dirty="0"/>
              <a:t>Repeated testing reduces the probability of error.</a:t>
            </a:r>
          </a:p>
          <a:p>
            <a:r>
              <a:rPr lang="en-US" dirty="0"/>
              <a:t>✔️ Widely used in cryptography (e.g., RSA key generation).</a:t>
            </a:r>
            <a:br>
              <a:rPr lang="en-US" dirty="0"/>
            </a:br>
            <a:r>
              <a:rPr lang="en-US" dirty="0"/>
              <a:t>✔️ Fast and reliable for large numbers.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1586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99503-9FA2-2D29-9478-BFDD9527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BB9D-53E0-B713-9755-D91D6CA30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</a:t>
            </a:r>
            <a:r>
              <a:rPr lang="en-US" b="1" dirty="0"/>
              <a:t>Basic Methods for Primality Testing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BC73B-2E2E-A5F0-C88D-E48D513E5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5. AKS Primality Test (Deterministic)</a:t>
            </a:r>
          </a:p>
          <a:p>
            <a:r>
              <a:rPr lang="en-US" dirty="0"/>
              <a:t>First polynomial-time </a:t>
            </a:r>
            <a:r>
              <a:rPr lang="en-US" b="1" dirty="0"/>
              <a:t>deterministic</a:t>
            </a:r>
            <a:r>
              <a:rPr lang="en-US" dirty="0"/>
              <a:t> primality test.</a:t>
            </a:r>
          </a:p>
          <a:p>
            <a:r>
              <a:rPr lang="en-US" dirty="0"/>
              <a:t>Always correct — not based on probability.</a:t>
            </a:r>
          </a:p>
          <a:p>
            <a:r>
              <a:rPr lang="en-US" dirty="0"/>
              <a:t>But:</a:t>
            </a:r>
            <a:br>
              <a:rPr lang="en-US" dirty="0"/>
            </a:br>
            <a:r>
              <a:rPr lang="en-US" dirty="0"/>
              <a:t>❌ Slower than Miller-Rabin for practical usage.</a:t>
            </a:r>
            <a:br>
              <a:rPr lang="en-US" dirty="0"/>
            </a:br>
            <a:r>
              <a:rPr lang="en-US" dirty="0"/>
              <a:t>✅ Great for theoretical purposes.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543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24567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2481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Chinese</a:t>
            </a:r>
            <a:r>
              <a:rPr spc="-35" dirty="0"/>
              <a:t> </a:t>
            </a:r>
            <a:r>
              <a:rPr dirty="0"/>
              <a:t>Remainder</a:t>
            </a:r>
            <a:r>
              <a:rPr spc="-50" dirty="0"/>
              <a:t> </a:t>
            </a:r>
            <a:r>
              <a:rPr spc="-10" dirty="0"/>
              <a:t>Theorem</a:t>
            </a:r>
            <a:r>
              <a:rPr sz="1500" spc="-10" dirty="0"/>
              <a:t>1</a:t>
            </a:r>
            <a:r>
              <a:rPr spc="-10" dirty="0"/>
              <a:t>*</a:t>
            </a:r>
            <a:endParaRPr sz="1500" dirty="0"/>
          </a:p>
        </p:txBody>
      </p:sp>
      <p:sp>
        <p:nvSpPr>
          <p:cNvPr id="3" name="object 3"/>
          <p:cNvSpPr txBox="1"/>
          <p:nvPr/>
        </p:nvSpPr>
        <p:spPr>
          <a:xfrm>
            <a:off x="1110342" y="1181279"/>
            <a:ext cx="9797143" cy="460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5000"/>
              </a:lnSpc>
              <a:spcBef>
                <a:spcPts val="95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century,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Chinese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mathematician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Sun-</a:t>
            </a:r>
            <a:r>
              <a:rPr sz="2400" spc="-40" dirty="0">
                <a:latin typeface="Calibri"/>
                <a:cs typeface="Calibri"/>
              </a:rPr>
              <a:t>Tsu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asked: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certain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things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unknown.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divided</a:t>
            </a:r>
            <a:endParaRPr sz="2400" dirty="0">
              <a:latin typeface="Calibri"/>
              <a:cs typeface="Calibri"/>
            </a:endParaRPr>
          </a:p>
          <a:p>
            <a:pPr marL="12700" marR="7620" algn="just"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remainder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2;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remainder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3;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remainder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things?</a:t>
            </a:r>
            <a:endParaRPr sz="2400" dirty="0">
              <a:latin typeface="Calibri"/>
              <a:cs typeface="Calibri"/>
            </a:endParaRPr>
          </a:p>
          <a:p>
            <a:pPr marL="12700" marR="439420" algn="just">
              <a:spcBef>
                <a:spcPts val="994"/>
              </a:spcBef>
              <a:tabLst>
                <a:tab pos="4739005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puzzle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translated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solution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congruences:</a:t>
            </a:r>
            <a:endParaRPr sz="2400" dirty="0">
              <a:latin typeface="Calibri"/>
              <a:cs typeface="Calibri"/>
            </a:endParaRPr>
          </a:p>
          <a:p>
            <a:pPr marL="127000" algn="just">
              <a:spcBef>
                <a:spcPts val="994"/>
              </a:spcBef>
            </a:pPr>
            <a:r>
              <a:rPr sz="2400" i="1" dirty="0">
                <a:latin typeface="Calibri"/>
                <a:cs typeface="Calibri"/>
              </a:rPr>
              <a:t>x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≡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3),</a:t>
            </a:r>
            <a:endParaRPr sz="2400" dirty="0">
              <a:latin typeface="Calibri"/>
              <a:cs typeface="Calibri"/>
            </a:endParaRPr>
          </a:p>
          <a:p>
            <a:pPr marL="127000" algn="just">
              <a:spcBef>
                <a:spcPts val="1010"/>
              </a:spcBef>
            </a:pPr>
            <a:r>
              <a:rPr sz="2400" i="1" dirty="0">
                <a:latin typeface="Calibri"/>
                <a:cs typeface="Calibri"/>
              </a:rPr>
              <a:t>x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≡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5),</a:t>
            </a:r>
            <a:endParaRPr sz="2400" dirty="0">
              <a:latin typeface="Calibri"/>
              <a:cs typeface="Calibri"/>
            </a:endParaRPr>
          </a:p>
          <a:p>
            <a:pPr marL="127000" algn="just">
              <a:spcBef>
                <a:spcPts val="1000"/>
              </a:spcBef>
            </a:pPr>
            <a:r>
              <a:rPr sz="2400" i="1" dirty="0">
                <a:latin typeface="Calibri"/>
                <a:cs typeface="Calibri"/>
              </a:rPr>
              <a:t>x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≡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7)?</a:t>
            </a:r>
            <a:endParaRPr sz="2400" dirty="0">
              <a:latin typeface="Calibri"/>
              <a:cs typeface="Calibri"/>
            </a:endParaRPr>
          </a:p>
          <a:p>
            <a:pPr marL="12700" algn="just">
              <a:spcBef>
                <a:spcPts val="994"/>
              </a:spcBef>
            </a:pPr>
            <a:r>
              <a:rPr sz="2400" spc="-10" dirty="0">
                <a:latin typeface="Calibri"/>
                <a:cs typeface="Calibri"/>
              </a:rPr>
              <a:t>We’ll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theorem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Chinese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5543" y="0"/>
            <a:ext cx="10395857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02739" y="6171158"/>
            <a:ext cx="7965440" cy="69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>
              <a:lnSpc>
                <a:spcPts val="2380"/>
              </a:lnSpc>
            </a:pPr>
            <a:r>
              <a:rPr sz="2400" i="1" spc="-10" dirty="0">
                <a:latin typeface="Calibri"/>
                <a:cs typeface="Calibri"/>
              </a:rPr>
              <a:t>Remainder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Theorem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Sun-</a:t>
            </a:r>
            <a:r>
              <a:rPr sz="2400" spc="-65" dirty="0">
                <a:latin typeface="Calibri"/>
                <a:cs typeface="Calibri"/>
              </a:rPr>
              <a:t>Tsu’s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problem.</a:t>
            </a:r>
            <a:endParaRPr sz="2400">
              <a:latin typeface="Calibri"/>
              <a:cs typeface="Calibri"/>
            </a:endParaRPr>
          </a:p>
          <a:p>
            <a:pPr marL="12700">
              <a:spcBef>
                <a:spcPts val="1975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2019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McGraw-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Hill</a:t>
            </a:r>
            <a:r>
              <a:rPr sz="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Education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6510" y="150688"/>
            <a:ext cx="7470775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24815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What is the Chinese Remainder Theorem?</a:t>
            </a:r>
            <a:endParaRPr sz="3200" dirty="0"/>
          </a:p>
        </p:txBody>
      </p:sp>
      <p:sp>
        <p:nvSpPr>
          <p:cNvPr id="4" name="object 4"/>
          <p:cNvSpPr/>
          <p:nvPr/>
        </p:nvSpPr>
        <p:spPr>
          <a:xfrm>
            <a:off x="152400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8739" y="6736715"/>
            <a:ext cx="1309370" cy="127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lang="en-IN"/>
              <a:t>©</a:t>
            </a:r>
            <a:r>
              <a:rPr lang="en-IN" spc="-5"/>
              <a:t> </a:t>
            </a:r>
            <a:r>
              <a:rPr lang="en-IN"/>
              <a:t>2019</a:t>
            </a:r>
            <a:r>
              <a:rPr lang="en-IN" spc="-30"/>
              <a:t> </a:t>
            </a:r>
            <a:r>
              <a:rPr lang="en-IN" spc="-10"/>
              <a:t>McGraw-</a:t>
            </a:r>
            <a:r>
              <a:rPr lang="en-IN"/>
              <a:t>Hill</a:t>
            </a:r>
            <a:r>
              <a:rPr lang="en-IN" spc="20"/>
              <a:t> </a:t>
            </a:r>
            <a:r>
              <a:rPr lang="en-IN" spc="-10"/>
              <a:t>Education</a:t>
            </a:r>
            <a:endParaRPr spc="-1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ADB176-8688-7E80-8D61-49734886CD6B}"/>
              </a:ext>
            </a:extLst>
          </p:cNvPr>
          <p:cNvSpPr txBox="1"/>
          <p:nvPr/>
        </p:nvSpPr>
        <p:spPr>
          <a:xfrm>
            <a:off x="1698171" y="956493"/>
            <a:ext cx="855617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CRT solves systems of simultaneous congruences with pairwise coprime moduli.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 guarantees a </a:t>
            </a:r>
            <a:r>
              <a:rPr lang="en-US" sz="2800" b="1" dirty="0"/>
              <a:t>unique solution modulo the product of the moduli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4743" y="310928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2481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Chinese</a:t>
            </a:r>
            <a:r>
              <a:rPr spc="-35" dirty="0"/>
              <a:t> </a:t>
            </a:r>
            <a:r>
              <a:rPr dirty="0"/>
              <a:t>Remainder</a:t>
            </a:r>
            <a:r>
              <a:rPr spc="-50" dirty="0"/>
              <a:t> </a:t>
            </a:r>
            <a:r>
              <a:rPr spc="-10" dirty="0"/>
              <a:t>Theorem</a:t>
            </a:r>
            <a:r>
              <a:rPr sz="1500" spc="-10" dirty="0"/>
              <a:t>3</a:t>
            </a:r>
            <a:r>
              <a:rPr spc="-10" dirty="0"/>
              <a:t>*</a:t>
            </a:r>
            <a:endParaRPr sz="1500" dirty="0"/>
          </a:p>
        </p:txBody>
      </p:sp>
      <p:sp>
        <p:nvSpPr>
          <p:cNvPr id="4" name="object 4"/>
          <p:cNvSpPr/>
          <p:nvPr/>
        </p:nvSpPr>
        <p:spPr>
          <a:xfrm>
            <a:off x="1055915" y="0"/>
            <a:ext cx="10189028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F16C6C-6529-8B08-2338-FF09EA1430A9}"/>
              </a:ext>
            </a:extLst>
          </p:cNvPr>
          <p:cNvSpPr txBox="1"/>
          <p:nvPr/>
        </p:nvSpPr>
        <p:spPr>
          <a:xfrm>
            <a:off x="1502229" y="1387988"/>
            <a:ext cx="918754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Solve the following system of congruences: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x≡2(mod3)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x≡3(mod4)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x≡2(mod5)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Solution:</a:t>
            </a:r>
          </a:p>
          <a:p>
            <a:r>
              <a:rPr lang="en-US" sz="2800" b="1" dirty="0"/>
              <a:t>Step 1 – Verify Coprime Moduli &amp; Compute 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Check: All moduli (3, 4, 5) are </a:t>
            </a:r>
            <a:r>
              <a:rPr lang="en-US" sz="2800" b="1" dirty="0"/>
              <a:t>pairwise coprime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Compute M=3×4×5=60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5AB0-467C-E30A-DDBA-E635CEC06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3C168C-6FCD-4F12-4FDA-A82A7B139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09800" y="51775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2481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Chinese</a:t>
            </a:r>
            <a:r>
              <a:rPr spc="-35" dirty="0"/>
              <a:t> </a:t>
            </a:r>
            <a:r>
              <a:rPr dirty="0"/>
              <a:t>Remainder</a:t>
            </a:r>
            <a:r>
              <a:rPr spc="-50" dirty="0"/>
              <a:t> </a:t>
            </a:r>
            <a:r>
              <a:rPr spc="-10" dirty="0"/>
              <a:t>Theorem</a:t>
            </a:r>
            <a:r>
              <a:rPr sz="1500" spc="-10" dirty="0"/>
              <a:t>3</a:t>
            </a:r>
            <a:r>
              <a:rPr spc="-10" dirty="0"/>
              <a:t>*</a:t>
            </a:r>
            <a:endParaRPr sz="15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B8C7475-93E6-1CDD-22F3-9EEEA475C1D4}"/>
              </a:ext>
            </a:extLst>
          </p:cNvPr>
          <p:cNvSpPr/>
          <p:nvPr/>
        </p:nvSpPr>
        <p:spPr>
          <a:xfrm>
            <a:off x="1055915" y="0"/>
            <a:ext cx="10189028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A8F63-9DC5-2A36-69B0-44E52D536B73}"/>
              </a:ext>
            </a:extLst>
          </p:cNvPr>
          <p:cNvSpPr txBox="1"/>
          <p:nvPr/>
        </p:nvSpPr>
        <p:spPr>
          <a:xfrm>
            <a:off x="1502229" y="1387988"/>
            <a:ext cx="91875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Step 2 – Compute M</a:t>
            </a:r>
            <a:r>
              <a:rPr lang="en-IN" sz="3200" b="1" baseline="-25000" dirty="0"/>
              <a:t>i</a:t>
            </a:r>
            <a:r>
              <a:rPr lang="en-IN" sz="3200" b="1" dirty="0"/>
              <a:t>​ and Modular Inverses</a:t>
            </a:r>
          </a:p>
          <a:p>
            <a:r>
              <a:rPr lang="en-IN" sz="3200" dirty="0"/>
              <a:t>M</a:t>
            </a:r>
            <a:r>
              <a:rPr lang="en-IN" sz="3200" baseline="-25000" dirty="0"/>
              <a:t>1</a:t>
            </a:r>
            <a:r>
              <a:rPr lang="en-IN" sz="3200" dirty="0"/>
              <a:t>=60/3=20, 	Inverse of 20  	mod  3=2…. y</a:t>
            </a:r>
            <a:r>
              <a:rPr lang="en-IN" sz="3200" baseline="-25000" dirty="0"/>
              <a:t>1</a:t>
            </a:r>
            <a:endParaRPr lang="en-IN" sz="3200" dirty="0"/>
          </a:p>
          <a:p>
            <a:r>
              <a:rPr lang="en-IN" sz="3200" dirty="0"/>
              <a:t>M</a:t>
            </a:r>
            <a:r>
              <a:rPr lang="en-IN" sz="3200" baseline="-25000" dirty="0"/>
              <a:t>2</a:t>
            </a:r>
            <a:r>
              <a:rPr lang="en-IN" sz="3200" dirty="0"/>
              <a:t>=60/4=15,	Inverse of 15 	mod  4=3…. y</a:t>
            </a:r>
            <a:r>
              <a:rPr lang="en-IN" sz="3200" baseline="-25000" dirty="0"/>
              <a:t>2</a:t>
            </a:r>
            <a:endParaRPr lang="en-IN" sz="3200" dirty="0"/>
          </a:p>
          <a:p>
            <a:r>
              <a:rPr lang="en-IN" sz="3200" dirty="0"/>
              <a:t>M</a:t>
            </a:r>
            <a:r>
              <a:rPr lang="en-IN" sz="3200" baseline="-25000" dirty="0"/>
              <a:t>3</a:t>
            </a:r>
            <a:r>
              <a:rPr lang="en-IN" sz="3200" dirty="0"/>
              <a:t>=60/5=12,	Inverse of 12	mod  5=3…. y</a:t>
            </a:r>
            <a:r>
              <a:rPr lang="en-IN" sz="3200" baseline="-25000" dirty="0"/>
              <a:t>3</a:t>
            </a:r>
            <a:endParaRPr lang="en-IN" sz="3200" dirty="0"/>
          </a:p>
          <a:p>
            <a:endParaRPr lang="en-IN" sz="3200" dirty="0"/>
          </a:p>
          <a:p>
            <a:r>
              <a:rPr lang="en-IN" sz="3200" b="1" dirty="0"/>
              <a:t>Step 3 – Apply CRT Formula</a:t>
            </a:r>
          </a:p>
          <a:p>
            <a:r>
              <a:rPr lang="en-IN" sz="3200" dirty="0"/>
              <a:t>x=(a</a:t>
            </a:r>
            <a:r>
              <a:rPr lang="en-IN" sz="3200" baseline="-25000" dirty="0"/>
              <a:t>1</a:t>
            </a:r>
            <a:r>
              <a:rPr lang="en-IN" sz="3200" dirty="0"/>
              <a:t>⋅M</a:t>
            </a:r>
            <a:r>
              <a:rPr lang="en-IN" sz="3200" baseline="-25000" dirty="0"/>
              <a:t>1</a:t>
            </a:r>
            <a:r>
              <a:rPr lang="en-IN" sz="3200" dirty="0"/>
              <a:t>⋅y</a:t>
            </a:r>
            <a:r>
              <a:rPr lang="en-IN" sz="3200" baseline="-25000" dirty="0"/>
              <a:t>1</a:t>
            </a:r>
            <a:r>
              <a:rPr lang="en-IN" sz="3200" dirty="0"/>
              <a:t>+a</a:t>
            </a:r>
            <a:r>
              <a:rPr lang="en-IN" sz="3200" baseline="-25000" dirty="0"/>
              <a:t>2</a:t>
            </a:r>
            <a:r>
              <a:rPr lang="en-IN" sz="3200" dirty="0"/>
              <a:t>⋅M</a:t>
            </a:r>
            <a:r>
              <a:rPr lang="en-IN" sz="3200" baseline="-25000" dirty="0"/>
              <a:t>2</a:t>
            </a:r>
            <a:r>
              <a:rPr lang="en-IN" sz="3200" dirty="0"/>
              <a:t>⋅y</a:t>
            </a:r>
            <a:r>
              <a:rPr lang="en-IN" sz="3200" baseline="-25000" dirty="0"/>
              <a:t>2</a:t>
            </a:r>
            <a:r>
              <a:rPr lang="en-IN" sz="3200" dirty="0"/>
              <a:t>+a</a:t>
            </a:r>
            <a:r>
              <a:rPr lang="en-IN" sz="3200" baseline="-25000" dirty="0"/>
              <a:t>3</a:t>
            </a:r>
            <a:r>
              <a:rPr lang="en-IN" sz="3200" dirty="0"/>
              <a:t>⋅M</a:t>
            </a:r>
            <a:r>
              <a:rPr lang="en-IN" sz="3200" baseline="-25000" dirty="0"/>
              <a:t>3</a:t>
            </a:r>
            <a:r>
              <a:rPr lang="en-IN" sz="3200" dirty="0"/>
              <a:t>⋅y</a:t>
            </a:r>
            <a:r>
              <a:rPr lang="en-IN" sz="3200" baseline="-25000" dirty="0"/>
              <a:t>3</a:t>
            </a:r>
            <a:r>
              <a:rPr lang="en-IN" sz="3200" dirty="0"/>
              <a:t>) mod  M x=(2⋅20⋅2+3⋅15⋅3+2⋅12⋅3) mod  60 x=(80+135+72)mod  60=287 mod  60 = 47 ​ </a:t>
            </a:r>
          </a:p>
        </p:txBody>
      </p:sp>
    </p:spTree>
    <p:extLst>
      <p:ext uri="{BB962C8B-B14F-4D97-AF65-F5344CB8AC3E}">
        <p14:creationId xmlns:p14="http://schemas.microsoft.com/office/powerpoint/2010/main" val="2469978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ED3E8-B1FB-4863-8D7F-16CD85064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070B62-9A04-AAAE-F0C2-B2CBC98076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09800" y="51775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2481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Chinese</a:t>
            </a:r>
            <a:r>
              <a:rPr spc="-35" dirty="0"/>
              <a:t> </a:t>
            </a:r>
            <a:r>
              <a:rPr dirty="0"/>
              <a:t>Remainder</a:t>
            </a:r>
            <a:r>
              <a:rPr spc="-50" dirty="0"/>
              <a:t> </a:t>
            </a:r>
            <a:r>
              <a:rPr spc="-10" dirty="0"/>
              <a:t>Theorem</a:t>
            </a:r>
            <a:r>
              <a:rPr sz="1500" spc="-10" dirty="0"/>
              <a:t>3</a:t>
            </a:r>
            <a:r>
              <a:rPr spc="-10" dirty="0"/>
              <a:t>*</a:t>
            </a:r>
            <a:endParaRPr sz="15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2689D65-2973-873E-DBEA-962718183D34}"/>
              </a:ext>
            </a:extLst>
          </p:cNvPr>
          <p:cNvSpPr/>
          <p:nvPr/>
        </p:nvSpPr>
        <p:spPr>
          <a:xfrm>
            <a:off x="1055915" y="0"/>
            <a:ext cx="10189028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5B470-4D63-DDFC-67E5-8163DCCE8597}"/>
              </a:ext>
            </a:extLst>
          </p:cNvPr>
          <p:cNvSpPr txBox="1"/>
          <p:nvPr/>
        </p:nvSpPr>
        <p:spPr>
          <a:xfrm>
            <a:off x="1502229" y="1387988"/>
            <a:ext cx="918754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200" b="1" dirty="0"/>
              <a:t>Final Answer &amp; Verification</a:t>
            </a:r>
          </a:p>
          <a:p>
            <a:r>
              <a:rPr lang="da-DK" sz="3200" dirty="0"/>
              <a:t>Final Answer: x =</a:t>
            </a:r>
          </a:p>
          <a:p>
            <a:r>
              <a:rPr lang="da-DK" sz="3200" b="1" dirty="0"/>
              <a:t>Verification</a:t>
            </a:r>
            <a:r>
              <a:rPr lang="da-DK" sz="3200" dirty="0"/>
              <a:t>:</a:t>
            </a:r>
          </a:p>
          <a:p>
            <a:r>
              <a:rPr lang="da-DK" sz="3200" dirty="0"/>
              <a:t>	47mod3=2 ✔️</a:t>
            </a:r>
          </a:p>
          <a:p>
            <a:r>
              <a:rPr lang="da-DK" sz="3200" dirty="0"/>
              <a:t>	47mod4=3 ✔️</a:t>
            </a:r>
          </a:p>
          <a:p>
            <a:r>
              <a:rPr lang="da-DK" sz="3200" dirty="0"/>
              <a:t>	47mod5=2 ✔️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CD243C-141B-6302-44FC-A02E432CE785}"/>
              </a:ext>
            </a:extLst>
          </p:cNvPr>
          <p:cNvSpPr/>
          <p:nvPr/>
        </p:nvSpPr>
        <p:spPr>
          <a:xfrm>
            <a:off x="4582885" y="1918457"/>
            <a:ext cx="2024743" cy="5007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2800" dirty="0"/>
              <a:t>47 mod  60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2451B-EDA4-4840-EA03-81F86E19D772}"/>
              </a:ext>
            </a:extLst>
          </p:cNvPr>
          <p:cNvSpPr txBox="1"/>
          <p:nvPr/>
        </p:nvSpPr>
        <p:spPr>
          <a:xfrm>
            <a:off x="1787980" y="4615275"/>
            <a:ext cx="837927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[ x ≡ 2 mod 3 ]     [ x ≡ 3 mod 4 ]     [ x ≡ 2 mod 5 ]</a:t>
            </a:r>
          </a:p>
          <a:p>
            <a:r>
              <a:rPr lang="en-IN" sz="3200" dirty="0">
                <a:solidFill>
                  <a:srgbClr val="FF0000"/>
                </a:solidFill>
              </a:rPr>
              <a:t>         \              		|                	/</a:t>
            </a:r>
          </a:p>
          <a:p>
            <a:r>
              <a:rPr lang="en-IN" sz="3200" dirty="0">
                <a:solidFill>
                  <a:srgbClr val="FF0000"/>
                </a:solidFill>
              </a:rPr>
              <a:t>            	----&gt; Apply CRT ----&gt;</a:t>
            </a:r>
          </a:p>
          <a:p>
            <a:r>
              <a:rPr lang="en-IN" sz="3200" dirty="0">
                <a:solidFill>
                  <a:srgbClr val="FF0000"/>
                </a:solidFill>
              </a:rPr>
              <a:t>                       [ x ≡ 47 mod 60 ]</a:t>
            </a:r>
          </a:p>
        </p:txBody>
      </p:sp>
    </p:spTree>
    <p:extLst>
      <p:ext uri="{BB962C8B-B14F-4D97-AF65-F5344CB8AC3E}">
        <p14:creationId xmlns:p14="http://schemas.microsoft.com/office/powerpoint/2010/main" val="2673285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2481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Chinese</a:t>
            </a:r>
            <a:r>
              <a:rPr spc="-35" dirty="0"/>
              <a:t> </a:t>
            </a:r>
            <a:r>
              <a:rPr dirty="0"/>
              <a:t>Remainder</a:t>
            </a:r>
            <a:r>
              <a:rPr spc="-50" dirty="0"/>
              <a:t> </a:t>
            </a:r>
            <a:r>
              <a:rPr spc="-10" dirty="0"/>
              <a:t>Theorem</a:t>
            </a:r>
            <a:r>
              <a:rPr sz="1500" spc="-10" dirty="0"/>
              <a:t>4</a:t>
            </a:r>
            <a:r>
              <a:rPr spc="-10" dirty="0"/>
              <a:t>*</a:t>
            </a:r>
            <a:endParaRPr sz="1500"/>
          </a:p>
        </p:txBody>
      </p:sp>
      <p:sp>
        <p:nvSpPr>
          <p:cNvPr id="3" name="object 3"/>
          <p:cNvSpPr txBox="1"/>
          <p:nvPr/>
        </p:nvSpPr>
        <p:spPr>
          <a:xfrm>
            <a:off x="1602739" y="1206237"/>
            <a:ext cx="8827771" cy="1018227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spcBef>
                <a:spcPts val="900"/>
              </a:spcBef>
            </a:pPr>
            <a:r>
              <a:rPr sz="2600" dirty="0">
                <a:latin typeface="Calibri"/>
                <a:cs typeface="Calibri"/>
              </a:rPr>
              <a:t>Example</a:t>
            </a:r>
            <a:r>
              <a:rPr lang="en-IN" sz="2600" dirty="0">
                <a:latin typeface="Calibri"/>
                <a:cs typeface="Calibri"/>
              </a:rPr>
              <a:t> 2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Consider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congruences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Sun-</a:t>
            </a:r>
            <a:r>
              <a:rPr sz="2600" spc="-65" dirty="0">
                <a:latin typeface="Calibri"/>
                <a:cs typeface="Calibri"/>
              </a:rPr>
              <a:t>Tsu’s </a:t>
            </a:r>
            <a:r>
              <a:rPr sz="2600" spc="-10" dirty="0">
                <a:latin typeface="Calibri"/>
                <a:cs typeface="Calibri"/>
              </a:rPr>
              <a:t>problem:</a:t>
            </a:r>
            <a:endParaRPr sz="2600" dirty="0">
              <a:latin typeface="Calibri"/>
              <a:cs typeface="Calibri"/>
            </a:endParaRPr>
          </a:p>
          <a:p>
            <a:pPr marL="12700">
              <a:spcBef>
                <a:spcPts val="805"/>
              </a:spcBef>
              <a:tabLst>
                <a:tab pos="2070100" algn="l"/>
              </a:tabLst>
            </a:pPr>
            <a:r>
              <a:rPr sz="2600" dirty="0">
                <a:latin typeface="Calibri"/>
                <a:cs typeface="Calibri"/>
              </a:rPr>
              <a:t>x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≡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3),</a:t>
            </a:r>
            <a:r>
              <a:rPr sz="2600" dirty="0">
                <a:latin typeface="Calibri"/>
                <a:cs typeface="Calibri"/>
              </a:rPr>
              <a:t>	x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≡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5),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x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≡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7).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244" y="2307462"/>
            <a:ext cx="47586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939925" algn="l"/>
                <a:tab pos="3867785" algn="l"/>
              </a:tabLst>
            </a:pPr>
            <a:r>
              <a:rPr sz="2200" dirty="0">
                <a:latin typeface="Calibri"/>
                <a:cs typeface="Calibri"/>
              </a:rPr>
              <a:t>=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m/3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35,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M</a:t>
            </a:r>
            <a:r>
              <a:rPr lang="en-IN" sz="2200" spc="-25" dirty="0">
                <a:latin typeface="Calibri"/>
                <a:cs typeface="Calibri"/>
              </a:rPr>
              <a:t>2</a:t>
            </a:r>
            <a:r>
              <a:rPr sz="2200" dirty="0">
                <a:latin typeface="Calibri"/>
                <a:cs typeface="Calibri"/>
              </a:rPr>
              <a:t>	=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m/5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21,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M3</a:t>
            </a:r>
            <a:r>
              <a:rPr sz="2200" dirty="0">
                <a:latin typeface="Calibri"/>
                <a:cs typeface="Calibri"/>
              </a:rPr>
              <a:t>	=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m/7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=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4241" y="2307462"/>
            <a:ext cx="8493759" cy="1132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spcBef>
                <a:spcPts val="95"/>
              </a:spcBef>
              <a:buClr>
                <a:srgbClr val="04607A"/>
              </a:buClr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Let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3∙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∙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7</a:t>
            </a:r>
            <a:r>
              <a:rPr sz="2200" spc="4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105</a:t>
            </a:r>
            <a:r>
              <a:rPr lang="en-IN" sz="2200" dirty="0">
                <a:latin typeface="Calibri"/>
                <a:cs typeface="Calibri"/>
              </a:rPr>
              <a:t>,</a:t>
            </a:r>
            <a:r>
              <a:rPr lang="en-IN" sz="2200" spc="-5" dirty="0">
                <a:latin typeface="Calibri"/>
                <a:cs typeface="Calibri"/>
              </a:rPr>
              <a:t>   </a:t>
            </a:r>
            <a:r>
              <a:rPr lang="en-IN" sz="2200" spc="-25" dirty="0">
                <a:latin typeface="Calibri"/>
                <a:cs typeface="Calibri"/>
              </a:rPr>
              <a:t>M1</a:t>
            </a:r>
            <a:endParaRPr lang="en-IN" sz="2200" dirty="0">
              <a:latin typeface="Calibri"/>
              <a:cs typeface="Calibri"/>
            </a:endParaRPr>
          </a:p>
          <a:p>
            <a:pPr marL="355600"/>
            <a:r>
              <a:rPr lang="en-IN" sz="2200" spc="-25" dirty="0">
                <a:latin typeface="Calibri"/>
                <a:cs typeface="Calibri"/>
              </a:rPr>
              <a:t>15.</a:t>
            </a:r>
            <a:endParaRPr lang="en-IN" sz="2200" dirty="0">
              <a:latin typeface="Calibri"/>
              <a:cs typeface="Calibri"/>
            </a:endParaRPr>
          </a:p>
          <a:p>
            <a:pPr marL="355600" indent="-342900">
              <a:spcBef>
                <a:spcPts val="805"/>
              </a:spcBef>
              <a:buClr>
                <a:srgbClr val="04607A"/>
              </a:buClr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We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that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08884" y="3417798"/>
            <a:ext cx="2424430" cy="124333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86385" indent="-273685">
              <a:spcBef>
                <a:spcPts val="890"/>
              </a:spcBef>
              <a:buClr>
                <a:srgbClr val="B60000"/>
              </a:buClr>
              <a:buFont typeface="Arial MT"/>
              <a:buChar char="•"/>
              <a:tabLst>
                <a:tab pos="286385" algn="l"/>
              </a:tabLst>
            </a:pPr>
            <a:r>
              <a:rPr sz="2000" dirty="0">
                <a:latin typeface="Calibri"/>
                <a:cs typeface="Calibri"/>
              </a:rPr>
              <a:t>2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inverse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M1</a:t>
            </a:r>
            <a:endParaRPr sz="2000" dirty="0">
              <a:latin typeface="Calibri"/>
              <a:cs typeface="Calibri"/>
            </a:endParaRPr>
          </a:p>
          <a:p>
            <a:pPr marL="286385" indent="-273685">
              <a:spcBef>
                <a:spcPts val="790"/>
              </a:spcBef>
              <a:buClr>
                <a:srgbClr val="B60000"/>
              </a:buClr>
              <a:buFont typeface="Arial MT"/>
              <a:buChar char="•"/>
              <a:tabLst>
                <a:tab pos="286385" algn="l"/>
              </a:tabLst>
            </a:pPr>
            <a:r>
              <a:rPr sz="2000" dirty="0">
                <a:latin typeface="Calibri"/>
                <a:cs typeface="Calibri"/>
              </a:rPr>
              <a:t>1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inverse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M2</a:t>
            </a:r>
            <a:endParaRPr sz="2000" dirty="0">
              <a:latin typeface="Calibri"/>
              <a:cs typeface="Calibri"/>
            </a:endParaRPr>
          </a:p>
          <a:p>
            <a:pPr marL="286385" indent="-273685">
              <a:spcBef>
                <a:spcPts val="805"/>
              </a:spcBef>
              <a:buClr>
                <a:srgbClr val="B60000"/>
              </a:buClr>
              <a:buFont typeface="Arial MT"/>
              <a:buChar char="•"/>
              <a:tabLst>
                <a:tab pos="286385" algn="l"/>
              </a:tabLst>
            </a:pPr>
            <a:r>
              <a:rPr sz="2000" dirty="0">
                <a:latin typeface="Calibri"/>
                <a:cs typeface="Calibri"/>
              </a:rPr>
              <a:t>1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inverse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M3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78410" y="3417798"/>
            <a:ext cx="4625340" cy="124333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spcBef>
                <a:spcPts val="890"/>
              </a:spcBef>
            </a:pP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35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since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35</a:t>
            </a:r>
            <a:r>
              <a:rPr lang="en-IN" sz="2000" spc="-25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∙</a:t>
            </a:r>
            <a:r>
              <a:rPr lang="en-IN" sz="2000" spc="-20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2</a:t>
            </a:r>
            <a:r>
              <a:rPr lang="en-IN" sz="2000" spc="-5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≡</a:t>
            </a:r>
            <a:r>
              <a:rPr lang="en-IN" sz="2000" spc="-20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2</a:t>
            </a:r>
            <a:r>
              <a:rPr lang="en-IN" sz="2000" spc="-10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∙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≡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(mod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3)</a:t>
            </a:r>
            <a:endParaRPr sz="2000" dirty="0">
              <a:latin typeface="Calibri"/>
              <a:cs typeface="Calibri"/>
            </a:endParaRPr>
          </a:p>
          <a:p>
            <a:pPr marL="12700">
              <a:spcBef>
                <a:spcPts val="790"/>
              </a:spcBef>
            </a:pP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21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since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21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≡</a:t>
            </a:r>
            <a:r>
              <a:rPr sz="2000" spc="4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(mod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5)</a:t>
            </a:r>
            <a:endParaRPr sz="2000" dirty="0">
              <a:latin typeface="Calibri"/>
              <a:cs typeface="Calibri"/>
            </a:endParaRPr>
          </a:p>
          <a:p>
            <a:pPr marL="12700">
              <a:spcBef>
                <a:spcPts val="805"/>
              </a:spcBef>
            </a:pP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15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7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since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15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≡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(mod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7)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74240" y="4735145"/>
            <a:ext cx="7485380" cy="1468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spcBef>
                <a:spcPts val="95"/>
              </a:spcBef>
              <a:buClr>
                <a:srgbClr val="04607A"/>
              </a:buClr>
              <a:buFont typeface="Arial MT"/>
              <a:buChar char="•"/>
              <a:tabLst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Hence,</a:t>
            </a:r>
            <a:endParaRPr sz="2200">
              <a:latin typeface="Calibri"/>
              <a:cs typeface="Calibri"/>
            </a:endParaRPr>
          </a:p>
          <a:p>
            <a:pPr marL="355600">
              <a:spcBef>
                <a:spcPts val="5"/>
              </a:spcBef>
            </a:pPr>
            <a:r>
              <a:rPr sz="2200" dirty="0">
                <a:latin typeface="Calibri"/>
                <a:cs typeface="Calibri"/>
              </a:rPr>
              <a:t>x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a1M1y1</a:t>
            </a:r>
            <a:r>
              <a:rPr sz="2200" spc="45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+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a2M2y2</a:t>
            </a:r>
            <a:r>
              <a:rPr sz="2200" spc="45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+</a:t>
            </a:r>
            <a:r>
              <a:rPr sz="2200" spc="-10" dirty="0">
                <a:latin typeface="Calibri"/>
                <a:cs typeface="Calibri"/>
              </a:rPr>
              <a:t> a3M3y3</a:t>
            </a:r>
            <a:endParaRPr sz="2200">
              <a:latin typeface="Calibri"/>
              <a:cs typeface="Calibri"/>
            </a:endParaRPr>
          </a:p>
          <a:p>
            <a:pPr marL="355600"/>
            <a:r>
              <a:rPr sz="2200" dirty="0">
                <a:latin typeface="Calibri"/>
                <a:cs typeface="Calibri"/>
              </a:rPr>
              <a:t>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∙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35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∙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+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∙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21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∙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4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+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∙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15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∙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4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233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≡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23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(mod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105)</a:t>
            </a:r>
            <a:endParaRPr sz="2200">
              <a:latin typeface="Calibri"/>
              <a:cs typeface="Calibri"/>
            </a:endParaRPr>
          </a:p>
          <a:p>
            <a:pPr marL="355600" indent="-342900">
              <a:spcBef>
                <a:spcPts val="805"/>
              </a:spcBef>
              <a:buClr>
                <a:srgbClr val="04607A"/>
              </a:buClr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We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shown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23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smallest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positive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integer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0" dirty="0">
                <a:latin typeface="Calibri"/>
                <a:cs typeface="Calibri"/>
              </a:rPr>
              <a:t> 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8714" y="0"/>
            <a:ext cx="10831286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02739" y="6248501"/>
            <a:ext cx="4564380" cy="615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0">
              <a:lnSpc>
                <a:spcPts val="2190"/>
              </a:lnSpc>
            </a:pPr>
            <a:r>
              <a:rPr sz="2200" dirty="0">
                <a:latin typeface="Calibri"/>
                <a:cs typeface="Calibri"/>
              </a:rPr>
              <a:t>simultaneous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solution.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Check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it!</a:t>
            </a:r>
            <a:endParaRPr sz="2200">
              <a:latin typeface="Calibri"/>
              <a:cs typeface="Calibri"/>
            </a:endParaRPr>
          </a:p>
          <a:p>
            <a:pPr marL="12700">
              <a:spcBef>
                <a:spcPts val="1555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2019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McGraw-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Hill</a:t>
            </a:r>
            <a:r>
              <a:rPr sz="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Education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8C2F6-EF14-458F-2F4B-107100DB3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🧠 </a:t>
            </a:r>
            <a:r>
              <a:rPr lang="en-IN" b="1" dirty="0"/>
              <a:t>Discrete Logarithms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1F4C8-1D15-FB67-B914-0C31E57A1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discrete logarithm</a:t>
            </a:r>
            <a:r>
              <a:rPr lang="en-US" dirty="0"/>
              <a:t> is the logarithm in the context of </a:t>
            </a:r>
            <a:r>
              <a:rPr lang="en-US" b="1" dirty="0"/>
              <a:t>modular arithmetic</a:t>
            </a:r>
            <a:r>
              <a:rPr lang="en-US" dirty="0"/>
              <a:t>, commonly used in </a:t>
            </a:r>
            <a:r>
              <a:rPr lang="en-US" b="1" dirty="0"/>
              <a:t>cryptography</a:t>
            </a:r>
            <a:r>
              <a:rPr lang="en-US" dirty="0"/>
              <a:t> (like Diffie-Hellman key exchange, ElGamal encryption).</a:t>
            </a:r>
          </a:p>
          <a:p>
            <a:pPr marL="0" indent="0">
              <a:buNone/>
            </a:pPr>
            <a:r>
              <a:rPr lang="en-IN" b="1" dirty="0"/>
              <a:t>🧩 Definition</a:t>
            </a:r>
          </a:p>
          <a:p>
            <a:r>
              <a:rPr lang="en-IN" dirty="0"/>
              <a:t>In regular math:</a:t>
            </a:r>
          </a:p>
          <a:p>
            <a:r>
              <a:rPr lang="en-IN" dirty="0"/>
              <a:t>If </a:t>
            </a:r>
            <a:r>
              <a:rPr lang="en-IN" dirty="0" err="1"/>
              <a:t>a</a:t>
            </a:r>
            <a:r>
              <a:rPr lang="en-IN" baseline="30000" dirty="0" err="1"/>
              <a:t>x</a:t>
            </a:r>
            <a:r>
              <a:rPr lang="en-IN" dirty="0"/>
              <a:t>=b, then x=</a:t>
            </a:r>
            <a:r>
              <a:rPr lang="en-IN" dirty="0" err="1"/>
              <a:t>log</a:t>
            </a:r>
            <a:r>
              <a:rPr lang="en-IN" baseline="-25000" dirty="0" err="1"/>
              <a:t>a</a:t>
            </a:r>
            <a:r>
              <a:rPr lang="en-IN" dirty="0" err="1"/>
              <a:t>b</a:t>
            </a:r>
            <a:r>
              <a:rPr lang="en-IN" dirty="0"/>
              <a:t> </a:t>
            </a:r>
          </a:p>
          <a:p>
            <a:r>
              <a:rPr lang="en-IN" dirty="0"/>
              <a:t>In modular arithmetic:</a:t>
            </a:r>
          </a:p>
          <a:p>
            <a:r>
              <a:rPr lang="en-IN" dirty="0"/>
              <a:t>If </a:t>
            </a:r>
            <a:r>
              <a:rPr lang="en-IN" dirty="0" err="1"/>
              <a:t>a</a:t>
            </a:r>
            <a:r>
              <a:rPr lang="en-IN" baseline="30000" dirty="0" err="1"/>
              <a:t>x</a:t>
            </a:r>
            <a:r>
              <a:rPr lang="en-IN" dirty="0" err="1"/>
              <a:t>≡b</a:t>
            </a:r>
            <a:r>
              <a:rPr lang="en-IN" dirty="0"/>
              <a:t> (mod </a:t>
            </a:r>
            <a:r>
              <a:rPr lang="en-IN" i="1" dirty="0"/>
              <a:t>n</a:t>
            </a:r>
            <a:r>
              <a:rPr lang="en-IN" dirty="0"/>
              <a:t>) ,  then x is called the discrete logarithm of </a:t>
            </a:r>
            <a:r>
              <a:rPr lang="en-IN" i="1" dirty="0"/>
              <a:t>b</a:t>
            </a:r>
            <a:r>
              <a:rPr lang="en-IN" dirty="0"/>
              <a:t> base </a:t>
            </a:r>
            <a:r>
              <a:rPr lang="en-IN" i="1" dirty="0"/>
              <a:t>a</a:t>
            </a:r>
            <a:r>
              <a:rPr lang="en-IN" dirty="0"/>
              <a:t> mod </a:t>
            </a:r>
            <a:r>
              <a:rPr lang="en-IN" i="1" dirty="0"/>
              <a:t>n</a:t>
            </a:r>
            <a:r>
              <a:rPr lang="en-IN" dirty="0"/>
              <a:t> </a:t>
            </a:r>
          </a:p>
          <a:p>
            <a:r>
              <a:rPr lang="en-IN" dirty="0"/>
              <a:t>x= </a:t>
            </a:r>
            <a:r>
              <a:rPr lang="en-IN" dirty="0" err="1"/>
              <a:t>log</a:t>
            </a:r>
            <a:r>
              <a:rPr lang="en-IN" baseline="-25000" dirty="0" err="1"/>
              <a:t>a</a:t>
            </a:r>
            <a:r>
              <a:rPr lang="en-IN" dirty="0" err="1"/>
              <a:t>b</a:t>
            </a:r>
            <a:r>
              <a:rPr lang="en-IN" dirty="0"/>
              <a:t> (mod </a:t>
            </a:r>
            <a:r>
              <a:rPr lang="en-IN" i="1" dirty="0"/>
              <a:t>n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99361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7E5EE-DD9F-476B-B3DB-BAACF47EE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0535-0075-B18E-16ED-9AF0CC432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🧠 </a:t>
            </a:r>
            <a:r>
              <a:rPr lang="en-IN" b="1" dirty="0"/>
              <a:t>Discrete Logarithms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BE938-2007-7145-2236-55405C4F4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58" y="1825626"/>
            <a:ext cx="7968342" cy="437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238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E229F-B0C5-ABC6-A0D3-1C854692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59BBF-436B-5920-6FDC-BB7A18AA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🧠 </a:t>
            </a:r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Discrete Logarithms</a:t>
            </a:r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64EFF2-41C0-595E-3240-678EA9C84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566620"/>
              </p:ext>
            </p:extLst>
          </p:nvPr>
        </p:nvGraphicFramePr>
        <p:xfrm>
          <a:off x="643467" y="2106230"/>
          <a:ext cx="11287276" cy="3532196"/>
        </p:xfrm>
        <a:graphic>
          <a:graphicData uri="http://schemas.openxmlformats.org/drawingml/2006/table">
            <a:tbl>
              <a:tblPr/>
              <a:tblGrid>
                <a:gridCol w="5568333">
                  <a:extLst>
                    <a:ext uri="{9D8B030D-6E8A-4147-A177-3AD203B41FA5}">
                      <a16:colId xmlns:a16="http://schemas.microsoft.com/office/drawing/2014/main" val="889137932"/>
                    </a:ext>
                  </a:extLst>
                </a:gridCol>
                <a:gridCol w="5718943">
                  <a:extLst>
                    <a:ext uri="{9D8B030D-6E8A-4147-A177-3AD203B41FA5}">
                      <a16:colId xmlns:a16="http://schemas.microsoft.com/office/drawing/2014/main" val="2050292311"/>
                    </a:ext>
                  </a:extLst>
                </a:gridCol>
              </a:tblGrid>
              <a:tr h="6585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Use Case</a:t>
                      </a:r>
                    </a:p>
                  </a:txBody>
                  <a:tcPr marL="149669" marR="149669" marT="74835" marB="748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How Discrete Logs Are Used</a:t>
                      </a:r>
                    </a:p>
                  </a:txBody>
                  <a:tcPr marL="149669" marR="149669" marT="74835" marB="748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356979"/>
                  </a:ext>
                </a:extLst>
              </a:tr>
              <a:tr h="11075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effectLst/>
                          <a:latin typeface="Arial" panose="020B0604020202020204" pitchFamily="34" charset="0"/>
                        </a:rPr>
                        <a:t>Diffie-Hellman Key Exchange</a:t>
                      </a:r>
                    </a:p>
                  </a:txBody>
                  <a:tcPr marL="149669" marR="149669" marT="74835" marB="748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900" b="0" i="0" u="none" strike="noStrike" dirty="0">
                          <a:effectLst/>
                          <a:latin typeface="Arial" panose="020B0604020202020204" pitchFamily="34" charset="0"/>
                        </a:rPr>
                        <a:t>Shared secret from </a:t>
                      </a:r>
                      <a:r>
                        <a:rPr lang="en-US" sz="2900" b="0" i="1" u="none" strike="noStrike" dirty="0" err="1">
                          <a:effectLst/>
                          <a:latin typeface="Arial" panose="020B0604020202020204" pitchFamily="34" charset="0"/>
                        </a:rPr>
                        <a:t>g</a:t>
                      </a:r>
                      <a:r>
                        <a:rPr lang="en-US" sz="2800" b="0" i="1" u="none" strike="noStrike" baseline="30000" dirty="0" err="1"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lang="en-US" sz="2900" b="0" i="1" u="none" strike="noStrike" dirty="0" err="1">
                          <a:effectLst/>
                          <a:latin typeface="Arial" panose="020B0604020202020204" pitchFamily="34" charset="0"/>
                        </a:rPr>
                        <a:t>mod</a:t>
                      </a:r>
                      <a:r>
                        <a:rPr lang="en-US" sz="2900" b="0" i="1" u="none" strike="noStrike" dirty="0">
                          <a:effectLst/>
                          <a:latin typeface="Arial" panose="020B0604020202020204" pitchFamily="34" charset="0"/>
                        </a:rPr>
                        <a:t>  p</a:t>
                      </a:r>
                    </a:p>
                  </a:txBody>
                  <a:tcPr marL="149669" marR="149669" marT="74835" marB="748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460560"/>
                  </a:ext>
                </a:extLst>
              </a:tr>
              <a:tr h="6585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 dirty="0">
                          <a:effectLst/>
                          <a:latin typeface="Arial" panose="020B0604020202020204" pitchFamily="34" charset="0"/>
                        </a:rPr>
                        <a:t>ElGamal Encryption</a:t>
                      </a:r>
                    </a:p>
                  </a:txBody>
                  <a:tcPr marL="149669" marR="149669" marT="74835" marB="748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effectLst/>
                          <a:latin typeface="Arial" panose="020B0604020202020204" pitchFamily="34" charset="0"/>
                        </a:rPr>
                        <a:t>Secure public key crypto</a:t>
                      </a:r>
                    </a:p>
                  </a:txBody>
                  <a:tcPr marL="149669" marR="149669" marT="74835" marB="748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37879"/>
                  </a:ext>
                </a:extLst>
              </a:tr>
              <a:tr h="11075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900" b="0" i="0" u="none" strike="noStrike">
                          <a:effectLst/>
                          <a:latin typeface="Arial" panose="020B0604020202020204" pitchFamily="34" charset="0"/>
                        </a:rPr>
                        <a:t>DSA (Digital Signature Algorithm)</a:t>
                      </a:r>
                    </a:p>
                  </a:txBody>
                  <a:tcPr marL="149669" marR="149669" marT="74835" marB="748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 dirty="0">
                          <a:effectLst/>
                          <a:latin typeface="Arial" panose="020B0604020202020204" pitchFamily="34" charset="0"/>
                        </a:rPr>
                        <a:t>Signature verification relies on DL</a:t>
                      </a:r>
                    </a:p>
                  </a:txBody>
                  <a:tcPr marL="149669" marR="149669" marT="74835" marB="748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362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747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2286</Words>
  <Application>Microsoft Office PowerPoint</Application>
  <PresentationFormat>Widescreen</PresentationFormat>
  <Paragraphs>218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Aptos Display</vt:lpstr>
      <vt:lpstr>Arial</vt:lpstr>
      <vt:lpstr>Arial MT</vt:lpstr>
      <vt:lpstr>Calibri</vt:lpstr>
      <vt:lpstr>Cambria Math</vt:lpstr>
      <vt:lpstr>Symbol</vt:lpstr>
      <vt:lpstr>Times New Roman</vt:lpstr>
      <vt:lpstr>Office Theme</vt:lpstr>
      <vt:lpstr>Cyber Security (CS)  Unit 3: Asymmetric Ciphers  Lecture -1: Number Theory, Prime Numbers, Fermat’s and Euler’s Theorems, Testing for Primality, The Chinese Remainder Theorem </vt:lpstr>
      <vt:lpstr>Fermat’s Little Theorem</vt:lpstr>
      <vt:lpstr>Pseudoprimes1*</vt:lpstr>
      <vt:lpstr>Pseudoprimes2*</vt:lpstr>
      <vt:lpstr>Euler’s Theorem </vt:lpstr>
      <vt:lpstr>Euler’s Theorem </vt:lpstr>
      <vt:lpstr>Euler’s Theorem </vt:lpstr>
      <vt:lpstr>Euclidean Algorithm1</vt:lpstr>
      <vt:lpstr>Euclidean Algorithm2</vt:lpstr>
      <vt:lpstr>Correctness of Euclidean Algorithm1 *</vt:lpstr>
      <vt:lpstr>Correctness of Euclidean Algorithm2 *</vt:lpstr>
      <vt:lpstr>Testing for Primality</vt:lpstr>
      <vt:lpstr>✅ Basic Methods for Primality Testing</vt:lpstr>
      <vt:lpstr>✅ Basic Methods for Primality Testing</vt:lpstr>
      <vt:lpstr>✅ Basic Methods for Primality Testing</vt:lpstr>
      <vt:lpstr>✅ Basic Methods for Primality Testing</vt:lpstr>
      <vt:lpstr>✅ Basic Methods for Primality Testing</vt:lpstr>
      <vt:lpstr>The Chinese Remainder Theorem1*</vt:lpstr>
      <vt:lpstr>What is the Chinese Remainder Theorem?</vt:lpstr>
      <vt:lpstr>The Chinese Remainder Theorem3*</vt:lpstr>
      <vt:lpstr>The Chinese Remainder Theorem3*</vt:lpstr>
      <vt:lpstr>The Chinese Remainder Theorem3*</vt:lpstr>
      <vt:lpstr>The Chinese Remainder Theorem4*</vt:lpstr>
      <vt:lpstr>🧠 Discrete Logarithms</vt:lpstr>
      <vt:lpstr>🧠 Discrete Logarithms</vt:lpstr>
      <vt:lpstr>🧠 Discrete Logarithms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PRRANJALI JADHAV</dc:creator>
  <cp:lastModifiedBy>PRRANJALI JADHAV</cp:lastModifiedBy>
  <cp:revision>10</cp:revision>
  <dcterms:created xsi:type="dcterms:W3CDTF">2025-08-04T09:26:24Z</dcterms:created>
  <dcterms:modified xsi:type="dcterms:W3CDTF">2025-08-06T12:03:51Z</dcterms:modified>
</cp:coreProperties>
</file>