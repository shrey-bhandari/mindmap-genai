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74" r:id="rId13"/>
    <p:sldId id="270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A66EAB-04CE-4A64-B8DC-82A11B44B684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9ECDC-7D5F-48B8-9058-31CB64AFF30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7564" y="333849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Cyber Security </a:t>
            </a:r>
            <a:r>
              <a:rPr lang="en-US" b="1" dirty="0">
                <a:solidFill>
                  <a:schemeClr val="accent2"/>
                </a:solidFill>
              </a:rPr>
              <a:t>(CS) </a:t>
            </a:r>
            <a:br>
              <a:rPr lang="en-US" b="1" dirty="0">
                <a:solidFill>
                  <a:schemeClr val="accent2"/>
                </a:solidFill>
              </a:rPr>
            </a:br>
            <a:r>
              <a:rPr lang="en-US" dirty="0"/>
              <a:t>Unit 3: </a:t>
            </a:r>
            <a:r>
              <a:rPr lang="en-IN" dirty="0"/>
              <a:t>Asymmetric Ciphers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Lecture -</a:t>
            </a:r>
            <a:r>
              <a:rPr lang="en-US" altLang="en-IN" dirty="0"/>
              <a:t>3</a:t>
            </a:r>
            <a:r>
              <a:rPr lang="en-IN" dirty="0"/>
              <a:t>: </a:t>
            </a:r>
            <a:r>
              <a:rPr lang="en-IN" sz="3600" dirty="0"/>
              <a:t>Principles of Public Key Cryptography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7182" y="5313218"/>
            <a:ext cx="64008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By Ms </a:t>
            </a:r>
            <a:r>
              <a:rPr lang="en-US" dirty="0" err="1"/>
              <a:t>Prranjali</a:t>
            </a:r>
            <a:r>
              <a:rPr lang="en-US" dirty="0"/>
              <a:t> </a:t>
            </a:r>
            <a:r>
              <a:rPr lang="en-US" dirty="0" err="1"/>
              <a:t>Jadhav</a:t>
            </a:r>
            <a:endParaRPr lang="en-US" dirty="0"/>
          </a:p>
          <a:p>
            <a:pPr>
              <a:defRPr/>
            </a:pPr>
            <a:r>
              <a:rPr lang="en-US" dirty="0"/>
              <a:t>AIDS Dept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97E91-75B6-540A-6E1A-60CE3711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348EB-CDB1-8A7B-5593-BBE85DD3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Theory, Prime Numbers, </a:t>
            </a:r>
          </a:p>
          <a:p>
            <a:r>
              <a:rPr lang="en-US" dirty="0"/>
              <a:t>Fermat’s and Euler’s Theorems, Testing for Primality, </a:t>
            </a:r>
          </a:p>
          <a:p>
            <a:r>
              <a:rPr lang="en-US" dirty="0"/>
              <a:t>The Chinese Remainder Theorem, Discrete Logarithms, </a:t>
            </a:r>
          </a:p>
          <a:p>
            <a:r>
              <a:rPr lang="en-US" dirty="0"/>
              <a:t>Public-Key Cryptography, Principles of Public-Key Cryptosystems, </a:t>
            </a:r>
          </a:p>
          <a:p>
            <a:r>
              <a:rPr lang="en-US" dirty="0"/>
              <a:t>The RSA Algorithm, </a:t>
            </a:r>
          </a:p>
          <a:p>
            <a:r>
              <a:rPr lang="en-US" dirty="0"/>
              <a:t>Diffie-Hellman Key Exchange, </a:t>
            </a:r>
          </a:p>
          <a:p>
            <a:r>
              <a:rPr lang="en-US" dirty="0"/>
              <a:t>ElGamal Cryptosystem, </a:t>
            </a:r>
          </a:p>
          <a:p>
            <a:r>
              <a:rPr lang="en-US" dirty="0"/>
              <a:t>Elliptic Curve Cryptography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53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PRINCIPLES OF PUBLIC KEY CRYPTOGRAPHY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5787" y="1631415"/>
            <a:ext cx="11020425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  <a:cs typeface="Times New Roman" panose="02020603050405020304" pitchFamily="18" charset="0"/>
              </a:rPr>
              <a:t>The concept of public key cryptography evolved from an attempt to attack two of the</a:t>
            </a:r>
            <a:r>
              <a:rPr kumimoji="0" lang="en-US" altLang="en-US" sz="3200" b="0" i="0" u="none" strike="noStrike" cap="none" normalizeH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  <a:cs typeface="Times New Roman" panose="02020603050405020304" pitchFamily="18" charset="0"/>
              </a:rPr>
              <a:t>most difficult problems associated with symmetric encryption.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  <a:cs typeface="Times New Roman" panose="02020603050405020304" pitchFamily="18" charset="0"/>
              </a:rPr>
              <a:t>Key distribution under symmetric key encryption requires either (1) that two communicants already share a key, which someone has been distributed to them or (2) the use of a key distribution center.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algn="just">
              <a:lnSpc>
                <a:spcPct val="100000"/>
              </a:lnSpc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  <a:cs typeface="Times New Roman" panose="02020603050405020304" pitchFamily="18" charset="0"/>
              </a:rPr>
              <a:t>Digital signatures.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j-lt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5787" y="1755255"/>
            <a:ext cx="11020425" cy="4399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/>
              <a:t>Public key algorithms rely on one key for encryption and a different but related key for decryption.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These algorithms have the following important characteristics: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It is computationally infeasible to determine the decryption key given only the knowledge of the cryptographic algorithm and the encryption key.  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/>
              <a:t>In addition, some algorithms, such as RSA, also exhibit the following characteristic:</a:t>
            </a:r>
          </a:p>
          <a:p>
            <a:pPr marL="514350" indent="-514350" algn="just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Either of the two related keys can be used for encryption, with the other used for decryption.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38745" y="309958"/>
            <a:ext cx="7433445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Public key cryptosystems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5787" y="1125455"/>
            <a:ext cx="11020425" cy="489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sz="2400" dirty="0"/>
              <a:t>The essential steps are the following: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Each user generates a pair of keys to be used for encryption and decryption of messages.  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 Each user places one of the two keys in a public register or other accessible file. This is the public key. The companion key is kept private.  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If A wishes to send a confidential message to B, A encrypts the message using B’s </a:t>
            </a:r>
            <a:r>
              <a:rPr lang="en-US" sz="2400" dirty="0">
                <a:solidFill>
                  <a:schemeClr val="accent1"/>
                </a:solidFill>
              </a:rPr>
              <a:t>public key</a:t>
            </a:r>
            <a:r>
              <a:rPr lang="en-US" sz="2400" dirty="0"/>
              <a:t>.  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When B receives the message, it decrypts using its </a:t>
            </a:r>
            <a:r>
              <a:rPr lang="en-US" sz="2400" dirty="0">
                <a:solidFill>
                  <a:schemeClr val="accent1"/>
                </a:solidFill>
              </a:rPr>
              <a:t>private key</a:t>
            </a:r>
            <a:r>
              <a:rPr lang="en-US" sz="2400" dirty="0"/>
              <a:t>. No other recipient can decrypt the message because only B knows B’s private key. </a:t>
            </a: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400" dirty="0"/>
              <a:t>With this approach, all participants have access to public keys and private keys are generated locally by each participant and therefore, need not be distributed. As long as a system controls its private key, its incoming communication is secure.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j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0" fontAlgn="base" hangingPunct="0">
              <a:lnSpc>
                <a:spcPct val="100000"/>
              </a:lnSpc>
              <a:buClrTx/>
              <a:buSzTx/>
            </a:pPr>
            <a:r>
              <a:rPr lang="en-US" sz="2400" dirty="0">
                <a:latin typeface="Arial" panose="020B0604020202020204" pitchFamily="34" charset="0"/>
              </a:rPr>
              <a:t>Let the plaintext be X=[X1, X2, X3, …,Xm] where m is the number of letters in some finite alphabets. Suppose A wishes to send a message to B. B generates a pair of keys: </a:t>
            </a:r>
            <a:r>
              <a:rPr lang="en-US" sz="2400" dirty="0">
                <a:solidFill>
                  <a:schemeClr val="accent5"/>
                </a:solidFill>
                <a:latin typeface="Arial" panose="020B0604020202020204" pitchFamily="34" charset="0"/>
              </a:rPr>
              <a:t>a public key KUb and a private key KRb</a:t>
            </a:r>
            <a:r>
              <a:rPr lang="en-US" sz="2400" dirty="0">
                <a:latin typeface="Arial" panose="020B0604020202020204" pitchFamily="34" charset="0"/>
              </a:rPr>
              <a:t>. KRb is known only to B, whereas KUb is publicly available and therefore accessible by A.</a:t>
            </a:r>
          </a:p>
          <a:p>
            <a:pPr algn="just" eaLnBrk="0" fontAlgn="base" hangingPunct="0">
              <a:lnSpc>
                <a:spcPct val="100000"/>
              </a:lnSpc>
              <a:buClrTx/>
              <a:buSzTx/>
            </a:pPr>
            <a:r>
              <a:rPr lang="en-US" sz="2400" dirty="0">
                <a:latin typeface="Arial" panose="020B0604020202020204" pitchFamily="34" charset="0"/>
              </a:rPr>
              <a:t>With the message X and encryption key KUb as input, A forms the cipher text : 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Y=[Y1, Y2, Y3, … Yn]., i.e., Y=E(</a:t>
            </a:r>
            <a:r>
              <a:rPr lang="en-US" sz="2400" b="1" dirty="0" err="1">
                <a:solidFill>
                  <a:srgbClr val="0070C0"/>
                </a:solidFill>
                <a:latin typeface="Arial" panose="020B0604020202020204" pitchFamily="34" charset="0"/>
              </a:rPr>
              <a:t>KUb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(X))</a:t>
            </a:r>
            <a:endParaRPr lang="en-US" sz="2400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buClrTx/>
              <a:buSzTx/>
            </a:pPr>
            <a:r>
              <a:rPr lang="en-US" sz="2400" dirty="0">
                <a:latin typeface="Arial" panose="020B0604020202020204" pitchFamily="34" charset="0"/>
              </a:rPr>
              <a:t>The receiver can decrypt it using the private key KRb. i.e., X=D(</a:t>
            </a:r>
            <a:r>
              <a:rPr lang="en-US" sz="2400" dirty="0" err="1">
                <a:latin typeface="Arial" panose="020B0604020202020204" pitchFamily="34" charset="0"/>
              </a:rPr>
              <a:t>KRb</a:t>
            </a:r>
            <a:r>
              <a:rPr lang="en-US" sz="2400" dirty="0">
                <a:latin typeface="Arial" panose="020B0604020202020204" pitchFamily="34" charset="0"/>
              </a:rPr>
              <a:t>()). The encrypted message serves as a </a:t>
            </a:r>
            <a:r>
              <a:rPr lang="en-US" sz="2400" b="1" dirty="0">
                <a:solidFill>
                  <a:srgbClr val="0070C0"/>
                </a:solidFill>
                <a:latin typeface="Arial" panose="020B0604020202020204" pitchFamily="34" charset="0"/>
              </a:rPr>
              <a:t>digital signature</a:t>
            </a: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90946"/>
            <a:ext cx="10515600" cy="2590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 is important to emphasize that the encryption process just described does not provide confidentiality. There is no protection of confidentiality.</a:t>
            </a:r>
          </a:p>
          <a:p>
            <a:pPr algn="just"/>
            <a:r>
              <a:rPr lang="en-US" dirty="0"/>
              <a:t>It is however, possible to provide both the authentication and confidentiality by a double use of the public scheme.</a:t>
            </a:r>
          </a:p>
          <a:p>
            <a:endParaRPr lang="en-IN" dirty="0"/>
          </a:p>
        </p:txBody>
      </p:sp>
      <p:pic>
        <p:nvPicPr>
          <p:cNvPr id="1030" name="Picture 6" descr="https://img.brainkart.com/imagebk9/I9CufX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604" y="2511516"/>
            <a:ext cx="7254386" cy="4234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128782" y="2380884"/>
            <a:ext cx="45294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</a:rPr>
              <a:t>Initially, the message is encrypted using the sender’s private key. This provides the digital signature.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</a:rPr>
              <a:t>Next, we encrypt again, using the receiver’s public key. 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</a:rPr>
              <a:t>The final ciphertext can be decrypted only by the intended receiver, who alone has the matching private key </a:t>
            </a:r>
            <a:r>
              <a:rPr lang="en-US" sz="2400" dirty="0" err="1">
                <a:solidFill>
                  <a:srgbClr val="333333"/>
                </a:solidFill>
                <a:latin typeface="Times New Roman" panose="02020603050405020304" pitchFamily="18" charset="0"/>
              </a:rPr>
              <a:t>KR</a:t>
            </a:r>
            <a:r>
              <a:rPr lang="en-US" dirty="0" err="1">
                <a:solidFill>
                  <a:srgbClr val="333333"/>
                </a:solidFill>
                <a:latin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</a:rPr>
              <a:t>and sender’s public key </a:t>
            </a:r>
            <a:r>
              <a:rPr lang="en-US" sz="2400" dirty="0" err="1">
                <a:solidFill>
                  <a:srgbClr val="333333"/>
                </a:solidFill>
                <a:latin typeface="Times New Roman" panose="02020603050405020304" pitchFamily="18" charset="0"/>
              </a:rPr>
              <a:t>KU</a:t>
            </a:r>
            <a:r>
              <a:rPr lang="en-US" dirty="0" err="1">
                <a:solidFill>
                  <a:srgbClr val="333333"/>
                </a:solidFill>
                <a:latin typeface="Times New Roman" panose="02020603050405020304" pitchFamily="18" charset="0"/>
              </a:rPr>
              <a:t>a</a:t>
            </a: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</a:rPr>
              <a:t>. Thus confidentiality is provided.</a:t>
            </a:r>
            <a:endParaRPr lang="en-IN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27AC9-D3C2-5601-A196-43FB7DF8BC05}"/>
              </a:ext>
            </a:extLst>
          </p:cNvPr>
          <p:cNvSpPr txBox="1"/>
          <p:nvPr/>
        </p:nvSpPr>
        <p:spPr>
          <a:xfrm>
            <a:off x="1055917" y="4506686"/>
            <a:ext cx="402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1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FC3FA-3FF7-1838-9764-5E22A0A14B35}"/>
              </a:ext>
            </a:extLst>
          </p:cNvPr>
          <p:cNvSpPr txBox="1"/>
          <p:nvPr/>
        </p:nvSpPr>
        <p:spPr>
          <a:xfrm>
            <a:off x="2884719" y="3745078"/>
            <a:ext cx="23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2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F86E6-F843-2CC9-C25E-BC9D752DBDD3}"/>
              </a:ext>
            </a:extLst>
          </p:cNvPr>
          <p:cNvSpPr txBox="1"/>
          <p:nvPr/>
        </p:nvSpPr>
        <p:spPr>
          <a:xfrm>
            <a:off x="3150737" y="2827712"/>
            <a:ext cx="1317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Cipher Text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C7BF4F-4B26-5200-3954-D4CF9FE13149}"/>
              </a:ext>
            </a:extLst>
          </p:cNvPr>
          <p:cNvSpPr txBox="1"/>
          <p:nvPr/>
        </p:nvSpPr>
        <p:spPr>
          <a:xfrm>
            <a:off x="4441377" y="3755960"/>
            <a:ext cx="23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3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B0800-2D99-C8DF-0E6A-D4A7F9BF8C28}"/>
              </a:ext>
            </a:extLst>
          </p:cNvPr>
          <p:cNvSpPr txBox="1"/>
          <p:nvPr/>
        </p:nvSpPr>
        <p:spPr>
          <a:xfrm>
            <a:off x="2416632" y="4517966"/>
            <a:ext cx="239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4</a:t>
            </a:r>
            <a:endParaRPr lang="en-IN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3865"/>
            <a:ext cx="10515600" cy="1325563"/>
          </a:xfrm>
        </p:spPr>
        <p:txBody>
          <a:bodyPr/>
          <a:lstStyle/>
          <a:p>
            <a:r>
              <a:rPr lang="en-US" b="1" dirty="0"/>
              <a:t>2. Requirements for public key cryptography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0873"/>
            <a:ext cx="10515600" cy="519545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It is computationally easy for a party B to generate a pair [</a:t>
            </a:r>
            <a:r>
              <a:rPr lang="en-US" dirty="0" err="1"/>
              <a:t>KU</a:t>
            </a:r>
            <a:r>
              <a:rPr lang="en-US" baseline="-25000" dirty="0" err="1"/>
              <a:t>b</a:t>
            </a:r>
            <a:r>
              <a:rPr lang="en-US" dirty="0"/>
              <a:t> , </a:t>
            </a:r>
            <a:r>
              <a:rPr lang="en-US" dirty="0" err="1"/>
              <a:t>KR</a:t>
            </a:r>
            <a:r>
              <a:rPr lang="en-US" baseline="-25000" dirty="0" err="1"/>
              <a:t>b</a:t>
            </a:r>
            <a:r>
              <a:rPr lang="en-US" dirty="0"/>
              <a:t>].</a:t>
            </a:r>
          </a:p>
          <a:p>
            <a:r>
              <a:rPr lang="en-US" dirty="0"/>
              <a:t>It is computationally easy for a sender A, knowing the public key and the message to be encrypted M, to generate the corresponding ciphertext: </a:t>
            </a:r>
          </a:p>
          <a:p>
            <a:pPr marL="0" indent="0">
              <a:buNone/>
            </a:pPr>
            <a:r>
              <a:rPr lang="en-US" dirty="0"/>
              <a:t>                          C= Z = E[</a:t>
            </a:r>
            <a:r>
              <a:rPr lang="en-US" dirty="0" err="1"/>
              <a:t>KU</a:t>
            </a:r>
            <a:r>
              <a:rPr lang="en-US" baseline="-25000" dirty="0" err="1"/>
              <a:t>b</a:t>
            </a:r>
            <a:r>
              <a:rPr lang="en-US" dirty="0"/>
              <a:t>(E[</a:t>
            </a:r>
            <a:r>
              <a:rPr lang="en-US" dirty="0" err="1"/>
              <a:t>KR</a:t>
            </a:r>
            <a:r>
              <a:rPr lang="en-US" baseline="-25000" dirty="0" err="1"/>
              <a:t>a</a:t>
            </a:r>
            <a:r>
              <a:rPr lang="en-US" dirty="0"/>
              <a:t>(X)]].</a:t>
            </a:r>
          </a:p>
          <a:p>
            <a:r>
              <a:rPr lang="en-US" dirty="0"/>
              <a:t>It is computationally easy for the receiver B to decrypt the resulting ciphertext using the private key to recover the original message: </a:t>
            </a:r>
          </a:p>
          <a:p>
            <a:pPr marL="0" indent="0">
              <a:buNone/>
            </a:pPr>
            <a:r>
              <a:rPr lang="en-US" dirty="0"/>
              <a:t>                         M = X = D[</a:t>
            </a:r>
            <a:r>
              <a:rPr lang="en-US" dirty="0" err="1"/>
              <a:t>KU</a:t>
            </a:r>
            <a:r>
              <a:rPr lang="en-US" baseline="-25000" dirty="0" err="1"/>
              <a:t>a</a:t>
            </a:r>
            <a:r>
              <a:rPr lang="en-US" dirty="0"/>
              <a:t> [E(</a:t>
            </a:r>
            <a:r>
              <a:rPr lang="en-US" dirty="0" err="1"/>
              <a:t>KU</a:t>
            </a:r>
            <a:r>
              <a:rPr lang="en-US" baseline="-25000" dirty="0" err="1"/>
              <a:t>b</a:t>
            </a:r>
            <a:r>
              <a:rPr lang="en-US" dirty="0"/>
              <a:t> (Y))]]</a:t>
            </a:r>
          </a:p>
          <a:p>
            <a:r>
              <a:rPr lang="en-US" dirty="0"/>
              <a:t>It is computationally infeasible for an opponent, knowing the public key </a:t>
            </a:r>
            <a:r>
              <a:rPr lang="en-US" dirty="0" err="1"/>
              <a:t>KU</a:t>
            </a:r>
            <a:r>
              <a:rPr lang="en-US" baseline="-25000" dirty="0" err="1"/>
              <a:t>b</a:t>
            </a:r>
            <a:r>
              <a:rPr lang="en-US" dirty="0"/>
              <a:t>, to determine the private key </a:t>
            </a:r>
            <a:r>
              <a:rPr lang="en-US" dirty="0" err="1"/>
              <a:t>KR</a:t>
            </a:r>
            <a:r>
              <a:rPr lang="en-US" baseline="-25000" dirty="0" err="1"/>
              <a:t>b</a:t>
            </a:r>
            <a:r>
              <a:rPr lang="en-US" dirty="0"/>
              <a:t>.</a:t>
            </a:r>
          </a:p>
          <a:p>
            <a:r>
              <a:rPr lang="en-US" dirty="0"/>
              <a:t>It is computationally infeasible for an opponent, knowing the public key </a:t>
            </a:r>
            <a:r>
              <a:rPr lang="en-US" dirty="0" err="1"/>
              <a:t>KU</a:t>
            </a:r>
            <a:r>
              <a:rPr lang="en-US" baseline="-25000" dirty="0" err="1"/>
              <a:t>b</a:t>
            </a:r>
            <a:r>
              <a:rPr lang="en-US" dirty="0"/>
              <a:t>, and a </a:t>
            </a:r>
            <a:r>
              <a:rPr lang="en-US" dirty="0" err="1"/>
              <a:t>ciphertext</a:t>
            </a:r>
            <a:r>
              <a:rPr lang="en-US" dirty="0"/>
              <a:t> C, to recover the original message M.</a:t>
            </a:r>
          </a:p>
          <a:p>
            <a:r>
              <a:rPr lang="en-US" dirty="0"/>
              <a:t>The encryption and decryption functions can be applied in either order:   M = </a:t>
            </a:r>
            <a:r>
              <a:rPr lang="en-US" dirty="0" err="1"/>
              <a:t>EKU</a:t>
            </a:r>
            <a:r>
              <a:rPr lang="en-US" baseline="-25000" dirty="0" err="1"/>
              <a:t>b</a:t>
            </a:r>
            <a:r>
              <a:rPr lang="en-US" dirty="0"/>
              <a:t> [</a:t>
            </a:r>
            <a:r>
              <a:rPr lang="en-US" dirty="0" err="1"/>
              <a:t>DKR</a:t>
            </a:r>
            <a:r>
              <a:rPr lang="en-US" baseline="-25000" dirty="0" err="1"/>
              <a:t>b</a:t>
            </a:r>
            <a:r>
              <a:rPr lang="en-US" dirty="0"/>
              <a:t> (M) = </a:t>
            </a:r>
            <a:r>
              <a:rPr lang="en-US" dirty="0" err="1"/>
              <a:t>DKU</a:t>
            </a:r>
            <a:r>
              <a:rPr lang="en-US" baseline="-25000" dirty="0" err="1"/>
              <a:t>b</a:t>
            </a:r>
            <a:r>
              <a:rPr lang="en-US" dirty="0"/>
              <a:t> [</a:t>
            </a:r>
            <a:r>
              <a:rPr lang="en-US" dirty="0" err="1"/>
              <a:t>EKR</a:t>
            </a:r>
            <a:r>
              <a:rPr lang="en-US" baseline="-25000" dirty="0" err="1"/>
              <a:t>b</a:t>
            </a:r>
            <a:r>
              <a:rPr lang="en-US" dirty="0"/>
              <a:t> (M)]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Public key cryptanalysis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Public key encryption scheme is vulnerable to a brute force attack. The counter measure is to use large keys.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Next----&gt; Public Key Cryptography Algorithms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1. RSA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0571"/>
            <a:ext cx="10515600" cy="4326709"/>
          </a:xfrm>
        </p:spPr>
        <p:txBody>
          <a:bodyPr/>
          <a:lstStyle/>
          <a:p>
            <a:pPr algn="just"/>
            <a:r>
              <a:rPr lang="en-IN" altLang="en-US" sz="3600" dirty="0"/>
              <a:t>Ron </a:t>
            </a:r>
            <a:r>
              <a:rPr lang="en-IN" altLang="en-US" sz="3600" dirty="0">
                <a:solidFill>
                  <a:srgbClr val="0070C0"/>
                </a:solidFill>
              </a:rPr>
              <a:t>Rivest</a:t>
            </a:r>
            <a:r>
              <a:rPr lang="en-IN" altLang="en-US" sz="3600" dirty="0"/>
              <a:t>, Adi </a:t>
            </a:r>
            <a:r>
              <a:rPr lang="en-IN" altLang="en-US" sz="3600" dirty="0">
                <a:solidFill>
                  <a:srgbClr val="0070C0"/>
                </a:solidFill>
              </a:rPr>
              <a:t>Shamir</a:t>
            </a:r>
            <a:r>
              <a:rPr lang="en-IN" altLang="en-US" sz="3600" dirty="0"/>
              <a:t> &amp;Len </a:t>
            </a:r>
            <a:r>
              <a:rPr lang="en-IN" altLang="en-US" sz="3600" dirty="0" err="1">
                <a:solidFill>
                  <a:srgbClr val="0070C0"/>
                </a:solidFill>
              </a:rPr>
              <a:t>Aldeman</a:t>
            </a:r>
            <a:r>
              <a:rPr lang="en-IN" altLang="en-US" sz="3600" dirty="0"/>
              <a:t> Developed this Algorithm in 1978.</a:t>
            </a:r>
          </a:p>
          <a:p>
            <a:pPr algn="just"/>
            <a:r>
              <a:rPr lang="en-IN" altLang="en-US" sz="3600" dirty="0"/>
              <a:t>It is public key encryption algorithm and block cipher which converts plain text into cipher text and vice versa.</a:t>
            </a:r>
          </a:p>
          <a:p>
            <a:pPr algn="just"/>
            <a:endParaRPr lang="en-IN" alt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1. The RSA algorithm: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36515" cy="4667250"/>
          </a:xfrm>
        </p:spPr>
        <p:txBody>
          <a:bodyPr>
            <a:normAutofit fontScale="97500"/>
          </a:bodyPr>
          <a:lstStyle/>
          <a:p>
            <a:r>
              <a:rPr lang="en-US" dirty="0"/>
              <a:t>Key Generation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052" name="Picture 4" descr="https://img.brainkart.com/imagebk9/erIsst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715" y="0"/>
            <a:ext cx="6112510" cy="685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/>
        </p:blipFill>
        <p:spPr>
          <a:xfrm>
            <a:off x="429260" y="-740227"/>
            <a:ext cx="11333480" cy="80554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Home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IN" altLang="en-US" sz="3600" dirty="0"/>
              <a:t>p=3,q=11,e=3, message M=00111011,  find d and cipher text C.     </a:t>
            </a:r>
          </a:p>
          <a:p>
            <a:pPr marL="0" indent="0">
              <a:buNone/>
            </a:pPr>
            <a:r>
              <a:rPr lang="en-IN" altLang="en-US" sz="3600" dirty="0"/>
              <a:t>	Ans- C=20, d=7</a:t>
            </a:r>
          </a:p>
          <a:p>
            <a:pPr marL="0" indent="0">
              <a:buNone/>
            </a:pPr>
            <a:r>
              <a:rPr lang="en-IN" altLang="en-US" sz="3600" dirty="0"/>
              <a:t>2. p=13,q=17 &amp; M=12 and public key e=19. Find cipher text C.                 </a:t>
            </a:r>
          </a:p>
          <a:p>
            <a:pPr marL="0" indent="0">
              <a:buNone/>
            </a:pPr>
            <a:r>
              <a:rPr lang="en-IN" altLang="en-US" sz="3600" dirty="0"/>
              <a:t>	Ans- C=181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2. Security of RSA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4640"/>
            <a:ext cx="10515600" cy="461264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There are </a:t>
            </a:r>
            <a:r>
              <a:rPr lang="en-IN" altLang="en-US" dirty="0"/>
              <a:t>4</a:t>
            </a:r>
            <a:r>
              <a:rPr lang="en-US" dirty="0"/>
              <a:t> approaches to attack the RSA: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brute force</a:t>
            </a:r>
            <a:r>
              <a:rPr lang="en-US" dirty="0"/>
              <a:t> key search (infeasible given size of numbers)  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mathematical attacks</a:t>
            </a:r>
            <a:r>
              <a:rPr lang="en-US" dirty="0"/>
              <a:t> (based on difficulty of computing ø(N), by factoring modulus N)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timing attacks</a:t>
            </a:r>
            <a:r>
              <a:rPr lang="en-US" dirty="0"/>
              <a:t> (on running time of decryption)</a:t>
            </a:r>
          </a:p>
          <a:p>
            <a:pPr marL="514350" indent="-514350" algn="just">
              <a:buAutoNum type="arabicPeriod"/>
            </a:pPr>
            <a:r>
              <a:rPr lang="en-IN" b="1" dirty="0"/>
              <a:t>Chosen Cipher Attack:</a:t>
            </a:r>
            <a:r>
              <a:rPr lang="en-IN" dirty="0"/>
              <a:t> Hacker tries to attack on the properties of RSA Algorithm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Factoring Problem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1486" y="1302143"/>
            <a:ext cx="1010194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approach takes 3 forms: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ymbol" panose="05050102010706020507" pitchFamily="18" charset="2"/>
              </a:rPr>
              <a:t>·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Factor n = p*q, hence find Ф(n) and then d.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ymbol" panose="05050102010706020507" pitchFamily="18" charset="2"/>
              </a:rPr>
              <a:t>·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Determine Ф(n)directly without determining p and q and find d. 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Symbol" panose="05050102010706020507" pitchFamily="18" charset="2"/>
              </a:rPr>
              <a:t>·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       Find d directly, without first determination Ф(n).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Timing attacks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Although the timing attack is a serious threat, there are simple countermeasures that can be used:</a:t>
            </a:r>
          </a:p>
          <a:p>
            <a:pPr algn="just"/>
            <a:r>
              <a:rPr lang="en-US" dirty="0"/>
              <a:t> Constant exponentiation time – ensures that all exponentiations take the same amount of time before returning a result. </a:t>
            </a:r>
          </a:p>
          <a:p>
            <a:pPr algn="just"/>
            <a:r>
              <a:rPr lang="en-US" dirty="0"/>
              <a:t>Random delay – better performance could be achieved by adding a random delay to the exponentiation algorithm to confuse the timing attack. </a:t>
            </a:r>
          </a:p>
          <a:p>
            <a:pPr algn="just"/>
            <a:r>
              <a:rPr lang="en-US" dirty="0"/>
              <a:t>Blinding – multiply the </a:t>
            </a:r>
            <a:r>
              <a:rPr lang="en-US" dirty="0" err="1"/>
              <a:t>ciphertext</a:t>
            </a:r>
            <a:r>
              <a:rPr lang="en-US" dirty="0"/>
              <a:t> by a random number before performing exponentiation.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1147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Office Theme</vt:lpstr>
      <vt:lpstr>Cyber Security (CS)  Unit 3: Asymmetric Ciphers  Lecture -3: Principles of Public Key Cryptography</vt:lpstr>
      <vt:lpstr>Contents</vt:lpstr>
      <vt:lpstr>PRINCIPLES OF PUBLIC KEY CRYPTOGRAPHY</vt:lpstr>
      <vt:lpstr>1. Public key cryptosystems </vt:lpstr>
      <vt:lpstr>PowerPoint Presentation</vt:lpstr>
      <vt:lpstr>PowerPoint Presentation</vt:lpstr>
      <vt:lpstr>PowerPoint Presentation</vt:lpstr>
      <vt:lpstr>2. Requirements for public key cryptography</vt:lpstr>
      <vt:lpstr>Public key cryptanalysis</vt:lpstr>
      <vt:lpstr>1. RSA Algorithm</vt:lpstr>
      <vt:lpstr>1. The RSA algorithm:</vt:lpstr>
      <vt:lpstr>PowerPoint Presentation</vt:lpstr>
      <vt:lpstr>Home work</vt:lpstr>
      <vt:lpstr>2. Security of RSA</vt:lpstr>
      <vt:lpstr>Factoring Problem</vt:lpstr>
      <vt:lpstr>Timing attacks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Security (CS)  Unit 3: Symmetric Ciphers  Lecture -1: Symmetric Cipher Model</dc:title>
  <dc:creator>Windows User</dc:creator>
  <cp:lastModifiedBy>PRRANJALI JADHAV</cp:lastModifiedBy>
  <cp:revision>17</cp:revision>
  <dcterms:created xsi:type="dcterms:W3CDTF">2022-09-27T05:38:00Z</dcterms:created>
  <dcterms:modified xsi:type="dcterms:W3CDTF">2025-08-07T12:21:22Z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28A243392C7C468881C5B8C3D04B4C32_12</vt:lpwstr>
  </property>
  <property fmtid="{D5CDD505-2E9C-101B-9397-08002B2CF9AE}" pid="3" name="KSOProductBuildVer">
    <vt:lpwstr>1033-12.2.0.17119</vt:lpwstr>
  </property>
</Properties>
</file>